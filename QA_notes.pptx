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40"/>
  </p:notesMasterIdLst>
  <p:sldIdLst>
    <p:sldId id="258" r:id="rId2"/>
    <p:sldId id="259" r:id="rId3"/>
    <p:sldId id="260" r:id="rId4"/>
    <p:sldId id="273" r:id="rId5"/>
    <p:sldId id="277" r:id="rId6"/>
    <p:sldId id="274" r:id="rId7"/>
    <p:sldId id="275" r:id="rId8"/>
    <p:sldId id="262" r:id="rId9"/>
    <p:sldId id="263" r:id="rId10"/>
    <p:sldId id="278" r:id="rId11"/>
    <p:sldId id="279" r:id="rId12"/>
    <p:sldId id="280" r:id="rId13"/>
    <p:sldId id="281" r:id="rId14"/>
    <p:sldId id="282" r:id="rId15"/>
    <p:sldId id="265" r:id="rId16"/>
    <p:sldId id="264" r:id="rId17"/>
    <p:sldId id="283" r:id="rId18"/>
    <p:sldId id="284" r:id="rId19"/>
    <p:sldId id="285" r:id="rId20"/>
    <p:sldId id="286" r:id="rId21"/>
    <p:sldId id="266" r:id="rId22"/>
    <p:sldId id="267" r:id="rId23"/>
    <p:sldId id="287" r:id="rId24"/>
    <p:sldId id="268" r:id="rId25"/>
    <p:sldId id="269" r:id="rId26"/>
    <p:sldId id="288" r:id="rId27"/>
    <p:sldId id="289" r:id="rId28"/>
    <p:sldId id="290" r:id="rId29"/>
    <p:sldId id="293" r:id="rId30"/>
    <p:sldId id="292" r:id="rId31"/>
    <p:sldId id="291" r:id="rId32"/>
    <p:sldId id="270" r:id="rId33"/>
    <p:sldId id="271" r:id="rId34"/>
    <p:sldId id="294" r:id="rId35"/>
    <p:sldId id="295" r:id="rId36"/>
    <p:sldId id="296" r:id="rId37"/>
    <p:sldId id="272" r:id="rId38"/>
    <p:sldId id="298"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5356"/>
    <a:srgbClr val="5B6569"/>
    <a:srgbClr val="9BAF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18" autoAdjust="0"/>
    <p:restoredTop sz="96197" autoAdjust="0"/>
  </p:normalViewPr>
  <p:slideViewPr>
    <p:cSldViewPr snapToGrid="0">
      <p:cViewPr varScale="1">
        <p:scale>
          <a:sx n="144" d="100"/>
          <a:sy n="144" d="100"/>
        </p:scale>
        <p:origin x="9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163D3E-EC87-4072-AED0-DBFC53B540EF}"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3320FBFE-0357-4570-A130-4D7D0FEE2408}">
      <dgm:prSet/>
      <dgm:spPr/>
      <dgm:t>
        <a:bodyPr/>
        <a:lstStyle/>
        <a:p>
          <a:r>
            <a:rPr lang="en-US" dirty="0"/>
            <a:t>Waterfall Model</a:t>
          </a:r>
        </a:p>
      </dgm:t>
    </dgm:pt>
    <dgm:pt modelId="{558FE264-A89C-47E6-86B6-237C09EAF779}" type="parTrans" cxnId="{246C422D-FEF2-4B45-9C7A-577B64E34221}">
      <dgm:prSet/>
      <dgm:spPr/>
      <dgm:t>
        <a:bodyPr/>
        <a:lstStyle/>
        <a:p>
          <a:endParaRPr lang="en-US"/>
        </a:p>
      </dgm:t>
    </dgm:pt>
    <dgm:pt modelId="{DBB08346-7A18-4410-9BB4-FABFD71D3B8B}" type="sibTrans" cxnId="{246C422D-FEF2-4B45-9C7A-577B64E34221}">
      <dgm:prSet/>
      <dgm:spPr/>
      <dgm:t>
        <a:bodyPr/>
        <a:lstStyle/>
        <a:p>
          <a:endParaRPr lang="en-US"/>
        </a:p>
      </dgm:t>
    </dgm:pt>
    <dgm:pt modelId="{DAB62040-F684-47A3-95CF-260B2389FBE3}">
      <dgm:prSet/>
      <dgm:spPr/>
      <dgm:t>
        <a:bodyPr/>
        <a:lstStyle/>
        <a:p>
          <a:r>
            <a:rPr lang="en-US" dirty="0"/>
            <a:t>V-shaped Model</a:t>
          </a:r>
        </a:p>
      </dgm:t>
    </dgm:pt>
    <dgm:pt modelId="{7EDBA529-DA09-43A7-B1A6-707385A4059A}" type="parTrans" cxnId="{940D289F-CD4D-4CB4-BD35-16CC5816A384}">
      <dgm:prSet/>
      <dgm:spPr/>
      <dgm:t>
        <a:bodyPr/>
        <a:lstStyle/>
        <a:p>
          <a:endParaRPr lang="en-US"/>
        </a:p>
      </dgm:t>
    </dgm:pt>
    <dgm:pt modelId="{25481AEA-4093-4BAD-BA40-8846E1BB7DA1}" type="sibTrans" cxnId="{940D289F-CD4D-4CB4-BD35-16CC5816A384}">
      <dgm:prSet/>
      <dgm:spPr/>
      <dgm:t>
        <a:bodyPr/>
        <a:lstStyle/>
        <a:p>
          <a:endParaRPr lang="en-US"/>
        </a:p>
      </dgm:t>
    </dgm:pt>
    <dgm:pt modelId="{5707C2BB-415A-49A4-8DD3-D9CB3FE355F4}">
      <dgm:prSet/>
      <dgm:spPr/>
      <dgm:t>
        <a:bodyPr/>
        <a:lstStyle/>
        <a:p>
          <a:r>
            <a:rPr lang="en-US" dirty="0"/>
            <a:t>Incremental Model</a:t>
          </a:r>
        </a:p>
      </dgm:t>
    </dgm:pt>
    <dgm:pt modelId="{01349F2C-4987-445C-B07D-8274D5B31361}" type="parTrans" cxnId="{6739DBDB-CE6F-4AB7-92D4-BF15EC96F416}">
      <dgm:prSet/>
      <dgm:spPr/>
      <dgm:t>
        <a:bodyPr/>
        <a:lstStyle/>
        <a:p>
          <a:endParaRPr lang="en-US"/>
        </a:p>
      </dgm:t>
    </dgm:pt>
    <dgm:pt modelId="{225077B7-8BA2-4685-A65C-861E356856E2}" type="sibTrans" cxnId="{6739DBDB-CE6F-4AB7-92D4-BF15EC96F416}">
      <dgm:prSet/>
      <dgm:spPr/>
      <dgm:t>
        <a:bodyPr/>
        <a:lstStyle/>
        <a:p>
          <a:endParaRPr lang="en-US"/>
        </a:p>
      </dgm:t>
    </dgm:pt>
    <dgm:pt modelId="{49BE7A0A-C489-4B40-BBAF-AD1A068C1FEB}">
      <dgm:prSet/>
      <dgm:spPr/>
      <dgm:t>
        <a:bodyPr/>
        <a:lstStyle/>
        <a:p>
          <a:r>
            <a:rPr lang="en-US" dirty="0"/>
            <a:t>Spiral Model</a:t>
          </a:r>
        </a:p>
      </dgm:t>
    </dgm:pt>
    <dgm:pt modelId="{77F9DDDF-C8ED-4236-9A0F-B09645584969}" type="parTrans" cxnId="{79FADA6D-A376-4B7F-8DAD-3BC0E8C3B611}">
      <dgm:prSet/>
      <dgm:spPr/>
      <dgm:t>
        <a:bodyPr/>
        <a:lstStyle/>
        <a:p>
          <a:endParaRPr lang="en-US"/>
        </a:p>
      </dgm:t>
    </dgm:pt>
    <dgm:pt modelId="{F7EB3C9A-E334-413B-8C68-FB3AC41D0169}" type="sibTrans" cxnId="{79FADA6D-A376-4B7F-8DAD-3BC0E8C3B611}">
      <dgm:prSet/>
      <dgm:spPr/>
      <dgm:t>
        <a:bodyPr/>
        <a:lstStyle/>
        <a:p>
          <a:endParaRPr lang="en-US"/>
        </a:p>
      </dgm:t>
    </dgm:pt>
    <dgm:pt modelId="{5402FE27-26AB-4543-842D-15503D57E2AC}">
      <dgm:prSet/>
      <dgm:spPr/>
      <dgm:t>
        <a:bodyPr/>
        <a:lstStyle/>
        <a:p>
          <a:r>
            <a:rPr lang="en-US" dirty="0"/>
            <a:t>Agile Model</a:t>
          </a:r>
        </a:p>
      </dgm:t>
    </dgm:pt>
    <dgm:pt modelId="{BE90EB16-55C0-41CD-A6BD-05E704EE9405}" type="parTrans" cxnId="{6D930C38-D3F9-46A4-8650-F2F5F818A9A0}">
      <dgm:prSet/>
      <dgm:spPr/>
      <dgm:t>
        <a:bodyPr/>
        <a:lstStyle/>
        <a:p>
          <a:endParaRPr lang="en-US"/>
        </a:p>
      </dgm:t>
    </dgm:pt>
    <dgm:pt modelId="{B508EE51-0497-4C52-9AFF-8BA5F0D97577}" type="sibTrans" cxnId="{6D930C38-D3F9-46A4-8650-F2F5F818A9A0}">
      <dgm:prSet/>
      <dgm:spPr/>
      <dgm:t>
        <a:bodyPr/>
        <a:lstStyle/>
        <a:p>
          <a:endParaRPr lang="en-US"/>
        </a:p>
      </dgm:t>
    </dgm:pt>
    <dgm:pt modelId="{9F264AC0-4A55-5346-9754-BD26D66A9811}" type="pres">
      <dgm:prSet presAssocID="{B5163D3E-EC87-4072-AED0-DBFC53B540EF}" presName="linear" presStyleCnt="0">
        <dgm:presLayoutVars>
          <dgm:animLvl val="lvl"/>
          <dgm:resizeHandles val="exact"/>
        </dgm:presLayoutVars>
      </dgm:prSet>
      <dgm:spPr/>
    </dgm:pt>
    <dgm:pt modelId="{6985A0B4-2328-264C-BF3D-8EF1A395B473}" type="pres">
      <dgm:prSet presAssocID="{3320FBFE-0357-4570-A130-4D7D0FEE2408}" presName="parentText" presStyleLbl="node1" presStyleIdx="0" presStyleCnt="5">
        <dgm:presLayoutVars>
          <dgm:chMax val="0"/>
          <dgm:bulletEnabled val="1"/>
        </dgm:presLayoutVars>
      </dgm:prSet>
      <dgm:spPr/>
    </dgm:pt>
    <dgm:pt modelId="{4FA12EA5-9BD8-3942-9238-BDF1843A3BDE}" type="pres">
      <dgm:prSet presAssocID="{DBB08346-7A18-4410-9BB4-FABFD71D3B8B}" presName="spacer" presStyleCnt="0"/>
      <dgm:spPr/>
    </dgm:pt>
    <dgm:pt modelId="{E0B2606A-709B-F447-989E-03A59D57C7B8}" type="pres">
      <dgm:prSet presAssocID="{DAB62040-F684-47A3-95CF-260B2389FBE3}" presName="parentText" presStyleLbl="node1" presStyleIdx="1" presStyleCnt="5">
        <dgm:presLayoutVars>
          <dgm:chMax val="0"/>
          <dgm:bulletEnabled val="1"/>
        </dgm:presLayoutVars>
      </dgm:prSet>
      <dgm:spPr/>
    </dgm:pt>
    <dgm:pt modelId="{947B37D7-92AE-AA4D-9510-8DF24F2FB0B9}" type="pres">
      <dgm:prSet presAssocID="{25481AEA-4093-4BAD-BA40-8846E1BB7DA1}" presName="spacer" presStyleCnt="0"/>
      <dgm:spPr/>
    </dgm:pt>
    <dgm:pt modelId="{CB2AE326-A1FE-6047-85CF-951EF0E409A5}" type="pres">
      <dgm:prSet presAssocID="{5707C2BB-415A-49A4-8DD3-D9CB3FE355F4}" presName="parentText" presStyleLbl="node1" presStyleIdx="2" presStyleCnt="5">
        <dgm:presLayoutVars>
          <dgm:chMax val="0"/>
          <dgm:bulletEnabled val="1"/>
        </dgm:presLayoutVars>
      </dgm:prSet>
      <dgm:spPr/>
    </dgm:pt>
    <dgm:pt modelId="{D3EF0384-AEFD-AB4E-AA31-BDD52127FBC6}" type="pres">
      <dgm:prSet presAssocID="{225077B7-8BA2-4685-A65C-861E356856E2}" presName="spacer" presStyleCnt="0"/>
      <dgm:spPr/>
    </dgm:pt>
    <dgm:pt modelId="{6896A67A-280B-EF4E-A0C3-A835BC2F4B2A}" type="pres">
      <dgm:prSet presAssocID="{49BE7A0A-C489-4B40-BBAF-AD1A068C1FEB}" presName="parentText" presStyleLbl="node1" presStyleIdx="3" presStyleCnt="5">
        <dgm:presLayoutVars>
          <dgm:chMax val="0"/>
          <dgm:bulletEnabled val="1"/>
        </dgm:presLayoutVars>
      </dgm:prSet>
      <dgm:spPr/>
    </dgm:pt>
    <dgm:pt modelId="{72224014-93F6-1446-A353-1040A54F9789}" type="pres">
      <dgm:prSet presAssocID="{F7EB3C9A-E334-413B-8C68-FB3AC41D0169}" presName="spacer" presStyleCnt="0"/>
      <dgm:spPr/>
    </dgm:pt>
    <dgm:pt modelId="{77BCEED0-321D-9C48-A3A9-1942E2378459}" type="pres">
      <dgm:prSet presAssocID="{5402FE27-26AB-4543-842D-15503D57E2AC}" presName="parentText" presStyleLbl="node1" presStyleIdx="4" presStyleCnt="5">
        <dgm:presLayoutVars>
          <dgm:chMax val="0"/>
          <dgm:bulletEnabled val="1"/>
        </dgm:presLayoutVars>
      </dgm:prSet>
      <dgm:spPr/>
    </dgm:pt>
  </dgm:ptLst>
  <dgm:cxnLst>
    <dgm:cxn modelId="{2853EF20-5A75-5140-A158-95A2A73D2F96}" type="presOf" srcId="{5402FE27-26AB-4543-842D-15503D57E2AC}" destId="{77BCEED0-321D-9C48-A3A9-1942E2378459}" srcOrd="0" destOrd="0" presId="urn:microsoft.com/office/officeart/2005/8/layout/vList2"/>
    <dgm:cxn modelId="{246C422D-FEF2-4B45-9C7A-577B64E34221}" srcId="{B5163D3E-EC87-4072-AED0-DBFC53B540EF}" destId="{3320FBFE-0357-4570-A130-4D7D0FEE2408}" srcOrd="0" destOrd="0" parTransId="{558FE264-A89C-47E6-86B6-237C09EAF779}" sibTransId="{DBB08346-7A18-4410-9BB4-FABFD71D3B8B}"/>
    <dgm:cxn modelId="{6D930C38-D3F9-46A4-8650-F2F5F818A9A0}" srcId="{B5163D3E-EC87-4072-AED0-DBFC53B540EF}" destId="{5402FE27-26AB-4543-842D-15503D57E2AC}" srcOrd="4" destOrd="0" parTransId="{BE90EB16-55C0-41CD-A6BD-05E704EE9405}" sibTransId="{B508EE51-0497-4C52-9AFF-8BA5F0D97577}"/>
    <dgm:cxn modelId="{47E3275F-FAB1-8F40-9B4D-E636B821DCFB}" type="presOf" srcId="{49BE7A0A-C489-4B40-BBAF-AD1A068C1FEB}" destId="{6896A67A-280B-EF4E-A0C3-A835BC2F4B2A}" srcOrd="0" destOrd="0" presId="urn:microsoft.com/office/officeart/2005/8/layout/vList2"/>
    <dgm:cxn modelId="{79FADA6D-A376-4B7F-8DAD-3BC0E8C3B611}" srcId="{B5163D3E-EC87-4072-AED0-DBFC53B540EF}" destId="{49BE7A0A-C489-4B40-BBAF-AD1A068C1FEB}" srcOrd="3" destOrd="0" parTransId="{77F9DDDF-C8ED-4236-9A0F-B09645584969}" sibTransId="{F7EB3C9A-E334-413B-8C68-FB3AC41D0169}"/>
    <dgm:cxn modelId="{2E33527C-F164-3A4B-8F3E-56000C0B8BC4}" type="presOf" srcId="{B5163D3E-EC87-4072-AED0-DBFC53B540EF}" destId="{9F264AC0-4A55-5346-9754-BD26D66A9811}" srcOrd="0" destOrd="0" presId="urn:microsoft.com/office/officeart/2005/8/layout/vList2"/>
    <dgm:cxn modelId="{D236B883-F7E3-444D-B7ED-741E7F4C6983}" type="presOf" srcId="{3320FBFE-0357-4570-A130-4D7D0FEE2408}" destId="{6985A0B4-2328-264C-BF3D-8EF1A395B473}" srcOrd="0" destOrd="0" presId="urn:microsoft.com/office/officeart/2005/8/layout/vList2"/>
    <dgm:cxn modelId="{0C16579A-4FFA-024F-B384-0F41F1D25FD3}" type="presOf" srcId="{5707C2BB-415A-49A4-8DD3-D9CB3FE355F4}" destId="{CB2AE326-A1FE-6047-85CF-951EF0E409A5}" srcOrd="0" destOrd="0" presId="urn:microsoft.com/office/officeart/2005/8/layout/vList2"/>
    <dgm:cxn modelId="{940D289F-CD4D-4CB4-BD35-16CC5816A384}" srcId="{B5163D3E-EC87-4072-AED0-DBFC53B540EF}" destId="{DAB62040-F684-47A3-95CF-260B2389FBE3}" srcOrd="1" destOrd="0" parTransId="{7EDBA529-DA09-43A7-B1A6-707385A4059A}" sibTransId="{25481AEA-4093-4BAD-BA40-8846E1BB7DA1}"/>
    <dgm:cxn modelId="{216E3CA8-C1FB-E74E-95D7-9F98DF2FF932}" type="presOf" srcId="{DAB62040-F684-47A3-95CF-260B2389FBE3}" destId="{E0B2606A-709B-F447-989E-03A59D57C7B8}" srcOrd="0" destOrd="0" presId="urn:microsoft.com/office/officeart/2005/8/layout/vList2"/>
    <dgm:cxn modelId="{6739DBDB-CE6F-4AB7-92D4-BF15EC96F416}" srcId="{B5163D3E-EC87-4072-AED0-DBFC53B540EF}" destId="{5707C2BB-415A-49A4-8DD3-D9CB3FE355F4}" srcOrd="2" destOrd="0" parTransId="{01349F2C-4987-445C-B07D-8274D5B31361}" sibTransId="{225077B7-8BA2-4685-A65C-861E356856E2}"/>
    <dgm:cxn modelId="{4F3CA27D-EB06-5B4D-8EED-531B6FC0F1B5}" type="presParOf" srcId="{9F264AC0-4A55-5346-9754-BD26D66A9811}" destId="{6985A0B4-2328-264C-BF3D-8EF1A395B473}" srcOrd="0" destOrd="0" presId="urn:microsoft.com/office/officeart/2005/8/layout/vList2"/>
    <dgm:cxn modelId="{9574C4B8-23BE-E141-9C30-F33FCE9260A6}" type="presParOf" srcId="{9F264AC0-4A55-5346-9754-BD26D66A9811}" destId="{4FA12EA5-9BD8-3942-9238-BDF1843A3BDE}" srcOrd="1" destOrd="0" presId="urn:microsoft.com/office/officeart/2005/8/layout/vList2"/>
    <dgm:cxn modelId="{50CFF9FA-DB3D-604C-A431-98E8FCEDF62D}" type="presParOf" srcId="{9F264AC0-4A55-5346-9754-BD26D66A9811}" destId="{E0B2606A-709B-F447-989E-03A59D57C7B8}" srcOrd="2" destOrd="0" presId="urn:microsoft.com/office/officeart/2005/8/layout/vList2"/>
    <dgm:cxn modelId="{5C3DD7F2-6F82-A843-91A2-109730B4128B}" type="presParOf" srcId="{9F264AC0-4A55-5346-9754-BD26D66A9811}" destId="{947B37D7-92AE-AA4D-9510-8DF24F2FB0B9}" srcOrd="3" destOrd="0" presId="urn:microsoft.com/office/officeart/2005/8/layout/vList2"/>
    <dgm:cxn modelId="{7C8CD25A-A4E2-B644-B0BD-2D5CAF52D28C}" type="presParOf" srcId="{9F264AC0-4A55-5346-9754-BD26D66A9811}" destId="{CB2AE326-A1FE-6047-85CF-951EF0E409A5}" srcOrd="4" destOrd="0" presId="urn:microsoft.com/office/officeart/2005/8/layout/vList2"/>
    <dgm:cxn modelId="{C92E0D3B-CC81-B948-8D6A-195F196DF998}" type="presParOf" srcId="{9F264AC0-4A55-5346-9754-BD26D66A9811}" destId="{D3EF0384-AEFD-AB4E-AA31-BDD52127FBC6}" srcOrd="5" destOrd="0" presId="urn:microsoft.com/office/officeart/2005/8/layout/vList2"/>
    <dgm:cxn modelId="{04F8C4CA-FD27-5F46-8F8A-48FEC51EE01B}" type="presParOf" srcId="{9F264AC0-4A55-5346-9754-BD26D66A9811}" destId="{6896A67A-280B-EF4E-A0C3-A835BC2F4B2A}" srcOrd="6" destOrd="0" presId="urn:microsoft.com/office/officeart/2005/8/layout/vList2"/>
    <dgm:cxn modelId="{F809432F-DE66-5940-8589-B02D06B5499E}" type="presParOf" srcId="{9F264AC0-4A55-5346-9754-BD26D66A9811}" destId="{72224014-93F6-1446-A353-1040A54F9789}" srcOrd="7" destOrd="0" presId="urn:microsoft.com/office/officeart/2005/8/layout/vList2"/>
    <dgm:cxn modelId="{54E7796D-148B-ED4D-B383-F4DACE341409}" type="presParOf" srcId="{9F264AC0-4A55-5346-9754-BD26D66A9811}" destId="{77BCEED0-321D-9C48-A3A9-1942E237845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85A0B4-2328-264C-BF3D-8EF1A395B473}">
      <dsp:nvSpPr>
        <dsp:cNvPr id="0" name=""/>
        <dsp:cNvSpPr/>
      </dsp:nvSpPr>
      <dsp:spPr>
        <a:xfrm>
          <a:off x="0" y="21919"/>
          <a:ext cx="5607050" cy="889200"/>
        </a:xfrm>
        <a:prstGeom prst="round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Waterfall Model</a:t>
          </a:r>
        </a:p>
      </dsp:txBody>
      <dsp:txXfrm>
        <a:off x="43407" y="65326"/>
        <a:ext cx="5520236" cy="802386"/>
      </dsp:txXfrm>
    </dsp:sp>
    <dsp:sp modelId="{E0B2606A-709B-F447-989E-03A59D57C7B8}">
      <dsp:nvSpPr>
        <dsp:cNvPr id="0" name=""/>
        <dsp:cNvSpPr/>
      </dsp:nvSpPr>
      <dsp:spPr>
        <a:xfrm>
          <a:off x="0" y="1020559"/>
          <a:ext cx="5607050" cy="889200"/>
        </a:xfrm>
        <a:prstGeom prst="roundRect">
          <a:avLst/>
        </a:prstGeom>
        <a:gradFill rotWithShape="0">
          <a:gsLst>
            <a:gs pos="0">
              <a:schemeClr val="accent2">
                <a:hueOff val="-2587972"/>
                <a:satOff val="11465"/>
                <a:lumOff val="-4216"/>
                <a:alphaOff val="0"/>
                <a:tint val="97000"/>
                <a:satMod val="100000"/>
                <a:lumMod val="102000"/>
              </a:schemeClr>
            </a:gs>
            <a:gs pos="50000">
              <a:schemeClr val="accent2">
                <a:hueOff val="-2587972"/>
                <a:satOff val="11465"/>
                <a:lumOff val="-4216"/>
                <a:alphaOff val="0"/>
                <a:shade val="100000"/>
                <a:satMod val="103000"/>
                <a:lumMod val="100000"/>
              </a:schemeClr>
            </a:gs>
            <a:gs pos="100000">
              <a:schemeClr val="accent2">
                <a:hueOff val="-2587972"/>
                <a:satOff val="11465"/>
                <a:lumOff val="-4216"/>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V-shaped Model</a:t>
          </a:r>
        </a:p>
      </dsp:txBody>
      <dsp:txXfrm>
        <a:off x="43407" y="1063966"/>
        <a:ext cx="5520236" cy="802386"/>
      </dsp:txXfrm>
    </dsp:sp>
    <dsp:sp modelId="{CB2AE326-A1FE-6047-85CF-951EF0E409A5}">
      <dsp:nvSpPr>
        <dsp:cNvPr id="0" name=""/>
        <dsp:cNvSpPr/>
      </dsp:nvSpPr>
      <dsp:spPr>
        <a:xfrm>
          <a:off x="0" y="2019199"/>
          <a:ext cx="5607050" cy="889200"/>
        </a:xfrm>
        <a:prstGeom prst="roundRect">
          <a:avLst/>
        </a:prstGeom>
        <a:gradFill rotWithShape="0">
          <a:gsLst>
            <a:gs pos="0">
              <a:schemeClr val="accent2">
                <a:hueOff val="-5175945"/>
                <a:satOff val="22930"/>
                <a:lumOff val="-8432"/>
                <a:alphaOff val="0"/>
                <a:tint val="97000"/>
                <a:satMod val="100000"/>
                <a:lumMod val="102000"/>
              </a:schemeClr>
            </a:gs>
            <a:gs pos="50000">
              <a:schemeClr val="accent2">
                <a:hueOff val="-5175945"/>
                <a:satOff val="22930"/>
                <a:lumOff val="-8432"/>
                <a:alphaOff val="0"/>
                <a:shade val="100000"/>
                <a:satMod val="103000"/>
                <a:lumMod val="100000"/>
              </a:schemeClr>
            </a:gs>
            <a:gs pos="100000">
              <a:schemeClr val="accent2">
                <a:hueOff val="-5175945"/>
                <a:satOff val="22930"/>
                <a:lumOff val="-8432"/>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Incremental Model</a:t>
          </a:r>
        </a:p>
      </dsp:txBody>
      <dsp:txXfrm>
        <a:off x="43407" y="2062606"/>
        <a:ext cx="5520236" cy="802386"/>
      </dsp:txXfrm>
    </dsp:sp>
    <dsp:sp modelId="{6896A67A-280B-EF4E-A0C3-A835BC2F4B2A}">
      <dsp:nvSpPr>
        <dsp:cNvPr id="0" name=""/>
        <dsp:cNvSpPr/>
      </dsp:nvSpPr>
      <dsp:spPr>
        <a:xfrm>
          <a:off x="0" y="3017839"/>
          <a:ext cx="5607050" cy="889200"/>
        </a:xfrm>
        <a:prstGeom prst="roundRect">
          <a:avLst/>
        </a:prstGeom>
        <a:gradFill rotWithShape="0">
          <a:gsLst>
            <a:gs pos="0">
              <a:schemeClr val="accent2">
                <a:hueOff val="-7763917"/>
                <a:satOff val="34394"/>
                <a:lumOff val="-12648"/>
                <a:alphaOff val="0"/>
                <a:tint val="97000"/>
                <a:satMod val="100000"/>
                <a:lumMod val="102000"/>
              </a:schemeClr>
            </a:gs>
            <a:gs pos="50000">
              <a:schemeClr val="accent2">
                <a:hueOff val="-7763917"/>
                <a:satOff val="34394"/>
                <a:lumOff val="-12648"/>
                <a:alphaOff val="0"/>
                <a:shade val="100000"/>
                <a:satMod val="103000"/>
                <a:lumMod val="100000"/>
              </a:schemeClr>
            </a:gs>
            <a:gs pos="100000">
              <a:schemeClr val="accent2">
                <a:hueOff val="-7763917"/>
                <a:satOff val="34394"/>
                <a:lumOff val="-12648"/>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Spiral Model</a:t>
          </a:r>
        </a:p>
      </dsp:txBody>
      <dsp:txXfrm>
        <a:off x="43407" y="3061246"/>
        <a:ext cx="5520236" cy="802386"/>
      </dsp:txXfrm>
    </dsp:sp>
    <dsp:sp modelId="{77BCEED0-321D-9C48-A3A9-1942E2378459}">
      <dsp:nvSpPr>
        <dsp:cNvPr id="0" name=""/>
        <dsp:cNvSpPr/>
      </dsp:nvSpPr>
      <dsp:spPr>
        <a:xfrm>
          <a:off x="0" y="4016480"/>
          <a:ext cx="5607050" cy="889200"/>
        </a:xfrm>
        <a:prstGeom prst="roundRect">
          <a:avLst/>
        </a:prstGeom>
        <a:gradFill rotWithShape="0">
          <a:gsLst>
            <a:gs pos="0">
              <a:schemeClr val="accent2">
                <a:hueOff val="-10351890"/>
                <a:satOff val="45859"/>
                <a:lumOff val="-16864"/>
                <a:alphaOff val="0"/>
                <a:tint val="97000"/>
                <a:satMod val="100000"/>
                <a:lumMod val="102000"/>
              </a:schemeClr>
            </a:gs>
            <a:gs pos="50000">
              <a:schemeClr val="accent2">
                <a:hueOff val="-10351890"/>
                <a:satOff val="45859"/>
                <a:lumOff val="-16864"/>
                <a:alphaOff val="0"/>
                <a:shade val="100000"/>
                <a:satMod val="103000"/>
                <a:lumMod val="100000"/>
              </a:schemeClr>
            </a:gs>
            <a:gs pos="100000">
              <a:schemeClr val="accent2">
                <a:hueOff val="-10351890"/>
                <a:satOff val="45859"/>
                <a:lumOff val="-16864"/>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en-US" sz="3800" kern="1200" dirty="0"/>
            <a:t>Agile Model</a:t>
          </a:r>
        </a:p>
      </dsp:txBody>
      <dsp:txXfrm>
        <a:off x="43407" y="4059887"/>
        <a:ext cx="5520236" cy="80238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11/2/24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dirty="0"/>
          </a:p>
        </p:txBody>
      </p:sp>
    </p:spTree>
    <p:extLst>
      <p:ext uri="{BB962C8B-B14F-4D97-AF65-F5344CB8AC3E}">
        <p14:creationId xmlns:p14="http://schemas.microsoft.com/office/powerpoint/2010/main" val="950707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Defects and failures</a:t>
            </a:r>
          </a:p>
          <a:p>
            <a:pPr marL="171450" indent="-171450">
              <a:buFont typeface="Arial" panose="020B0604020202020204" pitchFamily="34" charset="0"/>
              <a:buChar char="•"/>
            </a:pPr>
            <a:r>
              <a:rPr lang="en-US" dirty="0"/>
              <a:t>Input combinations and preconditions</a:t>
            </a:r>
          </a:p>
          <a:p>
            <a:pPr marL="171450" indent="-171450">
              <a:buFont typeface="Arial" panose="020B0604020202020204" pitchFamily="34" charset="0"/>
              <a:buChar char="•"/>
            </a:pPr>
            <a:r>
              <a:rPr lang="en-US" dirty="0"/>
              <a:t>Economics</a:t>
            </a:r>
          </a:p>
          <a:p>
            <a:pPr marL="171450" indent="-171450">
              <a:buFont typeface="Arial" panose="020B0604020202020204" pitchFamily="34" charset="0"/>
              <a:buChar char="•"/>
            </a:pPr>
            <a:r>
              <a:rPr lang="en-US" dirty="0"/>
              <a:t>Roles</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dirty="0"/>
          </a:p>
        </p:txBody>
      </p:sp>
    </p:spTree>
    <p:extLst>
      <p:ext uri="{BB962C8B-B14F-4D97-AF65-F5344CB8AC3E}">
        <p14:creationId xmlns:p14="http://schemas.microsoft.com/office/powerpoint/2010/main" val="6069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B89A7-58D7-4066-A553-F9D432C6A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A83D1-6426-D647-419E-49B67D5D0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BE722-FAF2-A5A6-857D-F9DCB5863AF0}"/>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Defects and failures</a:t>
            </a:r>
          </a:p>
          <a:p>
            <a:pPr marL="171450" indent="-171450">
              <a:buFont typeface="Arial" panose="020B0604020202020204" pitchFamily="34" charset="0"/>
              <a:buChar char="•"/>
            </a:pPr>
            <a:r>
              <a:rPr lang="en-US" dirty="0"/>
              <a:t>Input combinations and preconditions</a:t>
            </a:r>
          </a:p>
          <a:p>
            <a:pPr marL="171450" indent="-171450">
              <a:buFont typeface="Arial" panose="020B0604020202020204" pitchFamily="34" charset="0"/>
              <a:buChar char="•"/>
            </a:pPr>
            <a:r>
              <a:rPr lang="en-US" dirty="0"/>
              <a:t>Economics</a:t>
            </a:r>
          </a:p>
          <a:p>
            <a:pPr marL="171450" indent="-171450">
              <a:buFont typeface="Arial" panose="020B0604020202020204" pitchFamily="34" charset="0"/>
              <a:buChar char="•"/>
            </a:pPr>
            <a:r>
              <a:rPr lang="en-US" dirty="0"/>
              <a:t>Roles</a:t>
            </a:r>
          </a:p>
        </p:txBody>
      </p:sp>
      <p:sp>
        <p:nvSpPr>
          <p:cNvPr id="4" name="Slide Number Placeholder 3">
            <a:extLst>
              <a:ext uri="{FF2B5EF4-FFF2-40B4-BE49-F238E27FC236}">
                <a16:creationId xmlns:a16="http://schemas.microsoft.com/office/drawing/2014/main" id="{7A3BFDB9-2250-AFB9-BAF0-05C3D2CD5D6B}"/>
              </a:ext>
            </a:extLst>
          </p:cNvPr>
          <p:cNvSpPr>
            <a:spLocks noGrp="1"/>
          </p:cNvSpPr>
          <p:nvPr>
            <p:ph type="sldNum" sz="quarter" idx="10"/>
          </p:nvPr>
        </p:nvSpPr>
        <p:spPr/>
        <p:txBody>
          <a:bodyPr/>
          <a:lstStyle/>
          <a:p>
            <a:fld id="{E0746DE6-3336-457D-A091-FA20AC1C536E}" type="slidenum">
              <a:rPr lang="en-US" smtClean="0"/>
              <a:t>4</a:t>
            </a:fld>
            <a:endParaRPr lang="en-US" dirty="0"/>
          </a:p>
        </p:txBody>
      </p:sp>
    </p:spTree>
    <p:extLst>
      <p:ext uri="{BB962C8B-B14F-4D97-AF65-F5344CB8AC3E}">
        <p14:creationId xmlns:p14="http://schemas.microsoft.com/office/powerpoint/2010/main" val="788629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7C3FD-713E-24E4-630A-FFE675554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60374-77B6-E611-B876-62714D91B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1995B-A18B-FD41-F178-0588B9282485}"/>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Defects and failures</a:t>
            </a:r>
          </a:p>
          <a:p>
            <a:pPr marL="171450" indent="-171450">
              <a:buFont typeface="Arial" panose="020B0604020202020204" pitchFamily="34" charset="0"/>
              <a:buChar char="•"/>
            </a:pPr>
            <a:r>
              <a:rPr lang="en-US" dirty="0"/>
              <a:t>Input combinations and preconditions</a:t>
            </a:r>
          </a:p>
          <a:p>
            <a:pPr marL="171450" indent="-171450">
              <a:buFont typeface="Arial" panose="020B0604020202020204" pitchFamily="34" charset="0"/>
              <a:buChar char="•"/>
            </a:pPr>
            <a:r>
              <a:rPr lang="en-US" dirty="0"/>
              <a:t>Economics</a:t>
            </a:r>
          </a:p>
          <a:p>
            <a:pPr marL="171450" indent="-171450">
              <a:buFont typeface="Arial" panose="020B0604020202020204" pitchFamily="34" charset="0"/>
              <a:buChar char="•"/>
            </a:pPr>
            <a:r>
              <a:rPr lang="en-US" dirty="0"/>
              <a:t>Roles</a:t>
            </a:r>
          </a:p>
        </p:txBody>
      </p:sp>
      <p:sp>
        <p:nvSpPr>
          <p:cNvPr id="4" name="Slide Number Placeholder 3">
            <a:extLst>
              <a:ext uri="{FF2B5EF4-FFF2-40B4-BE49-F238E27FC236}">
                <a16:creationId xmlns:a16="http://schemas.microsoft.com/office/drawing/2014/main" id="{E868C4C4-543C-576D-0928-826F36896EFC}"/>
              </a:ext>
            </a:extLst>
          </p:cNvPr>
          <p:cNvSpPr>
            <a:spLocks noGrp="1"/>
          </p:cNvSpPr>
          <p:nvPr>
            <p:ph type="sldNum" sz="quarter" idx="10"/>
          </p:nvPr>
        </p:nvSpPr>
        <p:spPr/>
        <p:txBody>
          <a:bodyPr/>
          <a:lstStyle/>
          <a:p>
            <a:fld id="{E0746DE6-3336-457D-A091-FA20AC1C536E}" type="slidenum">
              <a:rPr lang="en-US" smtClean="0"/>
              <a:t>5</a:t>
            </a:fld>
            <a:endParaRPr lang="en-US" dirty="0"/>
          </a:p>
        </p:txBody>
      </p:sp>
    </p:spTree>
    <p:extLst>
      <p:ext uri="{BB962C8B-B14F-4D97-AF65-F5344CB8AC3E}">
        <p14:creationId xmlns:p14="http://schemas.microsoft.com/office/powerpoint/2010/main" val="2222662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0957-F139-D3CE-8785-435C4C0FF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A0C45-47E5-BCA1-259C-015429C40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05A81-58C7-F00C-B521-A87F0DDDC089}"/>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Defects and failures</a:t>
            </a:r>
          </a:p>
          <a:p>
            <a:pPr marL="171450" indent="-171450">
              <a:buFont typeface="Arial" panose="020B0604020202020204" pitchFamily="34" charset="0"/>
              <a:buChar char="•"/>
            </a:pPr>
            <a:r>
              <a:rPr lang="en-US" dirty="0"/>
              <a:t>Input combinations and preconditions</a:t>
            </a:r>
          </a:p>
          <a:p>
            <a:pPr marL="171450" indent="-171450">
              <a:buFont typeface="Arial" panose="020B0604020202020204" pitchFamily="34" charset="0"/>
              <a:buChar char="•"/>
            </a:pPr>
            <a:r>
              <a:rPr lang="en-US" dirty="0"/>
              <a:t>Economics</a:t>
            </a:r>
          </a:p>
          <a:p>
            <a:pPr marL="171450" indent="-171450">
              <a:buFont typeface="Arial" panose="020B0604020202020204" pitchFamily="34" charset="0"/>
              <a:buChar char="•"/>
            </a:pPr>
            <a:r>
              <a:rPr lang="en-US" dirty="0"/>
              <a:t>Roles</a:t>
            </a:r>
          </a:p>
        </p:txBody>
      </p:sp>
      <p:sp>
        <p:nvSpPr>
          <p:cNvPr id="4" name="Slide Number Placeholder 3">
            <a:extLst>
              <a:ext uri="{FF2B5EF4-FFF2-40B4-BE49-F238E27FC236}">
                <a16:creationId xmlns:a16="http://schemas.microsoft.com/office/drawing/2014/main" id="{2DB223CF-3436-08DB-B39C-878A5437ECCE}"/>
              </a:ext>
            </a:extLst>
          </p:cNvPr>
          <p:cNvSpPr>
            <a:spLocks noGrp="1"/>
          </p:cNvSpPr>
          <p:nvPr>
            <p:ph type="sldNum" sz="quarter" idx="10"/>
          </p:nvPr>
        </p:nvSpPr>
        <p:spPr/>
        <p:txBody>
          <a:bodyPr/>
          <a:lstStyle/>
          <a:p>
            <a:fld id="{E0746DE6-3336-457D-A091-FA20AC1C536E}" type="slidenum">
              <a:rPr lang="en-US" smtClean="0"/>
              <a:t>6</a:t>
            </a:fld>
            <a:endParaRPr lang="en-US" dirty="0"/>
          </a:p>
        </p:txBody>
      </p:sp>
    </p:spTree>
    <p:extLst>
      <p:ext uri="{BB962C8B-B14F-4D97-AF65-F5344CB8AC3E}">
        <p14:creationId xmlns:p14="http://schemas.microsoft.com/office/powerpoint/2010/main" val="119183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62B92-25CE-662B-EB3C-3D0E8E54F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7BD213-B158-4C9E-189C-5E96DC66AE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2BAF8-826E-0726-E044-67DF7D9509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BECDC-39DF-6EB9-FAE6-380359ACA2CD}"/>
              </a:ext>
            </a:extLst>
          </p:cNvPr>
          <p:cNvSpPr>
            <a:spLocks noGrp="1"/>
          </p:cNvSpPr>
          <p:nvPr>
            <p:ph type="sldNum" sz="quarter" idx="10"/>
          </p:nvPr>
        </p:nvSpPr>
        <p:spPr/>
        <p:txBody>
          <a:bodyPr/>
          <a:lstStyle/>
          <a:p>
            <a:fld id="{E0746DE6-3336-457D-A091-FA20AC1C536E}" type="slidenum">
              <a:rPr lang="en-US" smtClean="0"/>
              <a:t>7</a:t>
            </a:fld>
            <a:endParaRPr lang="en-US" dirty="0"/>
          </a:p>
        </p:txBody>
      </p:sp>
    </p:spTree>
    <p:extLst>
      <p:ext uri="{BB962C8B-B14F-4D97-AF65-F5344CB8AC3E}">
        <p14:creationId xmlns:p14="http://schemas.microsoft.com/office/powerpoint/2010/main" val="1111852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Static, dynamic and passive testing</a:t>
            </a:r>
          </a:p>
          <a:p>
            <a:pPr marL="171450" indent="-171450">
              <a:buFont typeface="Arial" panose="020B0604020202020204" pitchFamily="34" charset="0"/>
              <a:buChar char="•"/>
            </a:pPr>
            <a:r>
              <a:rPr lang="en-US" dirty="0"/>
              <a:t>Exploratory approach</a:t>
            </a:r>
          </a:p>
          <a:p>
            <a:pPr marL="171450" indent="-171450">
              <a:buFont typeface="Arial" panose="020B0604020202020204" pitchFamily="34" charset="0"/>
              <a:buChar char="•"/>
            </a:pPr>
            <a:r>
              <a:rPr lang="en-US" dirty="0"/>
              <a:t>The "box" approach</a:t>
            </a:r>
          </a:p>
        </p:txBody>
      </p:sp>
      <p:sp>
        <p:nvSpPr>
          <p:cNvPr id="4" name="Slide Number Placeholder 3"/>
          <p:cNvSpPr>
            <a:spLocks noGrp="1"/>
          </p:cNvSpPr>
          <p:nvPr>
            <p:ph type="sldNum" sz="quarter" idx="10"/>
          </p:nvPr>
        </p:nvSpPr>
        <p:spPr/>
        <p:txBody>
          <a:bodyPr/>
          <a:lstStyle/>
          <a:p>
            <a:fld id="{E0746DE6-3336-457D-A091-FA20AC1C536E}" type="slidenum">
              <a:rPr lang="en-US" smtClean="0"/>
              <a:t>8</a:t>
            </a:fld>
            <a:endParaRPr lang="en-US" dirty="0"/>
          </a:p>
        </p:txBody>
      </p:sp>
    </p:spTree>
    <p:extLst>
      <p:ext uri="{BB962C8B-B14F-4D97-AF65-F5344CB8AC3E}">
        <p14:creationId xmlns:p14="http://schemas.microsoft.com/office/powerpoint/2010/main" val="831219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Unit testing</a:t>
            </a:r>
          </a:p>
          <a:p>
            <a:pPr marL="171450" indent="-171450">
              <a:buFont typeface="Arial" panose="020B0604020202020204" pitchFamily="34" charset="0"/>
              <a:buChar char="•"/>
            </a:pPr>
            <a:r>
              <a:rPr lang="en-US" dirty="0"/>
              <a:t>Integration testing</a:t>
            </a:r>
          </a:p>
          <a:p>
            <a:pPr marL="171450" indent="-171450">
              <a:buFont typeface="Arial" panose="020B0604020202020204" pitchFamily="34" charset="0"/>
              <a:buChar char="•"/>
            </a:pPr>
            <a:r>
              <a:rPr lang="en-US" dirty="0"/>
              <a:t>System testing</a:t>
            </a:r>
          </a:p>
          <a:p>
            <a:pPr marL="171450" indent="-171450">
              <a:buFont typeface="Arial" panose="020B0604020202020204" pitchFamily="34" charset="0"/>
              <a:buChar char="•"/>
            </a:pPr>
            <a:r>
              <a:rPr lang="en-US" dirty="0"/>
              <a:t>Operational acceptance testing</a:t>
            </a:r>
          </a:p>
        </p:txBody>
      </p:sp>
      <p:sp>
        <p:nvSpPr>
          <p:cNvPr id="4" name="Slide Number Placeholder 3"/>
          <p:cNvSpPr>
            <a:spLocks noGrp="1"/>
          </p:cNvSpPr>
          <p:nvPr>
            <p:ph type="sldNum" sz="quarter" idx="10"/>
          </p:nvPr>
        </p:nvSpPr>
        <p:spPr/>
        <p:txBody>
          <a:bodyPr/>
          <a:lstStyle/>
          <a:p>
            <a:fld id="{E0746DE6-3336-457D-A091-FA20AC1C536E}" type="slidenum">
              <a:rPr lang="en-US" smtClean="0"/>
              <a:t>9</a:t>
            </a:fld>
            <a:endParaRPr lang="en-US" dirty="0"/>
          </a:p>
        </p:txBody>
      </p:sp>
    </p:spTree>
    <p:extLst>
      <p:ext uri="{BB962C8B-B14F-4D97-AF65-F5344CB8AC3E}">
        <p14:creationId xmlns:p14="http://schemas.microsoft.com/office/powerpoint/2010/main" val="16017473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F16B0-DE3C-49F2-7ABF-6243BE5D4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4FF22-D66D-B258-AB65-888B2F01FC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ADE5D-BC84-B433-8145-10D76AAACCD0}"/>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Unit testing</a:t>
            </a:r>
          </a:p>
          <a:p>
            <a:pPr marL="171450" indent="-171450">
              <a:buFont typeface="Arial" panose="020B0604020202020204" pitchFamily="34" charset="0"/>
              <a:buChar char="•"/>
            </a:pPr>
            <a:r>
              <a:rPr lang="en-US" dirty="0"/>
              <a:t>Integration testing</a:t>
            </a:r>
          </a:p>
          <a:p>
            <a:pPr marL="171450" indent="-171450">
              <a:buFont typeface="Arial" panose="020B0604020202020204" pitchFamily="34" charset="0"/>
              <a:buChar char="•"/>
            </a:pPr>
            <a:r>
              <a:rPr lang="en-US" dirty="0"/>
              <a:t>System testing</a:t>
            </a:r>
          </a:p>
          <a:p>
            <a:pPr marL="171450" indent="-171450">
              <a:buFont typeface="Arial" panose="020B0604020202020204" pitchFamily="34" charset="0"/>
              <a:buChar char="•"/>
            </a:pPr>
            <a:r>
              <a:rPr lang="en-US" dirty="0"/>
              <a:t>Operational acceptance testing</a:t>
            </a:r>
          </a:p>
        </p:txBody>
      </p:sp>
      <p:sp>
        <p:nvSpPr>
          <p:cNvPr id="4" name="Slide Number Placeholder 3">
            <a:extLst>
              <a:ext uri="{FF2B5EF4-FFF2-40B4-BE49-F238E27FC236}">
                <a16:creationId xmlns:a16="http://schemas.microsoft.com/office/drawing/2014/main" id="{F7A37970-1158-82B6-5CB6-5A988CFD0128}"/>
              </a:ext>
            </a:extLst>
          </p:cNvPr>
          <p:cNvSpPr>
            <a:spLocks noGrp="1"/>
          </p:cNvSpPr>
          <p:nvPr>
            <p:ph type="sldNum" sz="quarter" idx="10"/>
          </p:nvPr>
        </p:nvSpPr>
        <p:spPr/>
        <p:txBody>
          <a:bodyPr/>
          <a:lstStyle/>
          <a:p>
            <a:fld id="{E0746DE6-3336-457D-A091-FA20AC1C536E}" type="slidenum">
              <a:rPr lang="en-US" smtClean="0"/>
              <a:t>10</a:t>
            </a:fld>
            <a:endParaRPr lang="en-US" dirty="0"/>
          </a:p>
        </p:txBody>
      </p:sp>
    </p:spTree>
    <p:extLst>
      <p:ext uri="{BB962C8B-B14F-4D97-AF65-F5344CB8AC3E}">
        <p14:creationId xmlns:p14="http://schemas.microsoft.com/office/powerpoint/2010/main" val="1634762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EDDA9-22A7-5F5E-78D7-CF09AB346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2E11E-5C44-E3DD-95ED-9A1F7D357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99433-05B0-AC1A-9FD2-A252CCFEA402}"/>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Unit testing</a:t>
            </a:r>
          </a:p>
          <a:p>
            <a:pPr marL="171450" indent="-171450">
              <a:buFont typeface="Arial" panose="020B0604020202020204" pitchFamily="34" charset="0"/>
              <a:buChar char="•"/>
            </a:pPr>
            <a:r>
              <a:rPr lang="en-US" dirty="0"/>
              <a:t>Integration testing</a:t>
            </a:r>
          </a:p>
          <a:p>
            <a:pPr marL="171450" indent="-171450">
              <a:buFont typeface="Arial" panose="020B0604020202020204" pitchFamily="34" charset="0"/>
              <a:buChar char="•"/>
            </a:pPr>
            <a:r>
              <a:rPr lang="en-US" dirty="0"/>
              <a:t>System testing</a:t>
            </a:r>
          </a:p>
          <a:p>
            <a:pPr marL="171450" indent="-171450">
              <a:buFont typeface="Arial" panose="020B0604020202020204" pitchFamily="34" charset="0"/>
              <a:buChar char="•"/>
            </a:pPr>
            <a:r>
              <a:rPr lang="en-US" dirty="0"/>
              <a:t>Operational acceptance testing</a:t>
            </a:r>
          </a:p>
        </p:txBody>
      </p:sp>
      <p:sp>
        <p:nvSpPr>
          <p:cNvPr id="4" name="Slide Number Placeholder 3">
            <a:extLst>
              <a:ext uri="{FF2B5EF4-FFF2-40B4-BE49-F238E27FC236}">
                <a16:creationId xmlns:a16="http://schemas.microsoft.com/office/drawing/2014/main" id="{821FA4EF-F3DA-CDEE-EC50-AA7333328D8D}"/>
              </a:ext>
            </a:extLst>
          </p:cNvPr>
          <p:cNvSpPr>
            <a:spLocks noGrp="1"/>
          </p:cNvSpPr>
          <p:nvPr>
            <p:ph type="sldNum" sz="quarter" idx="10"/>
          </p:nvPr>
        </p:nvSpPr>
        <p:spPr/>
        <p:txBody>
          <a:bodyPr/>
          <a:lstStyle/>
          <a:p>
            <a:fld id="{E0746DE6-3336-457D-A091-FA20AC1C536E}" type="slidenum">
              <a:rPr lang="en-US" smtClean="0"/>
              <a:t>11</a:t>
            </a:fld>
            <a:endParaRPr lang="en-US" dirty="0"/>
          </a:p>
        </p:txBody>
      </p:sp>
    </p:spTree>
    <p:extLst>
      <p:ext uri="{BB962C8B-B14F-4D97-AF65-F5344CB8AC3E}">
        <p14:creationId xmlns:p14="http://schemas.microsoft.com/office/powerpoint/2010/main" val="2428127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DD8-D9C1-4AF5-3CEF-3DDCD6E69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7BFDC-4FD5-EF8E-B31F-3F0B3B1C1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7C4CD-3F72-51BF-0AAB-B7063D4036E0}"/>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Unit testing</a:t>
            </a:r>
          </a:p>
          <a:p>
            <a:pPr marL="171450" indent="-171450">
              <a:buFont typeface="Arial" panose="020B0604020202020204" pitchFamily="34" charset="0"/>
              <a:buChar char="•"/>
            </a:pPr>
            <a:r>
              <a:rPr lang="en-US" dirty="0"/>
              <a:t>Integration testing</a:t>
            </a:r>
          </a:p>
          <a:p>
            <a:pPr marL="171450" indent="-171450">
              <a:buFont typeface="Arial" panose="020B0604020202020204" pitchFamily="34" charset="0"/>
              <a:buChar char="•"/>
            </a:pPr>
            <a:r>
              <a:rPr lang="en-US" dirty="0"/>
              <a:t>System testing</a:t>
            </a:r>
          </a:p>
          <a:p>
            <a:pPr marL="171450" indent="-171450">
              <a:buFont typeface="Arial" panose="020B0604020202020204" pitchFamily="34" charset="0"/>
              <a:buChar char="•"/>
            </a:pPr>
            <a:r>
              <a:rPr lang="en-US" dirty="0"/>
              <a:t>Operational acceptance testing</a:t>
            </a:r>
          </a:p>
        </p:txBody>
      </p:sp>
      <p:sp>
        <p:nvSpPr>
          <p:cNvPr id="4" name="Slide Number Placeholder 3">
            <a:extLst>
              <a:ext uri="{FF2B5EF4-FFF2-40B4-BE49-F238E27FC236}">
                <a16:creationId xmlns:a16="http://schemas.microsoft.com/office/drawing/2014/main" id="{0AEE3EA0-0AD6-8973-19BD-6D8CF943CB2D}"/>
              </a:ext>
            </a:extLst>
          </p:cNvPr>
          <p:cNvSpPr>
            <a:spLocks noGrp="1"/>
          </p:cNvSpPr>
          <p:nvPr>
            <p:ph type="sldNum" sz="quarter" idx="10"/>
          </p:nvPr>
        </p:nvSpPr>
        <p:spPr/>
        <p:txBody>
          <a:bodyPr/>
          <a:lstStyle/>
          <a:p>
            <a:fld id="{E0746DE6-3336-457D-A091-FA20AC1C536E}" type="slidenum">
              <a:rPr lang="en-US" smtClean="0"/>
              <a:t>12</a:t>
            </a:fld>
            <a:endParaRPr lang="en-US" dirty="0"/>
          </a:p>
        </p:txBody>
      </p:sp>
    </p:spTree>
    <p:extLst>
      <p:ext uri="{BB962C8B-B14F-4D97-AF65-F5344CB8AC3E}">
        <p14:creationId xmlns:p14="http://schemas.microsoft.com/office/powerpoint/2010/main" val="1298636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94465-49ED-E2C9-AD1C-912EA3718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FAF02-18A1-848C-1EB6-938ED5487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DE2B0-5296-A79D-CB0B-F6ED688B4956}"/>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Static, dynamic and passive testing</a:t>
            </a:r>
          </a:p>
          <a:p>
            <a:pPr marL="171450" indent="-171450">
              <a:buFont typeface="Arial" panose="020B0604020202020204" pitchFamily="34" charset="0"/>
              <a:buChar char="•"/>
            </a:pPr>
            <a:r>
              <a:rPr lang="en-US" dirty="0"/>
              <a:t>Exploratory approach</a:t>
            </a:r>
          </a:p>
          <a:p>
            <a:pPr marL="171450" indent="-171450">
              <a:buFont typeface="Arial" panose="020B0604020202020204" pitchFamily="34" charset="0"/>
              <a:buChar char="•"/>
            </a:pPr>
            <a:r>
              <a:rPr lang="en-US" dirty="0"/>
              <a:t>The "box" approach</a:t>
            </a:r>
          </a:p>
        </p:txBody>
      </p:sp>
      <p:sp>
        <p:nvSpPr>
          <p:cNvPr id="4" name="Slide Number Placeholder 3">
            <a:extLst>
              <a:ext uri="{FF2B5EF4-FFF2-40B4-BE49-F238E27FC236}">
                <a16:creationId xmlns:a16="http://schemas.microsoft.com/office/drawing/2014/main" id="{C41C50D1-69DC-77DD-2DD5-B5D95C2DF240}"/>
              </a:ext>
            </a:extLst>
          </p:cNvPr>
          <p:cNvSpPr>
            <a:spLocks noGrp="1"/>
          </p:cNvSpPr>
          <p:nvPr>
            <p:ph type="sldNum" sz="quarter" idx="10"/>
          </p:nvPr>
        </p:nvSpPr>
        <p:spPr/>
        <p:txBody>
          <a:bodyPr/>
          <a:lstStyle/>
          <a:p>
            <a:fld id="{E0746DE6-3336-457D-A091-FA20AC1C536E}" type="slidenum">
              <a:rPr lang="en-US" smtClean="0"/>
              <a:t>13</a:t>
            </a:fld>
            <a:endParaRPr lang="en-US" dirty="0"/>
          </a:p>
        </p:txBody>
      </p:sp>
    </p:spTree>
    <p:extLst>
      <p:ext uri="{BB962C8B-B14F-4D97-AF65-F5344CB8AC3E}">
        <p14:creationId xmlns:p14="http://schemas.microsoft.com/office/powerpoint/2010/main" val="4132215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E1DDE-3A58-32F5-BFCA-C77856658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98BE4-ECF8-DB53-7BAD-B8F9BE6B8A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DF280-0ADF-D19F-20A3-BE922DB2D4F8}"/>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Unit testing</a:t>
            </a:r>
          </a:p>
          <a:p>
            <a:pPr marL="171450" indent="-171450">
              <a:buFont typeface="Arial" panose="020B0604020202020204" pitchFamily="34" charset="0"/>
              <a:buChar char="•"/>
            </a:pPr>
            <a:r>
              <a:rPr lang="en-US" dirty="0"/>
              <a:t>Integration testing</a:t>
            </a:r>
          </a:p>
          <a:p>
            <a:pPr marL="171450" indent="-171450">
              <a:buFont typeface="Arial" panose="020B0604020202020204" pitchFamily="34" charset="0"/>
              <a:buChar char="•"/>
            </a:pPr>
            <a:r>
              <a:rPr lang="en-US" dirty="0"/>
              <a:t>System testing</a:t>
            </a:r>
          </a:p>
          <a:p>
            <a:pPr marL="171450" indent="-171450">
              <a:buFont typeface="Arial" panose="020B0604020202020204" pitchFamily="34" charset="0"/>
              <a:buChar char="•"/>
            </a:pPr>
            <a:r>
              <a:rPr lang="en-US" dirty="0"/>
              <a:t>Operational acceptance testing</a:t>
            </a:r>
          </a:p>
        </p:txBody>
      </p:sp>
      <p:sp>
        <p:nvSpPr>
          <p:cNvPr id="4" name="Slide Number Placeholder 3">
            <a:extLst>
              <a:ext uri="{FF2B5EF4-FFF2-40B4-BE49-F238E27FC236}">
                <a16:creationId xmlns:a16="http://schemas.microsoft.com/office/drawing/2014/main" id="{A9D653A9-C5B8-D7FC-461C-B78D51F1A44A}"/>
              </a:ext>
            </a:extLst>
          </p:cNvPr>
          <p:cNvSpPr>
            <a:spLocks noGrp="1"/>
          </p:cNvSpPr>
          <p:nvPr>
            <p:ph type="sldNum" sz="quarter" idx="10"/>
          </p:nvPr>
        </p:nvSpPr>
        <p:spPr/>
        <p:txBody>
          <a:bodyPr/>
          <a:lstStyle/>
          <a:p>
            <a:fld id="{E0746DE6-3336-457D-A091-FA20AC1C536E}" type="slidenum">
              <a:rPr lang="en-US" smtClean="0"/>
              <a:t>14</a:t>
            </a:fld>
            <a:endParaRPr lang="en-US" dirty="0"/>
          </a:p>
        </p:txBody>
      </p:sp>
    </p:spTree>
    <p:extLst>
      <p:ext uri="{BB962C8B-B14F-4D97-AF65-F5344CB8AC3E}">
        <p14:creationId xmlns:p14="http://schemas.microsoft.com/office/powerpoint/2010/main" val="3335466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Traditional waterfall development model</a:t>
            </a:r>
          </a:p>
          <a:p>
            <a:pPr marL="171450" indent="-171450">
              <a:buFont typeface="Arial" panose="020B0604020202020204" pitchFamily="34" charset="0"/>
              <a:buChar char="•"/>
            </a:pPr>
            <a:r>
              <a:rPr lang="en-US" dirty="0"/>
              <a:t>Agile or XP development model</a:t>
            </a:r>
          </a:p>
          <a:p>
            <a:pPr marL="171450" indent="-171450">
              <a:buFont typeface="Arial" panose="020B0604020202020204" pitchFamily="34" charset="0"/>
              <a:buChar char="•"/>
            </a:pPr>
            <a:r>
              <a:rPr lang="en-US" dirty="0"/>
              <a:t>A sample testing cycle</a:t>
            </a:r>
          </a:p>
        </p:txBody>
      </p:sp>
      <p:sp>
        <p:nvSpPr>
          <p:cNvPr id="4" name="Slide Number Placeholder 3"/>
          <p:cNvSpPr>
            <a:spLocks noGrp="1"/>
          </p:cNvSpPr>
          <p:nvPr>
            <p:ph type="sldNum" sz="quarter" idx="10"/>
          </p:nvPr>
        </p:nvSpPr>
        <p:spPr/>
        <p:txBody>
          <a:bodyPr/>
          <a:lstStyle/>
          <a:p>
            <a:fld id="{E0746DE6-3336-457D-A091-FA20AC1C536E}" type="slidenum">
              <a:rPr lang="en-US" smtClean="0"/>
              <a:t>15</a:t>
            </a:fld>
            <a:endParaRPr lang="en-US" dirty="0"/>
          </a:p>
        </p:txBody>
      </p:sp>
    </p:spTree>
    <p:extLst>
      <p:ext uri="{BB962C8B-B14F-4D97-AF65-F5344CB8AC3E}">
        <p14:creationId xmlns:p14="http://schemas.microsoft.com/office/powerpoint/2010/main" val="1250375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Installation testing</a:t>
            </a:r>
          </a:p>
          <a:p>
            <a:pPr marL="171450" indent="-171450">
              <a:buFont typeface="Arial" panose="020B0604020202020204" pitchFamily="34" charset="0"/>
              <a:buChar char="•"/>
            </a:pPr>
            <a:r>
              <a:rPr lang="en-US" dirty="0"/>
              <a:t>Compatibility testing</a:t>
            </a:r>
          </a:p>
          <a:p>
            <a:pPr marL="171450" indent="-171450">
              <a:buFont typeface="Arial" panose="020B0604020202020204" pitchFamily="34" charset="0"/>
              <a:buChar char="•"/>
            </a:pPr>
            <a:r>
              <a:rPr lang="en-US" dirty="0"/>
              <a:t>Smoke and sanity testing</a:t>
            </a:r>
          </a:p>
          <a:p>
            <a:pPr marL="171450" indent="-171450">
              <a:buFont typeface="Arial" panose="020B0604020202020204" pitchFamily="34" charset="0"/>
              <a:buChar char="•"/>
            </a:pPr>
            <a:r>
              <a:rPr lang="en-US" dirty="0"/>
              <a:t>Regression testing</a:t>
            </a:r>
          </a:p>
          <a:p>
            <a:pPr marL="171450" indent="-171450">
              <a:buFont typeface="Arial" panose="020B0604020202020204" pitchFamily="34" charset="0"/>
              <a:buChar char="•"/>
            </a:pPr>
            <a:r>
              <a:rPr lang="en-US" dirty="0"/>
              <a:t>Acceptance testing</a:t>
            </a:r>
          </a:p>
          <a:p>
            <a:pPr marL="171450" indent="-171450">
              <a:buFont typeface="Arial" panose="020B0604020202020204" pitchFamily="34" charset="0"/>
              <a:buChar char="•"/>
            </a:pPr>
            <a:r>
              <a:rPr lang="en-US" dirty="0"/>
              <a:t>Alpha testing</a:t>
            </a:r>
          </a:p>
          <a:p>
            <a:pPr marL="171450" indent="-171450">
              <a:buFont typeface="Arial" panose="020B0604020202020204" pitchFamily="34" charset="0"/>
              <a:buChar char="•"/>
            </a:pPr>
            <a:r>
              <a:rPr lang="en-US" dirty="0"/>
              <a:t>Beta testing</a:t>
            </a:r>
          </a:p>
          <a:p>
            <a:pPr marL="171450" indent="-171450">
              <a:buFont typeface="Arial" panose="020B0604020202020204" pitchFamily="34" charset="0"/>
              <a:buChar char="•"/>
            </a:pPr>
            <a:r>
              <a:rPr lang="en-US" dirty="0"/>
              <a:t>Functional vs non-functional testing</a:t>
            </a:r>
          </a:p>
          <a:p>
            <a:pPr marL="171450" indent="-171450">
              <a:buFont typeface="Arial" panose="020B0604020202020204" pitchFamily="34" charset="0"/>
              <a:buChar char="•"/>
            </a:pPr>
            <a:r>
              <a:rPr lang="en-US" dirty="0"/>
              <a:t>Continuous testing</a:t>
            </a:r>
          </a:p>
          <a:p>
            <a:pPr marL="171450" indent="-171450">
              <a:buFont typeface="Arial" panose="020B0604020202020204" pitchFamily="34" charset="0"/>
              <a:buChar char="•"/>
            </a:pPr>
            <a:r>
              <a:rPr lang="en-US" dirty="0"/>
              <a:t>Destructive testing</a:t>
            </a:r>
          </a:p>
        </p:txBody>
      </p:sp>
      <p:sp>
        <p:nvSpPr>
          <p:cNvPr id="4" name="Slide Number Placeholder 3"/>
          <p:cNvSpPr>
            <a:spLocks noGrp="1"/>
          </p:cNvSpPr>
          <p:nvPr>
            <p:ph type="sldNum" sz="quarter" idx="10"/>
          </p:nvPr>
        </p:nvSpPr>
        <p:spPr/>
        <p:txBody>
          <a:bodyPr/>
          <a:lstStyle/>
          <a:p>
            <a:fld id="{E0746DE6-3336-457D-A091-FA20AC1C536E}" type="slidenum">
              <a:rPr lang="en-US" smtClean="0"/>
              <a:t>16</a:t>
            </a:fld>
            <a:endParaRPr lang="en-US" dirty="0"/>
          </a:p>
        </p:txBody>
      </p:sp>
    </p:spTree>
    <p:extLst>
      <p:ext uri="{BB962C8B-B14F-4D97-AF65-F5344CB8AC3E}">
        <p14:creationId xmlns:p14="http://schemas.microsoft.com/office/powerpoint/2010/main" val="16017473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0EC61-A896-F4D1-9870-25CFAB283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EE95E-630D-6BD1-E680-FD822F9FF1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3DF6EB-BE6D-71C7-8C14-E4AAC3C8EC3E}"/>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Installation testing</a:t>
            </a:r>
          </a:p>
          <a:p>
            <a:pPr marL="171450" indent="-171450">
              <a:buFont typeface="Arial" panose="020B0604020202020204" pitchFamily="34" charset="0"/>
              <a:buChar char="•"/>
            </a:pPr>
            <a:r>
              <a:rPr lang="en-US" dirty="0"/>
              <a:t>Compatibility testing</a:t>
            </a:r>
          </a:p>
          <a:p>
            <a:pPr marL="171450" indent="-171450">
              <a:buFont typeface="Arial" panose="020B0604020202020204" pitchFamily="34" charset="0"/>
              <a:buChar char="•"/>
            </a:pPr>
            <a:r>
              <a:rPr lang="en-US" dirty="0"/>
              <a:t>Smoke and sanity testing</a:t>
            </a:r>
          </a:p>
          <a:p>
            <a:pPr marL="171450" indent="-171450">
              <a:buFont typeface="Arial" panose="020B0604020202020204" pitchFamily="34" charset="0"/>
              <a:buChar char="•"/>
            </a:pPr>
            <a:r>
              <a:rPr lang="en-US" dirty="0"/>
              <a:t>Regression testing</a:t>
            </a:r>
          </a:p>
          <a:p>
            <a:pPr marL="171450" indent="-171450">
              <a:buFont typeface="Arial" panose="020B0604020202020204" pitchFamily="34" charset="0"/>
              <a:buChar char="•"/>
            </a:pPr>
            <a:r>
              <a:rPr lang="en-US" dirty="0"/>
              <a:t>Acceptance testing</a:t>
            </a:r>
          </a:p>
          <a:p>
            <a:pPr marL="171450" indent="-171450">
              <a:buFont typeface="Arial" panose="020B0604020202020204" pitchFamily="34" charset="0"/>
              <a:buChar char="•"/>
            </a:pPr>
            <a:r>
              <a:rPr lang="en-US" dirty="0"/>
              <a:t>Alpha testing</a:t>
            </a:r>
          </a:p>
          <a:p>
            <a:pPr marL="171450" indent="-171450">
              <a:buFont typeface="Arial" panose="020B0604020202020204" pitchFamily="34" charset="0"/>
              <a:buChar char="•"/>
            </a:pPr>
            <a:r>
              <a:rPr lang="en-US" dirty="0"/>
              <a:t>Beta testing</a:t>
            </a:r>
          </a:p>
          <a:p>
            <a:pPr marL="171450" indent="-171450">
              <a:buFont typeface="Arial" panose="020B0604020202020204" pitchFamily="34" charset="0"/>
              <a:buChar char="•"/>
            </a:pPr>
            <a:r>
              <a:rPr lang="en-US" dirty="0"/>
              <a:t>Functional vs non-functional testing</a:t>
            </a:r>
          </a:p>
          <a:p>
            <a:pPr marL="171450" indent="-171450">
              <a:buFont typeface="Arial" panose="020B0604020202020204" pitchFamily="34" charset="0"/>
              <a:buChar char="•"/>
            </a:pPr>
            <a:r>
              <a:rPr lang="en-US" dirty="0"/>
              <a:t>Continuous testing</a:t>
            </a:r>
          </a:p>
          <a:p>
            <a:pPr marL="171450" indent="-171450">
              <a:buFont typeface="Arial" panose="020B0604020202020204" pitchFamily="34" charset="0"/>
              <a:buChar char="•"/>
            </a:pPr>
            <a:r>
              <a:rPr lang="en-US" dirty="0"/>
              <a:t>Destructive testing</a:t>
            </a:r>
          </a:p>
        </p:txBody>
      </p:sp>
      <p:sp>
        <p:nvSpPr>
          <p:cNvPr id="4" name="Slide Number Placeholder 3">
            <a:extLst>
              <a:ext uri="{FF2B5EF4-FFF2-40B4-BE49-F238E27FC236}">
                <a16:creationId xmlns:a16="http://schemas.microsoft.com/office/drawing/2014/main" id="{0EF30054-447E-FF11-D138-3CF0FDF784A3}"/>
              </a:ext>
            </a:extLst>
          </p:cNvPr>
          <p:cNvSpPr>
            <a:spLocks noGrp="1"/>
          </p:cNvSpPr>
          <p:nvPr>
            <p:ph type="sldNum" sz="quarter" idx="10"/>
          </p:nvPr>
        </p:nvSpPr>
        <p:spPr/>
        <p:txBody>
          <a:bodyPr/>
          <a:lstStyle/>
          <a:p>
            <a:fld id="{E0746DE6-3336-457D-A091-FA20AC1C536E}" type="slidenum">
              <a:rPr lang="en-US" smtClean="0"/>
              <a:t>17</a:t>
            </a:fld>
            <a:endParaRPr lang="en-US" dirty="0"/>
          </a:p>
        </p:txBody>
      </p:sp>
    </p:spTree>
    <p:extLst>
      <p:ext uri="{BB962C8B-B14F-4D97-AF65-F5344CB8AC3E}">
        <p14:creationId xmlns:p14="http://schemas.microsoft.com/office/powerpoint/2010/main" val="3866470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1BB64-58AF-51F9-D4CF-FE710495F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69910-1961-1244-F5F7-62B2C16D4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92B91-0B4A-B5AF-030E-C11FEBFF6133}"/>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Installation testing</a:t>
            </a:r>
          </a:p>
          <a:p>
            <a:pPr marL="171450" indent="-171450">
              <a:buFont typeface="Arial" panose="020B0604020202020204" pitchFamily="34" charset="0"/>
              <a:buChar char="•"/>
            </a:pPr>
            <a:r>
              <a:rPr lang="en-US" dirty="0"/>
              <a:t>Compatibility testing</a:t>
            </a:r>
          </a:p>
          <a:p>
            <a:pPr marL="171450" indent="-171450">
              <a:buFont typeface="Arial" panose="020B0604020202020204" pitchFamily="34" charset="0"/>
              <a:buChar char="•"/>
            </a:pPr>
            <a:r>
              <a:rPr lang="en-US" dirty="0"/>
              <a:t>Smoke and sanity testing</a:t>
            </a:r>
          </a:p>
          <a:p>
            <a:pPr marL="171450" indent="-171450">
              <a:buFont typeface="Arial" panose="020B0604020202020204" pitchFamily="34" charset="0"/>
              <a:buChar char="•"/>
            </a:pPr>
            <a:r>
              <a:rPr lang="en-US" dirty="0"/>
              <a:t>Regression testing</a:t>
            </a:r>
          </a:p>
          <a:p>
            <a:pPr marL="171450" indent="-171450">
              <a:buFont typeface="Arial" panose="020B0604020202020204" pitchFamily="34" charset="0"/>
              <a:buChar char="•"/>
            </a:pPr>
            <a:r>
              <a:rPr lang="en-US" dirty="0"/>
              <a:t>Acceptance testing</a:t>
            </a:r>
          </a:p>
          <a:p>
            <a:pPr marL="171450" indent="-171450">
              <a:buFont typeface="Arial" panose="020B0604020202020204" pitchFamily="34" charset="0"/>
              <a:buChar char="•"/>
            </a:pPr>
            <a:r>
              <a:rPr lang="en-US" dirty="0"/>
              <a:t>Alpha testing</a:t>
            </a:r>
          </a:p>
          <a:p>
            <a:pPr marL="171450" indent="-171450">
              <a:buFont typeface="Arial" panose="020B0604020202020204" pitchFamily="34" charset="0"/>
              <a:buChar char="•"/>
            </a:pPr>
            <a:r>
              <a:rPr lang="en-US" dirty="0"/>
              <a:t>Beta testing</a:t>
            </a:r>
          </a:p>
          <a:p>
            <a:pPr marL="171450" indent="-171450">
              <a:buFont typeface="Arial" panose="020B0604020202020204" pitchFamily="34" charset="0"/>
              <a:buChar char="•"/>
            </a:pPr>
            <a:r>
              <a:rPr lang="en-US" dirty="0"/>
              <a:t>Functional vs non-functional testing</a:t>
            </a:r>
          </a:p>
          <a:p>
            <a:pPr marL="171450" indent="-171450">
              <a:buFont typeface="Arial" panose="020B0604020202020204" pitchFamily="34" charset="0"/>
              <a:buChar char="•"/>
            </a:pPr>
            <a:r>
              <a:rPr lang="en-US" dirty="0"/>
              <a:t>Continuous testing</a:t>
            </a:r>
          </a:p>
          <a:p>
            <a:pPr marL="171450" indent="-171450">
              <a:buFont typeface="Arial" panose="020B0604020202020204" pitchFamily="34" charset="0"/>
              <a:buChar char="•"/>
            </a:pPr>
            <a:r>
              <a:rPr lang="en-US" dirty="0"/>
              <a:t>Destructive testing</a:t>
            </a:r>
          </a:p>
        </p:txBody>
      </p:sp>
      <p:sp>
        <p:nvSpPr>
          <p:cNvPr id="4" name="Slide Number Placeholder 3">
            <a:extLst>
              <a:ext uri="{FF2B5EF4-FFF2-40B4-BE49-F238E27FC236}">
                <a16:creationId xmlns:a16="http://schemas.microsoft.com/office/drawing/2014/main" id="{1BE0B9F0-1F54-B6DD-D58A-2B4EADC9F901}"/>
              </a:ext>
            </a:extLst>
          </p:cNvPr>
          <p:cNvSpPr>
            <a:spLocks noGrp="1"/>
          </p:cNvSpPr>
          <p:nvPr>
            <p:ph type="sldNum" sz="quarter" idx="10"/>
          </p:nvPr>
        </p:nvSpPr>
        <p:spPr/>
        <p:txBody>
          <a:bodyPr/>
          <a:lstStyle/>
          <a:p>
            <a:fld id="{E0746DE6-3336-457D-A091-FA20AC1C536E}" type="slidenum">
              <a:rPr lang="en-US" smtClean="0"/>
              <a:t>18</a:t>
            </a:fld>
            <a:endParaRPr lang="en-US" dirty="0"/>
          </a:p>
        </p:txBody>
      </p:sp>
    </p:spTree>
    <p:extLst>
      <p:ext uri="{BB962C8B-B14F-4D97-AF65-F5344CB8AC3E}">
        <p14:creationId xmlns:p14="http://schemas.microsoft.com/office/powerpoint/2010/main" val="1763784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879CF-EE29-649C-A57E-453233D8C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B5F4B-3F20-646B-1DCD-DB45821EA1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1A90C-C58D-76A8-D1D4-5BF4430A9D4A}"/>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Installation testing</a:t>
            </a:r>
          </a:p>
          <a:p>
            <a:pPr marL="171450" indent="-171450">
              <a:buFont typeface="Arial" panose="020B0604020202020204" pitchFamily="34" charset="0"/>
              <a:buChar char="•"/>
            </a:pPr>
            <a:r>
              <a:rPr lang="en-US" dirty="0"/>
              <a:t>Compatibility testing</a:t>
            </a:r>
          </a:p>
          <a:p>
            <a:pPr marL="171450" indent="-171450">
              <a:buFont typeface="Arial" panose="020B0604020202020204" pitchFamily="34" charset="0"/>
              <a:buChar char="•"/>
            </a:pPr>
            <a:r>
              <a:rPr lang="en-US" dirty="0"/>
              <a:t>Smoke and sanity testing</a:t>
            </a:r>
          </a:p>
          <a:p>
            <a:pPr marL="171450" indent="-171450">
              <a:buFont typeface="Arial" panose="020B0604020202020204" pitchFamily="34" charset="0"/>
              <a:buChar char="•"/>
            </a:pPr>
            <a:r>
              <a:rPr lang="en-US" dirty="0"/>
              <a:t>Regression testing</a:t>
            </a:r>
          </a:p>
          <a:p>
            <a:pPr marL="171450" indent="-171450">
              <a:buFont typeface="Arial" panose="020B0604020202020204" pitchFamily="34" charset="0"/>
              <a:buChar char="•"/>
            </a:pPr>
            <a:r>
              <a:rPr lang="en-US" dirty="0"/>
              <a:t>Acceptance testing</a:t>
            </a:r>
          </a:p>
          <a:p>
            <a:pPr marL="171450" indent="-171450">
              <a:buFont typeface="Arial" panose="020B0604020202020204" pitchFamily="34" charset="0"/>
              <a:buChar char="•"/>
            </a:pPr>
            <a:r>
              <a:rPr lang="en-US" dirty="0"/>
              <a:t>Alpha testing</a:t>
            </a:r>
          </a:p>
          <a:p>
            <a:pPr marL="171450" indent="-171450">
              <a:buFont typeface="Arial" panose="020B0604020202020204" pitchFamily="34" charset="0"/>
              <a:buChar char="•"/>
            </a:pPr>
            <a:r>
              <a:rPr lang="en-US" dirty="0"/>
              <a:t>Beta testing</a:t>
            </a:r>
          </a:p>
          <a:p>
            <a:pPr marL="171450" indent="-171450">
              <a:buFont typeface="Arial" panose="020B0604020202020204" pitchFamily="34" charset="0"/>
              <a:buChar char="•"/>
            </a:pPr>
            <a:r>
              <a:rPr lang="en-US" dirty="0"/>
              <a:t>Functional vs non-functional testing</a:t>
            </a:r>
          </a:p>
          <a:p>
            <a:pPr marL="171450" indent="-171450">
              <a:buFont typeface="Arial" panose="020B0604020202020204" pitchFamily="34" charset="0"/>
              <a:buChar char="•"/>
            </a:pPr>
            <a:r>
              <a:rPr lang="en-US" dirty="0"/>
              <a:t>Continuous testing</a:t>
            </a:r>
          </a:p>
          <a:p>
            <a:pPr marL="171450" indent="-171450">
              <a:buFont typeface="Arial" panose="020B0604020202020204" pitchFamily="34" charset="0"/>
              <a:buChar char="•"/>
            </a:pPr>
            <a:r>
              <a:rPr lang="en-US" dirty="0"/>
              <a:t>Destructive testing</a:t>
            </a:r>
          </a:p>
        </p:txBody>
      </p:sp>
      <p:sp>
        <p:nvSpPr>
          <p:cNvPr id="4" name="Slide Number Placeholder 3">
            <a:extLst>
              <a:ext uri="{FF2B5EF4-FFF2-40B4-BE49-F238E27FC236}">
                <a16:creationId xmlns:a16="http://schemas.microsoft.com/office/drawing/2014/main" id="{C0009D7B-0519-6AC0-8054-DF322C4B426D}"/>
              </a:ext>
            </a:extLst>
          </p:cNvPr>
          <p:cNvSpPr>
            <a:spLocks noGrp="1"/>
          </p:cNvSpPr>
          <p:nvPr>
            <p:ph type="sldNum" sz="quarter" idx="10"/>
          </p:nvPr>
        </p:nvSpPr>
        <p:spPr/>
        <p:txBody>
          <a:bodyPr/>
          <a:lstStyle/>
          <a:p>
            <a:fld id="{E0746DE6-3336-457D-A091-FA20AC1C536E}" type="slidenum">
              <a:rPr lang="en-US" smtClean="0"/>
              <a:t>19</a:t>
            </a:fld>
            <a:endParaRPr lang="en-US" dirty="0"/>
          </a:p>
        </p:txBody>
      </p:sp>
    </p:spTree>
    <p:extLst>
      <p:ext uri="{BB962C8B-B14F-4D97-AF65-F5344CB8AC3E}">
        <p14:creationId xmlns:p14="http://schemas.microsoft.com/office/powerpoint/2010/main" val="1502252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0AA17-F96D-E4CE-9841-F62AC90D1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96035-7056-A111-9F04-AA00C329C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C4B89-69EA-B756-6095-D543541020B1}"/>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Installation testing</a:t>
            </a:r>
          </a:p>
          <a:p>
            <a:pPr marL="171450" indent="-171450">
              <a:buFont typeface="Arial" panose="020B0604020202020204" pitchFamily="34" charset="0"/>
              <a:buChar char="•"/>
            </a:pPr>
            <a:r>
              <a:rPr lang="en-US" dirty="0"/>
              <a:t>Compatibility testing</a:t>
            </a:r>
          </a:p>
          <a:p>
            <a:pPr marL="171450" indent="-171450">
              <a:buFont typeface="Arial" panose="020B0604020202020204" pitchFamily="34" charset="0"/>
              <a:buChar char="•"/>
            </a:pPr>
            <a:r>
              <a:rPr lang="en-US" dirty="0"/>
              <a:t>Smoke and sanity testing</a:t>
            </a:r>
          </a:p>
          <a:p>
            <a:pPr marL="171450" indent="-171450">
              <a:buFont typeface="Arial" panose="020B0604020202020204" pitchFamily="34" charset="0"/>
              <a:buChar char="•"/>
            </a:pPr>
            <a:r>
              <a:rPr lang="en-US" dirty="0"/>
              <a:t>Regression testing</a:t>
            </a:r>
          </a:p>
          <a:p>
            <a:pPr marL="171450" indent="-171450">
              <a:buFont typeface="Arial" panose="020B0604020202020204" pitchFamily="34" charset="0"/>
              <a:buChar char="•"/>
            </a:pPr>
            <a:r>
              <a:rPr lang="en-US" dirty="0"/>
              <a:t>Acceptance testing</a:t>
            </a:r>
          </a:p>
          <a:p>
            <a:pPr marL="171450" indent="-171450">
              <a:buFont typeface="Arial" panose="020B0604020202020204" pitchFamily="34" charset="0"/>
              <a:buChar char="•"/>
            </a:pPr>
            <a:r>
              <a:rPr lang="en-US" dirty="0"/>
              <a:t>Alpha testing</a:t>
            </a:r>
          </a:p>
          <a:p>
            <a:pPr marL="171450" indent="-171450">
              <a:buFont typeface="Arial" panose="020B0604020202020204" pitchFamily="34" charset="0"/>
              <a:buChar char="•"/>
            </a:pPr>
            <a:r>
              <a:rPr lang="en-US" dirty="0"/>
              <a:t>Beta testing</a:t>
            </a:r>
          </a:p>
          <a:p>
            <a:pPr marL="171450" indent="-171450">
              <a:buFont typeface="Arial" panose="020B0604020202020204" pitchFamily="34" charset="0"/>
              <a:buChar char="•"/>
            </a:pPr>
            <a:r>
              <a:rPr lang="en-US" dirty="0"/>
              <a:t>Functional vs non-functional testing</a:t>
            </a:r>
          </a:p>
          <a:p>
            <a:pPr marL="171450" indent="-171450">
              <a:buFont typeface="Arial" panose="020B0604020202020204" pitchFamily="34" charset="0"/>
              <a:buChar char="•"/>
            </a:pPr>
            <a:r>
              <a:rPr lang="en-US" dirty="0"/>
              <a:t>Continuous testing</a:t>
            </a:r>
          </a:p>
          <a:p>
            <a:pPr marL="171450" indent="-171450">
              <a:buFont typeface="Arial" panose="020B0604020202020204" pitchFamily="34" charset="0"/>
              <a:buChar char="•"/>
            </a:pPr>
            <a:r>
              <a:rPr lang="en-US" dirty="0"/>
              <a:t>Destructive testing</a:t>
            </a:r>
          </a:p>
        </p:txBody>
      </p:sp>
      <p:sp>
        <p:nvSpPr>
          <p:cNvPr id="4" name="Slide Number Placeholder 3">
            <a:extLst>
              <a:ext uri="{FF2B5EF4-FFF2-40B4-BE49-F238E27FC236}">
                <a16:creationId xmlns:a16="http://schemas.microsoft.com/office/drawing/2014/main" id="{6AD94799-8676-4EC3-70CF-EEEBEA88B92D}"/>
              </a:ext>
            </a:extLst>
          </p:cNvPr>
          <p:cNvSpPr>
            <a:spLocks noGrp="1"/>
          </p:cNvSpPr>
          <p:nvPr>
            <p:ph type="sldNum" sz="quarter" idx="10"/>
          </p:nvPr>
        </p:nvSpPr>
        <p:spPr/>
        <p:txBody>
          <a:bodyPr/>
          <a:lstStyle/>
          <a:p>
            <a:fld id="{E0746DE6-3336-457D-A091-FA20AC1C536E}" type="slidenum">
              <a:rPr lang="en-US" smtClean="0"/>
              <a:t>20</a:t>
            </a:fld>
            <a:endParaRPr lang="en-US" dirty="0"/>
          </a:p>
        </p:txBody>
      </p:sp>
    </p:spTree>
    <p:extLst>
      <p:ext uri="{BB962C8B-B14F-4D97-AF65-F5344CB8AC3E}">
        <p14:creationId xmlns:p14="http://schemas.microsoft.com/office/powerpoint/2010/main" val="32822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Testing tools</a:t>
            </a:r>
          </a:p>
        </p:txBody>
      </p:sp>
      <p:sp>
        <p:nvSpPr>
          <p:cNvPr id="4" name="Slide Number Placeholder 3"/>
          <p:cNvSpPr>
            <a:spLocks noGrp="1"/>
          </p:cNvSpPr>
          <p:nvPr>
            <p:ph type="sldNum" sz="quarter" idx="10"/>
          </p:nvPr>
        </p:nvSpPr>
        <p:spPr/>
        <p:txBody>
          <a:bodyPr/>
          <a:lstStyle/>
          <a:p>
            <a:fld id="{E0746DE6-3336-457D-A091-FA20AC1C536E}" type="slidenum">
              <a:rPr lang="en-US" smtClean="0"/>
              <a:t>21</a:t>
            </a:fld>
            <a:endParaRPr lang="en-US" dirty="0"/>
          </a:p>
        </p:txBody>
      </p:sp>
    </p:spTree>
    <p:extLst>
      <p:ext uri="{BB962C8B-B14F-4D97-AF65-F5344CB8AC3E}">
        <p14:creationId xmlns:p14="http://schemas.microsoft.com/office/powerpoint/2010/main" val="20209034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Hierarchy of testing difficulty</a:t>
            </a:r>
          </a:p>
        </p:txBody>
      </p:sp>
      <p:sp>
        <p:nvSpPr>
          <p:cNvPr id="4" name="Slide Number Placeholder 3"/>
          <p:cNvSpPr>
            <a:spLocks noGrp="1"/>
          </p:cNvSpPr>
          <p:nvPr>
            <p:ph type="sldNum" sz="quarter" idx="10"/>
          </p:nvPr>
        </p:nvSpPr>
        <p:spPr/>
        <p:txBody>
          <a:bodyPr/>
          <a:lstStyle/>
          <a:p>
            <a:fld id="{E0746DE6-3336-457D-A091-FA20AC1C536E}" type="slidenum">
              <a:rPr lang="en-US" smtClean="0"/>
              <a:t>22</a:t>
            </a:fld>
            <a:endParaRPr lang="en-US" dirty="0"/>
          </a:p>
        </p:txBody>
      </p:sp>
    </p:spTree>
    <p:extLst>
      <p:ext uri="{BB962C8B-B14F-4D97-AF65-F5344CB8AC3E}">
        <p14:creationId xmlns:p14="http://schemas.microsoft.com/office/powerpoint/2010/main" val="20209034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56925-CF94-3433-ECD1-35B6015C61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0D878-B83B-1BB4-4976-38DB83FA9B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4DAE2-3ED2-1F37-50CE-0A545C1BC789}"/>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Hierarchy of testing difficulty</a:t>
            </a:r>
          </a:p>
        </p:txBody>
      </p:sp>
      <p:sp>
        <p:nvSpPr>
          <p:cNvPr id="4" name="Slide Number Placeholder 3">
            <a:extLst>
              <a:ext uri="{FF2B5EF4-FFF2-40B4-BE49-F238E27FC236}">
                <a16:creationId xmlns:a16="http://schemas.microsoft.com/office/drawing/2014/main" id="{96498829-1E0D-220B-6650-386D3A376927}"/>
              </a:ext>
            </a:extLst>
          </p:cNvPr>
          <p:cNvSpPr>
            <a:spLocks noGrp="1"/>
          </p:cNvSpPr>
          <p:nvPr>
            <p:ph type="sldNum" sz="quarter" idx="10"/>
          </p:nvPr>
        </p:nvSpPr>
        <p:spPr/>
        <p:txBody>
          <a:bodyPr/>
          <a:lstStyle/>
          <a:p>
            <a:fld id="{E0746DE6-3336-457D-A091-FA20AC1C536E}" type="slidenum">
              <a:rPr lang="en-US" smtClean="0"/>
              <a:t>23</a:t>
            </a:fld>
            <a:endParaRPr lang="en-US" dirty="0"/>
          </a:p>
        </p:txBody>
      </p:sp>
    </p:spTree>
    <p:extLst>
      <p:ext uri="{BB962C8B-B14F-4D97-AF65-F5344CB8AC3E}">
        <p14:creationId xmlns:p14="http://schemas.microsoft.com/office/powerpoint/2010/main" val="2691125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Software verification and validation</a:t>
            </a:r>
          </a:p>
          <a:p>
            <a:pPr marL="171450" indent="-171450">
              <a:buFont typeface="Arial" panose="020B0604020202020204" pitchFamily="34" charset="0"/>
              <a:buChar char="•"/>
            </a:pPr>
            <a:r>
              <a:rPr lang="en-US" dirty="0"/>
              <a:t>Software quality assurance</a:t>
            </a:r>
          </a:p>
        </p:txBody>
      </p:sp>
      <p:sp>
        <p:nvSpPr>
          <p:cNvPr id="4" name="Slide Number Placeholder 3"/>
          <p:cNvSpPr>
            <a:spLocks noGrp="1"/>
          </p:cNvSpPr>
          <p:nvPr>
            <p:ph type="sldNum" sz="quarter" idx="10"/>
          </p:nvPr>
        </p:nvSpPr>
        <p:spPr/>
        <p:txBody>
          <a:bodyPr/>
          <a:lstStyle/>
          <a:p>
            <a:fld id="{E0746DE6-3336-457D-A091-FA20AC1C536E}" type="slidenum">
              <a:rPr lang="en-US" smtClean="0"/>
              <a:t>33</a:t>
            </a:fld>
            <a:endParaRPr lang="en-US" dirty="0"/>
          </a:p>
        </p:txBody>
      </p:sp>
    </p:spTree>
    <p:extLst>
      <p:ext uri="{BB962C8B-B14F-4D97-AF65-F5344CB8AC3E}">
        <p14:creationId xmlns:p14="http://schemas.microsoft.com/office/powerpoint/2010/main" val="1053040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DE1C-9BFD-BBE7-DD94-1471679FA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E5273-9978-D5B6-8309-22D206FEE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A08ED-E980-E05D-9BB6-CB3E96F942A7}"/>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Software verification and validation</a:t>
            </a:r>
          </a:p>
          <a:p>
            <a:pPr marL="171450" indent="-171450">
              <a:buFont typeface="Arial" panose="020B0604020202020204" pitchFamily="34" charset="0"/>
              <a:buChar char="•"/>
            </a:pPr>
            <a:r>
              <a:rPr lang="en-US" dirty="0"/>
              <a:t>Software quality assurance</a:t>
            </a:r>
          </a:p>
        </p:txBody>
      </p:sp>
      <p:sp>
        <p:nvSpPr>
          <p:cNvPr id="4" name="Slide Number Placeholder 3">
            <a:extLst>
              <a:ext uri="{FF2B5EF4-FFF2-40B4-BE49-F238E27FC236}">
                <a16:creationId xmlns:a16="http://schemas.microsoft.com/office/drawing/2014/main" id="{6DC219AB-3F3F-2036-2F86-5B4A6B16A4E3}"/>
              </a:ext>
            </a:extLst>
          </p:cNvPr>
          <p:cNvSpPr>
            <a:spLocks noGrp="1"/>
          </p:cNvSpPr>
          <p:nvPr>
            <p:ph type="sldNum" sz="quarter" idx="10"/>
          </p:nvPr>
        </p:nvSpPr>
        <p:spPr/>
        <p:txBody>
          <a:bodyPr/>
          <a:lstStyle/>
          <a:p>
            <a:fld id="{E0746DE6-3336-457D-A091-FA20AC1C536E}" type="slidenum">
              <a:rPr lang="en-US" smtClean="0"/>
              <a:t>34</a:t>
            </a:fld>
            <a:endParaRPr lang="en-US" dirty="0"/>
          </a:p>
        </p:txBody>
      </p:sp>
    </p:spTree>
    <p:extLst>
      <p:ext uri="{BB962C8B-B14F-4D97-AF65-F5344CB8AC3E}">
        <p14:creationId xmlns:p14="http://schemas.microsoft.com/office/powerpoint/2010/main" val="818994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43EC-E051-61CC-4CBF-02FF73314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19034-0BEA-2B30-1F26-1E53454E0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A1069-9492-61D3-FDA2-8B865D3D31CF}"/>
              </a:ext>
            </a:extLst>
          </p:cNvPr>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Software verification and validation</a:t>
            </a:r>
          </a:p>
          <a:p>
            <a:pPr marL="171450" indent="-171450">
              <a:buFont typeface="Arial" panose="020B0604020202020204" pitchFamily="34" charset="0"/>
              <a:buChar char="•"/>
            </a:pPr>
            <a:r>
              <a:rPr lang="en-US" dirty="0"/>
              <a:t>Software quality assurance</a:t>
            </a:r>
          </a:p>
        </p:txBody>
      </p:sp>
      <p:sp>
        <p:nvSpPr>
          <p:cNvPr id="4" name="Slide Number Placeholder 3">
            <a:extLst>
              <a:ext uri="{FF2B5EF4-FFF2-40B4-BE49-F238E27FC236}">
                <a16:creationId xmlns:a16="http://schemas.microsoft.com/office/drawing/2014/main" id="{BC35A3AB-DC27-42B1-17AE-02657E5ED181}"/>
              </a:ext>
            </a:extLst>
          </p:cNvPr>
          <p:cNvSpPr>
            <a:spLocks noGrp="1"/>
          </p:cNvSpPr>
          <p:nvPr>
            <p:ph type="sldNum" sz="quarter" idx="10"/>
          </p:nvPr>
        </p:nvSpPr>
        <p:spPr/>
        <p:txBody>
          <a:bodyPr/>
          <a:lstStyle/>
          <a:p>
            <a:fld id="{E0746DE6-3336-457D-A091-FA20AC1C536E}" type="slidenum">
              <a:rPr lang="en-US" smtClean="0"/>
              <a:t>35</a:t>
            </a:fld>
            <a:endParaRPr lang="en-US" dirty="0"/>
          </a:p>
        </p:txBody>
      </p:sp>
    </p:spTree>
    <p:extLst>
      <p:ext uri="{BB962C8B-B14F-4D97-AF65-F5344CB8AC3E}">
        <p14:creationId xmlns:p14="http://schemas.microsoft.com/office/powerpoint/2010/main" val="2570733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a:t>11/2/24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a:pPr/>
              <a:t>‹#›</a:t>
            </a:fld>
            <a:endParaRPr lang="en-US" dirty="0"/>
          </a:p>
        </p:txBody>
      </p:sp>
    </p:spTree>
    <p:extLst>
      <p:ext uri="{BB962C8B-B14F-4D97-AF65-F5344CB8AC3E}">
        <p14:creationId xmlns:p14="http://schemas.microsoft.com/office/powerpoint/2010/main" val="5269582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a:t>11/2/24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a:pPr/>
              <a:t>‹#›</a:t>
            </a:fld>
            <a:endParaRPr lang="en-US" dirty="0"/>
          </a:p>
        </p:txBody>
      </p:sp>
    </p:spTree>
    <p:extLst>
      <p:ext uri="{BB962C8B-B14F-4D97-AF65-F5344CB8AC3E}">
        <p14:creationId xmlns:p14="http://schemas.microsoft.com/office/powerpoint/2010/main" val="1946809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a:t>11/2/24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a:pPr/>
              <a:t>‹#›</a:t>
            </a:fld>
            <a:endParaRPr lang="en-US" dirty="0"/>
          </a:p>
        </p:txBody>
      </p:sp>
    </p:spTree>
    <p:extLst>
      <p:ext uri="{BB962C8B-B14F-4D97-AF65-F5344CB8AC3E}">
        <p14:creationId xmlns:p14="http://schemas.microsoft.com/office/powerpoint/2010/main" val="1957615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a:t>11/2/24</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2008465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a:t>11/2/24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90006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a:t>11/2/24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1044763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a:t>11/2/24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181271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a:t>11/2/24</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795084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a:t>11/2/24</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171692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a:t>11/2/24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81356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a:t>11/2/24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a:t>‹#›</a:t>
            </a:fld>
            <a:endParaRPr lang="en-US" dirty="0"/>
          </a:p>
        </p:txBody>
      </p:sp>
    </p:spTree>
    <p:extLst>
      <p:ext uri="{BB962C8B-B14F-4D97-AF65-F5344CB8AC3E}">
        <p14:creationId xmlns:p14="http://schemas.microsoft.com/office/powerpoint/2010/main" val="2125801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a:t>11/2/24</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a:pPr/>
              <a:t>‹#›</a:t>
            </a:fld>
            <a:endParaRPr lang="en-US" dirty="0"/>
          </a:p>
        </p:txBody>
      </p:sp>
    </p:spTree>
    <p:extLst>
      <p:ext uri="{BB962C8B-B14F-4D97-AF65-F5344CB8AC3E}">
        <p14:creationId xmlns:p14="http://schemas.microsoft.com/office/powerpoint/2010/main" val="19071752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98590" y="988741"/>
            <a:ext cx="5888754" cy="4880518"/>
          </a:xfrm>
          <a:noFill/>
          <a:ln>
            <a:noFill/>
          </a:ln>
        </p:spPr>
        <p:txBody>
          <a:bodyPr wrap="square">
            <a:normAutofit/>
          </a:bodyPr>
          <a:lstStyle/>
          <a:p>
            <a:pPr algn="l"/>
            <a:r>
              <a:rPr lang="en-US" sz="4800" dirty="0">
                <a:solidFill>
                  <a:schemeClr val="tx1"/>
                </a:solidFill>
              </a:rPr>
              <a:t>Software Testing</a:t>
            </a:r>
          </a:p>
        </p:txBody>
      </p:sp>
      <p:sp>
        <p:nvSpPr>
          <p:cNvPr id="9" name="Rectangle 8">
            <a:extLst>
              <a:ext uri="{FF2B5EF4-FFF2-40B4-BE49-F238E27FC236}">
                <a16:creationId xmlns:a16="http://schemas.microsoft.com/office/drawing/2014/main" id="{6E5BD17F-C95C-40ED-8D04-03295D46F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8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11" name="Rectangle 10">
            <a:extLst>
              <a:ext uri="{FF2B5EF4-FFF2-40B4-BE49-F238E27FC236}">
                <a16:creationId xmlns:a16="http://schemas.microsoft.com/office/drawing/2014/main" id="{4203DEB5-0B19-4F8E-84E2-00F5861C9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type="subTitle" idx="1"/>
          </p:nvPr>
        </p:nvSpPr>
        <p:spPr>
          <a:xfrm>
            <a:off x="1867700" y="2007220"/>
            <a:ext cx="2357553" cy="2843560"/>
          </a:xfrm>
        </p:spPr>
        <p:txBody>
          <a:bodyPr anchor="ctr">
            <a:normAutofit/>
          </a:bodyPr>
          <a:lstStyle/>
          <a:p>
            <a:r>
              <a:rPr lang="en-US" sz="1800" dirty="0">
                <a:solidFill>
                  <a:srgbClr val="FFFFFF"/>
                </a:solidFill>
              </a:rPr>
              <a:t>QA Course - Batch </a:t>
            </a:r>
            <a:r>
              <a:rPr lang="en-US" sz="1800" dirty="0">
                <a:solidFill>
                  <a:srgbClr val="FFFFFF"/>
                </a:solidFill>
                <a:latin typeface="Copperplate" panose="02000504000000020004" pitchFamily="2" charset="77"/>
              </a:rPr>
              <a:t>1</a:t>
            </a:r>
            <a:endParaRPr sz="1800" dirty="0">
              <a:solidFill>
                <a:srgbClr val="FFFFFF"/>
              </a:solidFill>
              <a:latin typeface="Copperplate" panose="02000504000000020004" pitchFamily="2" charset="77"/>
            </a:endParaRPr>
          </a:p>
        </p:txBody>
      </p:sp>
      <p:sp>
        <p:nvSpPr>
          <p:cNvPr id="7" name="TextBox 6">
            <a:extLst>
              <a:ext uri="{FF2B5EF4-FFF2-40B4-BE49-F238E27FC236}">
                <a16:creationId xmlns:a16="http://schemas.microsoft.com/office/drawing/2014/main" id="{9592F4A6-11A1-FA12-7951-07C1EC5B7CA0}"/>
              </a:ext>
            </a:extLst>
          </p:cNvPr>
          <p:cNvSpPr txBox="1"/>
          <p:nvPr/>
        </p:nvSpPr>
        <p:spPr>
          <a:xfrm>
            <a:off x="9614111" y="6229525"/>
            <a:ext cx="2278466" cy="230832"/>
          </a:xfrm>
          <a:prstGeom prst="rect">
            <a:avLst/>
          </a:prstGeom>
          <a:noFill/>
        </p:spPr>
        <p:txBody>
          <a:bodyPr wrap="square">
            <a:spAutoFit/>
          </a:bodyPr>
          <a:lstStyle/>
          <a:p>
            <a:pPr algn="ctr"/>
            <a:r>
              <a:rPr lang="en-US" sz="900" dirty="0"/>
              <a:t>Prepared by Muhammad Shariq Naeem</a:t>
            </a:r>
          </a:p>
        </p:txBody>
      </p:sp>
    </p:spTree>
    <p:extLst>
      <p:ext uri="{BB962C8B-B14F-4D97-AF65-F5344CB8AC3E}">
        <p14:creationId xmlns:p14="http://schemas.microsoft.com/office/powerpoint/2010/main" val="3148181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Contents</a:t>
            </a:r>
          </a:p>
        </p:txBody>
      </p:sp>
      <p:graphicFrame>
        <p:nvGraphicFramePr>
          <p:cNvPr id="5" name="Table 4">
            <a:extLst>
              <a:ext uri="{FF2B5EF4-FFF2-40B4-BE49-F238E27FC236}">
                <a16:creationId xmlns:a16="http://schemas.microsoft.com/office/drawing/2014/main" id="{1ADEBAE9-EC53-9107-F879-310EF899C359}"/>
              </a:ext>
            </a:extLst>
          </p:cNvPr>
          <p:cNvGraphicFramePr>
            <a:graphicFrameLocks noGrp="1"/>
          </p:cNvGraphicFramePr>
          <p:nvPr>
            <p:extLst>
              <p:ext uri="{D42A27DB-BD31-4B8C-83A1-F6EECF244321}">
                <p14:modId xmlns:p14="http://schemas.microsoft.com/office/powerpoint/2010/main" val="4072810299"/>
              </p:ext>
            </p:extLst>
          </p:nvPr>
        </p:nvGraphicFramePr>
        <p:xfrm>
          <a:off x="4904509" y="273132"/>
          <a:ext cx="7065817" cy="6317680"/>
        </p:xfrm>
        <a:graphic>
          <a:graphicData uri="http://schemas.openxmlformats.org/drawingml/2006/table">
            <a:tbl>
              <a:tblPr firstRow="1" bandRow="1"/>
              <a:tblGrid>
                <a:gridCol w="369076">
                  <a:extLst>
                    <a:ext uri="{9D8B030D-6E8A-4147-A177-3AD203B41FA5}">
                      <a16:colId xmlns:a16="http://schemas.microsoft.com/office/drawing/2014/main" val="1642744895"/>
                    </a:ext>
                  </a:extLst>
                </a:gridCol>
                <a:gridCol w="2587857">
                  <a:extLst>
                    <a:ext uri="{9D8B030D-6E8A-4147-A177-3AD203B41FA5}">
                      <a16:colId xmlns:a16="http://schemas.microsoft.com/office/drawing/2014/main" val="104589694"/>
                    </a:ext>
                  </a:extLst>
                </a:gridCol>
                <a:gridCol w="4108884">
                  <a:extLst>
                    <a:ext uri="{9D8B030D-6E8A-4147-A177-3AD203B41FA5}">
                      <a16:colId xmlns:a16="http://schemas.microsoft.com/office/drawing/2014/main" val="3935022741"/>
                    </a:ext>
                  </a:extLst>
                </a:gridCol>
              </a:tblGrid>
              <a:tr h="230053">
                <a:tc>
                  <a:txBody>
                    <a:bodyPr/>
                    <a:lstStyle/>
                    <a:p>
                      <a:pPr algn="r" rtl="0" fontAlgn="ctr"/>
                      <a:r>
                        <a:rPr lang="en-US" sz="900" b="0" dirty="0">
                          <a:solidFill>
                            <a:srgbClr val="434343"/>
                          </a:solidFill>
                          <a:effectLst/>
                          <a:highlight>
                            <a:srgbClr val="FFFFFF"/>
                          </a:highlight>
                          <a:latin typeface="Roboto" panose="02000000000000000000" pitchFamily="2" charset="0"/>
                        </a:rPr>
                        <a:t>1</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1" dirty="0">
                          <a:solidFill>
                            <a:srgbClr val="434343"/>
                          </a:solidFill>
                          <a:effectLst/>
                          <a:highlight>
                            <a:srgbClr val="FFFFFF"/>
                          </a:highlight>
                          <a:latin typeface="Roboto" panose="02000000000000000000" pitchFamily="2" charset="0"/>
                        </a:rPr>
                        <a:t>Introduction to SQA</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What is SQA? </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284E3F"/>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495896105"/>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Importance of SQA</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884852316"/>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Role of SQA</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217292763"/>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Principles of Software Testing</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346525339"/>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Differences between QA vs. QC vs. Teste</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00844550"/>
                  </a:ext>
                </a:extLst>
              </a:tr>
              <a:tr h="179502">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445973249"/>
                  </a:ext>
                </a:extLst>
              </a:tr>
              <a:tr h="230053">
                <a:tc>
                  <a:txBody>
                    <a:bodyPr/>
                    <a:lstStyle/>
                    <a:p>
                      <a:pPr algn="r" rtl="0" fontAlgn="ctr"/>
                      <a:r>
                        <a:rPr lang="en-US" sz="900" b="0" dirty="0">
                          <a:solidFill>
                            <a:srgbClr val="434343"/>
                          </a:solidFill>
                          <a:effectLst/>
                          <a:highlight>
                            <a:srgbClr val="FFFFFF"/>
                          </a:highlight>
                          <a:latin typeface="Roboto" panose="02000000000000000000" pitchFamily="2" charset="0"/>
                        </a:rPr>
                        <a:t>2</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1" dirty="0">
                          <a:solidFill>
                            <a:srgbClr val="434343"/>
                          </a:solidFill>
                          <a:effectLst/>
                          <a:highlight>
                            <a:srgbClr val="FFFFFF"/>
                          </a:highlight>
                          <a:latin typeface="Roboto" panose="02000000000000000000" pitchFamily="2" charset="0"/>
                        </a:rPr>
                        <a:t>Software Development Lifecycle</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SDLC Phases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89216467"/>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SDLC Models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837901604"/>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STLC Phases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464899164"/>
                  </a:ext>
                </a:extLst>
              </a:tr>
              <a:tr h="179502">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694114095"/>
                  </a:ext>
                </a:extLst>
              </a:tr>
              <a:tr h="230053">
                <a:tc>
                  <a:txBody>
                    <a:bodyPr/>
                    <a:lstStyle/>
                    <a:p>
                      <a:pPr algn="r" rtl="0" fontAlgn="ctr"/>
                      <a:r>
                        <a:rPr lang="en-US" sz="900" b="0" dirty="0">
                          <a:solidFill>
                            <a:srgbClr val="434343"/>
                          </a:solidFill>
                          <a:effectLst/>
                          <a:highlight>
                            <a:srgbClr val="FFFFFF"/>
                          </a:highlight>
                          <a:latin typeface="Roboto" panose="02000000000000000000" pitchFamily="2" charset="0"/>
                        </a:rPr>
                        <a:t>3</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1" dirty="0">
                          <a:solidFill>
                            <a:srgbClr val="434343"/>
                          </a:solidFill>
                          <a:effectLst/>
                          <a:highlight>
                            <a:srgbClr val="FFFFFF"/>
                          </a:highlight>
                          <a:latin typeface="Roboto" panose="02000000000000000000" pitchFamily="2" charset="0"/>
                        </a:rPr>
                        <a:t>Types of Testing</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Functional and its sub types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67575332"/>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Non-Functional Testing and its sub types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836102239"/>
                  </a:ext>
                </a:extLst>
              </a:tr>
              <a:tr h="179502">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939339066"/>
                  </a:ext>
                </a:extLst>
              </a:tr>
              <a:tr h="230053">
                <a:tc>
                  <a:txBody>
                    <a:bodyPr/>
                    <a:lstStyle/>
                    <a:p>
                      <a:pPr algn="r" rtl="0" fontAlgn="ctr"/>
                      <a:r>
                        <a:rPr lang="en-US" sz="900" b="0" dirty="0">
                          <a:solidFill>
                            <a:srgbClr val="434343"/>
                          </a:solidFill>
                          <a:effectLst/>
                          <a:highlight>
                            <a:srgbClr val="F6F8F9"/>
                          </a:highlight>
                          <a:latin typeface="Roboto" panose="02000000000000000000" pitchFamily="2" charset="0"/>
                        </a:rPr>
                        <a:t>4</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1" dirty="0">
                          <a:solidFill>
                            <a:srgbClr val="434343"/>
                          </a:solidFill>
                          <a:effectLst/>
                          <a:highlight>
                            <a:srgbClr val="F6F8F9"/>
                          </a:highlight>
                          <a:latin typeface="Roboto" panose="02000000000000000000" pitchFamily="2" charset="0"/>
                        </a:rPr>
                        <a:t>Testing methods </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Black, White, Gray Testing</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84983387"/>
                  </a:ext>
                </a:extLst>
              </a:tr>
              <a:tr h="179502">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66880416"/>
                  </a:ext>
                </a:extLst>
              </a:tr>
              <a:tr h="230053">
                <a:tc>
                  <a:txBody>
                    <a:bodyPr/>
                    <a:lstStyle/>
                    <a:p>
                      <a:pPr algn="r" rtl="0" fontAlgn="ctr"/>
                      <a:r>
                        <a:rPr lang="en-US" sz="900" b="0" dirty="0">
                          <a:solidFill>
                            <a:srgbClr val="434343"/>
                          </a:solidFill>
                          <a:effectLst/>
                          <a:highlight>
                            <a:srgbClr val="F6F8F9"/>
                          </a:highlight>
                          <a:latin typeface="Roboto" panose="02000000000000000000" pitchFamily="2" charset="0"/>
                        </a:rPr>
                        <a:t>5</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1" dirty="0">
                          <a:solidFill>
                            <a:srgbClr val="434343"/>
                          </a:solidFill>
                          <a:effectLst/>
                          <a:highlight>
                            <a:srgbClr val="F6F8F9"/>
                          </a:highlight>
                          <a:latin typeface="Roboto" panose="02000000000000000000" pitchFamily="2" charset="0"/>
                        </a:rPr>
                        <a:t>Testing levels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Unit, Integration, System</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164491519"/>
                  </a:ext>
                </a:extLst>
              </a:tr>
              <a:tr h="179502">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03261865"/>
                  </a:ext>
                </a:extLst>
              </a:tr>
              <a:tr h="230053">
                <a:tc>
                  <a:txBody>
                    <a:bodyPr/>
                    <a:lstStyle/>
                    <a:p>
                      <a:pPr algn="r" rtl="0" fontAlgn="ctr"/>
                      <a:r>
                        <a:rPr lang="en-US" sz="900" b="0" dirty="0">
                          <a:solidFill>
                            <a:srgbClr val="434343"/>
                          </a:solidFill>
                          <a:effectLst/>
                          <a:highlight>
                            <a:srgbClr val="F6F8F9"/>
                          </a:highlight>
                          <a:latin typeface="Roboto" panose="02000000000000000000" pitchFamily="2" charset="0"/>
                        </a:rPr>
                        <a:t>6</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1" dirty="0">
                          <a:solidFill>
                            <a:srgbClr val="434343"/>
                          </a:solidFill>
                          <a:effectLst/>
                          <a:highlight>
                            <a:srgbClr val="F6F8F9"/>
                          </a:highlight>
                          <a:latin typeface="Roboto" panose="02000000000000000000" pitchFamily="2" charset="0"/>
                        </a:rPr>
                        <a:t>Test design, techniques, Execution</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Writing Test Cases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2843475965"/>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Test Case Design Techniques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638482378"/>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Test Execution Process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2027635133"/>
                  </a:ext>
                </a:extLst>
              </a:tr>
              <a:tr h="179502">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459252539"/>
                  </a:ext>
                </a:extLst>
              </a:tr>
              <a:tr h="230053">
                <a:tc>
                  <a:txBody>
                    <a:bodyPr/>
                    <a:lstStyle/>
                    <a:p>
                      <a:pPr algn="r" rtl="0" fontAlgn="ctr"/>
                      <a:r>
                        <a:rPr lang="en-US" sz="900" b="0" dirty="0">
                          <a:solidFill>
                            <a:srgbClr val="434343"/>
                          </a:solidFill>
                          <a:effectLst/>
                          <a:highlight>
                            <a:srgbClr val="F6F8F9"/>
                          </a:highlight>
                          <a:latin typeface="Roboto" panose="02000000000000000000" pitchFamily="2" charset="0"/>
                        </a:rPr>
                        <a:t>7</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1" dirty="0">
                          <a:solidFill>
                            <a:srgbClr val="434343"/>
                          </a:solidFill>
                          <a:effectLst/>
                          <a:highlight>
                            <a:srgbClr val="F6F8F9"/>
                          </a:highlight>
                          <a:latin typeface="Roboto" panose="02000000000000000000" pitchFamily="2" charset="0"/>
                        </a:rPr>
                        <a:t>Defect Management / Bug Life Cycle</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Stages of a defect (new, assigned, fixed, closed, etc.)</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2210507359"/>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Severity and priority of defects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295791037"/>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Tools for Defect Management</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3858498781"/>
                  </a:ext>
                </a:extLst>
              </a:tr>
              <a:tr h="179502">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75511331"/>
                  </a:ext>
                </a:extLst>
              </a:tr>
              <a:tr h="230053">
                <a:tc>
                  <a:txBody>
                    <a:bodyPr/>
                    <a:lstStyle/>
                    <a:p>
                      <a:pPr algn="r" rtl="0" fontAlgn="ctr"/>
                      <a:r>
                        <a:rPr lang="en-US" sz="900" b="0" dirty="0">
                          <a:solidFill>
                            <a:srgbClr val="434343"/>
                          </a:solidFill>
                          <a:effectLst/>
                          <a:highlight>
                            <a:srgbClr val="F6F8F9"/>
                          </a:highlight>
                          <a:latin typeface="Roboto" panose="02000000000000000000" pitchFamily="2" charset="0"/>
                        </a:rPr>
                        <a:t>8</a:t>
                      </a: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1" dirty="0">
                          <a:solidFill>
                            <a:srgbClr val="434343"/>
                          </a:solidFill>
                          <a:effectLst/>
                          <a:highlight>
                            <a:srgbClr val="F6F8F9"/>
                          </a:highlight>
                          <a:latin typeface="Roboto" panose="02000000000000000000" pitchFamily="2" charset="0"/>
                        </a:rPr>
                        <a:t>Career Guidance in SQA</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Demo interviews for SQA position</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756501061"/>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SQA Career Paths</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792209051"/>
                  </a:ext>
                </a:extLst>
              </a:tr>
              <a:tr h="230053">
                <a:tc>
                  <a:txBody>
                    <a:bodyPr/>
                    <a:lstStyle/>
                    <a:p>
                      <a:pPr rtl="0" fontAlgn="ctr"/>
                      <a:endParaRPr lang="en-US" sz="900" dirty="0">
                        <a:effectLst/>
                        <a:highlight>
                          <a:srgbClr val="F6F8F9"/>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endParaRPr lang="en-US" sz="900" dirty="0">
                        <a:effectLst/>
                        <a:highlight>
                          <a:srgbClr val="F6F8F9"/>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tc>
                  <a:txBody>
                    <a:bodyPr/>
                    <a:lstStyle/>
                    <a:p>
                      <a:pPr rtl="0" fontAlgn="ctr"/>
                      <a:r>
                        <a:rPr lang="en-US" sz="900" b="0" dirty="0">
                          <a:solidFill>
                            <a:srgbClr val="434343"/>
                          </a:solidFill>
                          <a:effectLst/>
                          <a:highlight>
                            <a:srgbClr val="F6F8F9"/>
                          </a:highlight>
                          <a:latin typeface="Roboto" panose="02000000000000000000" pitchFamily="2" charset="0"/>
                        </a:rPr>
                        <a:t>Building a QA Portfolio</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6F8F9"/>
                    </a:solidFill>
                  </a:tcPr>
                </a:tc>
                <a:extLst>
                  <a:ext uri="{0D108BD9-81ED-4DB2-BD59-A6C34878D82A}">
                    <a16:rowId xmlns:a16="http://schemas.microsoft.com/office/drawing/2014/main" val="578440213"/>
                  </a:ext>
                </a:extLst>
              </a:tr>
              <a:tr h="230053">
                <a:tc>
                  <a:txBody>
                    <a:bodyPr/>
                    <a:lstStyle/>
                    <a:p>
                      <a:pPr rtl="0" fontAlgn="ctr"/>
                      <a:endParaRPr lang="en-US" sz="900" dirty="0">
                        <a:effectLst/>
                        <a:highlight>
                          <a:srgbClr val="FFFFFF"/>
                        </a:highlight>
                      </a:endParaRPr>
                    </a:p>
                  </a:txBody>
                  <a:tcPr marL="19847" marR="19847" marT="4961" marB="4961" anchor="ctr">
                    <a:lnL w="9525" cap="flat" cmpd="sng" algn="ctr">
                      <a:solidFill>
                        <a:srgbClr val="284E3F"/>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FFFFF"/>
                    </a:solidFill>
                  </a:tcPr>
                </a:tc>
                <a:tc>
                  <a:txBody>
                    <a:bodyPr/>
                    <a:lstStyle/>
                    <a:p>
                      <a:pPr rtl="0" fontAlgn="ctr"/>
                      <a:endParaRPr lang="en-US" sz="900" dirty="0">
                        <a:effectLst/>
                        <a:highlight>
                          <a:srgbClr val="FFFFFF"/>
                        </a:highlight>
                      </a:endParaRP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FFFFF"/>
                    </a:solidFill>
                  </a:tcPr>
                </a:tc>
                <a:tc>
                  <a:txBody>
                    <a:bodyPr/>
                    <a:lstStyle/>
                    <a:p>
                      <a:pPr rtl="0" fontAlgn="ctr"/>
                      <a:r>
                        <a:rPr lang="en-US" sz="900" b="0" dirty="0">
                          <a:solidFill>
                            <a:srgbClr val="434343"/>
                          </a:solidFill>
                          <a:effectLst/>
                          <a:highlight>
                            <a:srgbClr val="FFFFFF"/>
                          </a:highlight>
                          <a:latin typeface="Roboto" panose="02000000000000000000" pitchFamily="2" charset="0"/>
                        </a:rPr>
                        <a:t>Certifications in QA</a:t>
                      </a:r>
                    </a:p>
                  </a:txBody>
                  <a:tcPr marL="19847" marR="19847" marT="4961" marB="4961" anchor="ctr">
                    <a:lnL w="9525" cap="flat" cmpd="sng" algn="ctr">
                      <a:solidFill>
                        <a:srgbClr val="CCCCCC"/>
                      </a:solidFill>
                      <a:prstDash val="solid"/>
                      <a:round/>
                      <a:headEnd type="none" w="med" len="med"/>
                      <a:tailEnd type="none" w="med" len="med"/>
                    </a:lnL>
                    <a:lnR w="9525" cap="flat" cmpd="sng" algn="ctr">
                      <a:solidFill>
                        <a:srgbClr val="284E3F"/>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284E3F"/>
                      </a:solidFill>
                      <a:prstDash val="solid"/>
                      <a:round/>
                      <a:headEnd type="none" w="med" len="med"/>
                      <a:tailEnd type="none" w="med" len="med"/>
                    </a:lnB>
                    <a:solidFill>
                      <a:srgbClr val="FFFFFF"/>
                    </a:solidFill>
                  </a:tcPr>
                </a:tc>
                <a:extLst>
                  <a:ext uri="{0D108BD9-81ED-4DB2-BD59-A6C34878D82A}">
                    <a16:rowId xmlns:a16="http://schemas.microsoft.com/office/drawing/2014/main" val="1406294543"/>
                  </a:ext>
                </a:extLst>
              </a:tr>
            </a:tbl>
          </a:graphicData>
        </a:graphic>
      </p:graphicFrame>
    </p:spTree>
    <p:extLst>
      <p:ext uri="{BB962C8B-B14F-4D97-AF65-F5344CB8AC3E}">
        <p14:creationId xmlns:p14="http://schemas.microsoft.com/office/powerpoint/2010/main" val="907842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231136" y="467418"/>
            <a:ext cx="7729728" cy="1188720"/>
          </a:xfrm>
          <a:solidFill>
            <a:srgbClr val="FFFFFF"/>
          </a:solidFill>
        </p:spPr>
        <p:txBody>
          <a:bodyPr>
            <a:normAutofit/>
          </a:bodyPr>
          <a:lstStyle/>
          <a:p>
            <a:pPr rtl="0" fontAlgn="ctr"/>
            <a:r>
              <a:rPr lang="en-US" b="0" i="0" u="none" strike="noStrike" dirty="0">
                <a:solidFill>
                  <a:srgbClr val="434343"/>
                </a:solidFill>
                <a:effectLst/>
                <a:highlight>
                  <a:srgbClr val="FFFFFF"/>
                </a:highlight>
                <a:latin typeface="docs-Roboto"/>
              </a:rPr>
              <a:t>Introduction to SQA</a:t>
            </a:r>
            <a:endParaRPr lang="en-US" dirty="0"/>
          </a:p>
        </p:txBody>
      </p:sp>
      <p:sp>
        <p:nvSpPr>
          <p:cNvPr id="3" name="Content Placeholder 2"/>
          <p:cNvSpPr>
            <a:spLocks noGrp="1"/>
          </p:cNvSpPr>
          <p:nvPr>
            <p:ph idx="1"/>
          </p:nvPr>
        </p:nvSpPr>
        <p:spPr>
          <a:xfrm>
            <a:off x="1706062" y="2291262"/>
            <a:ext cx="8779512" cy="2879256"/>
          </a:xfrm>
        </p:spPr>
        <p:txBody>
          <a:bodyPr>
            <a:normAutofit/>
          </a:bodyPr>
          <a:lstStyle/>
          <a:p>
            <a:pPr algn="l" rtl="0" fontAlgn="ctr"/>
            <a:r>
              <a:rPr lang="en-US" b="1" i="0" u="none" strike="noStrike" dirty="0">
                <a:solidFill>
                  <a:srgbClr val="434343"/>
                </a:solidFill>
                <a:effectLst/>
                <a:highlight>
                  <a:srgbClr val="FFFFFF"/>
                </a:highlight>
                <a:latin typeface="docs-Roboto"/>
              </a:rPr>
              <a:t>What is SQA? </a:t>
            </a:r>
            <a:endParaRPr lang="en-US" b="1" u="none" strike="noStrike" dirty="0">
              <a:solidFill>
                <a:srgbClr val="434343"/>
              </a:solidFill>
              <a:highlight>
                <a:srgbClr val="FFFFFF"/>
              </a:highlight>
              <a:latin typeface="docs-Roboto"/>
            </a:endParaRPr>
          </a:p>
          <a:p>
            <a:pPr marL="0" indent="0" algn="l" rtl="0" fontAlgn="ctr">
              <a:buNone/>
            </a:pPr>
            <a:br>
              <a:rPr lang="en-US" b="0" i="0" dirty="0">
                <a:solidFill>
                  <a:srgbClr val="434343"/>
                </a:solidFill>
                <a:effectLst/>
                <a:highlight>
                  <a:srgbClr val="FFFFFF"/>
                </a:highlight>
                <a:latin typeface="docs-Roboto"/>
              </a:rPr>
            </a:br>
            <a:r>
              <a:rPr lang="en-US" b="0" i="0" dirty="0">
                <a:solidFill>
                  <a:srgbClr val="434343"/>
                </a:solidFill>
                <a:effectLst/>
                <a:highlight>
                  <a:srgbClr val="FFFFFF"/>
                </a:highlight>
                <a:latin typeface="docs-Roboto"/>
              </a:rPr>
              <a:t>Software Quality Assurance (SQA) is the practice of monitoring all software engineering processes, activities, and methods used in a project to ensure proper quality of the software and conformance against the defined standards.</a:t>
            </a:r>
          </a:p>
          <a:p>
            <a:pPr marL="0" indent="0" algn="l" rtl="0" fontAlgn="ctr">
              <a:buNone/>
            </a:pPr>
            <a:r>
              <a:rPr lang="en-US" dirty="0">
                <a:solidFill>
                  <a:srgbClr val="434343"/>
                </a:solidFill>
                <a:highlight>
                  <a:srgbClr val="FFFFFF"/>
                </a:highlight>
                <a:latin typeface="docs-Roboto"/>
              </a:rPr>
              <a:t>Software quality assurance ensures that the software meets the specified quality standards and requirements. This results in software that is more reliable, efficient, and user-friendly</a:t>
            </a:r>
          </a:p>
        </p:txBody>
      </p:sp>
    </p:spTree>
    <p:extLst>
      <p:ext uri="{BB962C8B-B14F-4D97-AF65-F5344CB8AC3E}">
        <p14:creationId xmlns:p14="http://schemas.microsoft.com/office/powerpoint/2010/main" val="154341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AFE171-A6A9-10B7-ED75-27EF0244B10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6FEF78D-6129-D622-5190-C30E5E3A6E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C5A0E03-7D11-0DA3-443E-371118D09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71B2A59-E09C-CF0C-5E2A-9C121A16C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0FA3D4-1548-2FB5-FEE7-7D66CFD72E1D}"/>
              </a:ext>
            </a:extLst>
          </p:cNvPr>
          <p:cNvSpPr>
            <a:spLocks noGrp="1"/>
          </p:cNvSpPr>
          <p:nvPr>
            <p:ph type="title"/>
          </p:nvPr>
        </p:nvSpPr>
        <p:spPr>
          <a:xfrm>
            <a:off x="2231136" y="467418"/>
            <a:ext cx="7729728" cy="1188720"/>
          </a:xfrm>
          <a:solidFill>
            <a:srgbClr val="FFFFFF"/>
          </a:solidFill>
        </p:spPr>
        <p:txBody>
          <a:bodyPr>
            <a:normAutofit/>
          </a:bodyPr>
          <a:lstStyle/>
          <a:p>
            <a:pPr rtl="0" fontAlgn="ctr"/>
            <a:r>
              <a:rPr lang="en-US" b="0" i="0" u="none" strike="noStrike" dirty="0">
                <a:solidFill>
                  <a:srgbClr val="434343"/>
                </a:solidFill>
                <a:effectLst/>
                <a:highlight>
                  <a:srgbClr val="FFFFFF"/>
                </a:highlight>
                <a:latin typeface="docs-Roboto"/>
              </a:rPr>
              <a:t>Introduction to SQA</a:t>
            </a:r>
            <a:endParaRPr lang="en-US" dirty="0"/>
          </a:p>
        </p:txBody>
      </p:sp>
      <p:sp>
        <p:nvSpPr>
          <p:cNvPr id="3" name="Content Placeholder 2">
            <a:extLst>
              <a:ext uri="{FF2B5EF4-FFF2-40B4-BE49-F238E27FC236}">
                <a16:creationId xmlns:a16="http://schemas.microsoft.com/office/drawing/2014/main" id="{677E1149-D6C5-DF6C-4AD2-23F1755B8D97}"/>
              </a:ext>
            </a:extLst>
          </p:cNvPr>
          <p:cNvSpPr>
            <a:spLocks noGrp="1"/>
          </p:cNvSpPr>
          <p:nvPr>
            <p:ph idx="1"/>
          </p:nvPr>
        </p:nvSpPr>
        <p:spPr>
          <a:xfrm>
            <a:off x="1706062" y="2291262"/>
            <a:ext cx="8779512" cy="2879256"/>
          </a:xfrm>
        </p:spPr>
        <p:txBody>
          <a:bodyPr>
            <a:normAutofit fontScale="70000" lnSpcReduction="20000"/>
          </a:bodyPr>
          <a:lstStyle/>
          <a:p>
            <a:pPr algn="l" rtl="0" fontAlgn="ctr"/>
            <a:r>
              <a:rPr lang="en-US" b="1" i="0" u="none" strike="noStrike" dirty="0">
                <a:solidFill>
                  <a:srgbClr val="434343"/>
                </a:solidFill>
                <a:effectLst/>
                <a:highlight>
                  <a:srgbClr val="F6F8F9"/>
                </a:highlight>
                <a:latin typeface="docs-Roboto"/>
              </a:rPr>
              <a:t>Importance of SQA</a:t>
            </a:r>
            <a:r>
              <a:rPr lang="en-US" b="1" i="0" u="none" strike="noStrike" dirty="0">
                <a:solidFill>
                  <a:srgbClr val="434343"/>
                </a:solidFill>
                <a:effectLst/>
                <a:highlight>
                  <a:srgbClr val="FFFFFF"/>
                </a:highlight>
                <a:latin typeface="docs-Roboto"/>
              </a:rPr>
              <a:t> </a:t>
            </a:r>
            <a:endParaRPr lang="en-US" b="1" u="none" strike="noStrike" dirty="0">
              <a:solidFill>
                <a:srgbClr val="434343"/>
              </a:solidFill>
              <a:highlight>
                <a:srgbClr val="FFFFFF"/>
              </a:highlight>
              <a:latin typeface="docs-Roboto"/>
            </a:endParaRPr>
          </a:p>
          <a:p>
            <a:pPr marL="228600" lvl="1" indent="0" fontAlgn="ctr">
              <a:buNone/>
            </a:pPr>
            <a:r>
              <a:rPr lang="en-US" b="0" i="0" dirty="0">
                <a:solidFill>
                  <a:srgbClr val="434343"/>
                </a:solidFill>
                <a:effectLst/>
                <a:highlight>
                  <a:srgbClr val="FFFFFF"/>
                </a:highlight>
                <a:latin typeface="docs-Roboto"/>
              </a:rPr>
              <a:t>It assures that your software product meets quality standards. Since SQA is one of the pillars of successful SDLC, it involves continuous improvement &amp; monitoring so that it can detect and prevent bugs and errors on time. Having a product passed through software QA means the application is ready for public use.</a:t>
            </a:r>
          </a:p>
          <a:p>
            <a:pPr lvl="1"/>
            <a:r>
              <a:rPr lang="en-US" b="0" i="0" dirty="0">
                <a:solidFill>
                  <a:srgbClr val="222222"/>
                </a:solidFill>
                <a:effectLst/>
                <a:highlight>
                  <a:srgbClr val="FFFFFF"/>
                </a:highlight>
                <a:latin typeface="Source Sans Pro" panose="020F0502020204030204" pitchFamily="34" charset="0"/>
              </a:rPr>
              <a:t>In April 2015, Bloomberg terminal in London crashed due to software glitch affected more than 300,000 traders on financial markets. It forced the government to postpone a 3bn pound debt sale.</a:t>
            </a:r>
          </a:p>
          <a:p>
            <a:pPr lvl="1"/>
            <a:r>
              <a:rPr lang="en-US" b="0" i="0" dirty="0">
                <a:solidFill>
                  <a:srgbClr val="222222"/>
                </a:solidFill>
                <a:effectLst/>
                <a:highlight>
                  <a:srgbClr val="FFFFFF"/>
                </a:highlight>
                <a:latin typeface="Source Sans Pro" panose="020F0502020204030204" pitchFamily="34" charset="0"/>
              </a:rPr>
              <a:t>Nissan cars recalled over 1 million cars from the market due to software failure in the airbag sensory detectors. There has been reported two accident due to this software failure.</a:t>
            </a:r>
          </a:p>
          <a:p>
            <a:pPr lvl="1"/>
            <a:r>
              <a:rPr lang="en-US" b="0" i="0" dirty="0">
                <a:solidFill>
                  <a:srgbClr val="222222"/>
                </a:solidFill>
                <a:effectLst/>
                <a:highlight>
                  <a:srgbClr val="FFFFFF"/>
                </a:highlight>
                <a:latin typeface="Source Sans Pro" panose="020F0502020204030204" pitchFamily="34" charset="0"/>
              </a:rPr>
              <a:t>Starbucks was forced to close about 60 percent of stores in the U.S and Canada due to software failure in its POS system. At one point, the store served coffee for free as they were unable to process the transaction.</a:t>
            </a:r>
          </a:p>
          <a:p>
            <a:pPr lvl="1"/>
            <a:r>
              <a:rPr lang="en-US" b="0" i="0" dirty="0">
                <a:solidFill>
                  <a:srgbClr val="222222"/>
                </a:solidFill>
                <a:effectLst/>
                <a:highlight>
                  <a:srgbClr val="FFFFFF"/>
                </a:highlight>
                <a:latin typeface="Source Sans Pro" panose="020B0503030403020204" pitchFamily="34" charset="0"/>
              </a:rPr>
              <a:t>China Airlines Airbus A300 crashed due to a software bug on April 26, 1994, killing 264 innocents live.</a:t>
            </a:r>
          </a:p>
          <a:p>
            <a:pPr lvl="1"/>
            <a:r>
              <a:rPr lang="en-US" b="0" i="0" dirty="0">
                <a:solidFill>
                  <a:srgbClr val="222222"/>
                </a:solidFill>
                <a:effectLst/>
                <a:highlight>
                  <a:srgbClr val="FFFFFF"/>
                </a:highlight>
                <a:latin typeface="Source Sans Pro" panose="020B0503030403020204" pitchFamily="34" charset="0"/>
              </a:rPr>
              <a:t>In April of 1999, a software bug caused the failure of a $1.2 billion military satellite launch, the costliest accident in history</a:t>
            </a:r>
          </a:p>
          <a:p>
            <a:pPr lvl="1"/>
            <a:r>
              <a:rPr lang="en-US" b="0" i="0" dirty="0">
                <a:solidFill>
                  <a:srgbClr val="222222"/>
                </a:solidFill>
                <a:effectLst/>
                <a:highlight>
                  <a:srgbClr val="FFFFFF"/>
                </a:highlight>
                <a:latin typeface="Source Sans Pro" panose="020B0503030403020204" pitchFamily="34" charset="0"/>
              </a:rPr>
              <a:t>In May of 1996, a software bug caused the bank accounts of 823 customers of a major U.S. bank to be credited with 920 million US dollars.</a:t>
            </a:r>
          </a:p>
          <a:p>
            <a:pPr lvl="1"/>
            <a:endParaRPr lang="en-US" b="0" i="0" dirty="0">
              <a:solidFill>
                <a:srgbClr val="222222"/>
              </a:solidFill>
              <a:effectLst/>
              <a:highlight>
                <a:srgbClr val="FFFFFF"/>
              </a:highlight>
              <a:latin typeface="Source Sans Pro" panose="020B0503030403020204" pitchFamily="34" charset="0"/>
            </a:endParaRPr>
          </a:p>
          <a:p>
            <a:pPr marL="0" indent="0" algn="l" rtl="0" fontAlgn="ctr">
              <a:buNone/>
            </a:pPr>
            <a:endParaRPr lang="en-US" b="0" i="0" dirty="0">
              <a:solidFill>
                <a:srgbClr val="434343"/>
              </a:solidFill>
              <a:effectLst/>
              <a:highlight>
                <a:srgbClr val="FFFFFF"/>
              </a:highlight>
              <a:latin typeface="docs-Roboto"/>
            </a:endParaRPr>
          </a:p>
        </p:txBody>
      </p:sp>
    </p:spTree>
    <p:extLst>
      <p:ext uri="{BB962C8B-B14F-4D97-AF65-F5344CB8AC3E}">
        <p14:creationId xmlns:p14="http://schemas.microsoft.com/office/powerpoint/2010/main" val="2179968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79498C-FEC6-746B-1BFF-943578AD059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6935C6-E466-411D-6CE1-B89939B22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ACB9350-F80F-6B19-5489-394A5AB54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DD2E24B-7776-6E6D-EDF3-77F63F9389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5E297A-A163-3D4D-0483-02C876D05296}"/>
              </a:ext>
            </a:extLst>
          </p:cNvPr>
          <p:cNvSpPr>
            <a:spLocks noGrp="1"/>
          </p:cNvSpPr>
          <p:nvPr>
            <p:ph type="title"/>
          </p:nvPr>
        </p:nvSpPr>
        <p:spPr>
          <a:xfrm>
            <a:off x="2231136" y="467418"/>
            <a:ext cx="7729728" cy="1188720"/>
          </a:xfrm>
          <a:solidFill>
            <a:srgbClr val="FFFFFF"/>
          </a:solidFill>
        </p:spPr>
        <p:txBody>
          <a:bodyPr>
            <a:normAutofit/>
          </a:bodyPr>
          <a:lstStyle/>
          <a:p>
            <a:pPr rtl="0" fontAlgn="ctr"/>
            <a:r>
              <a:rPr lang="en-US" b="0" i="0" u="none" strike="noStrike" dirty="0">
                <a:solidFill>
                  <a:srgbClr val="434343"/>
                </a:solidFill>
                <a:effectLst/>
                <a:highlight>
                  <a:srgbClr val="FFFFFF"/>
                </a:highlight>
                <a:latin typeface="docs-Roboto"/>
              </a:rPr>
              <a:t>Introduction to SQA</a:t>
            </a:r>
            <a:endParaRPr lang="en-US" dirty="0"/>
          </a:p>
        </p:txBody>
      </p:sp>
      <p:sp>
        <p:nvSpPr>
          <p:cNvPr id="3" name="Content Placeholder 2">
            <a:extLst>
              <a:ext uri="{FF2B5EF4-FFF2-40B4-BE49-F238E27FC236}">
                <a16:creationId xmlns:a16="http://schemas.microsoft.com/office/drawing/2014/main" id="{B0F1AE63-1D01-A564-D3AF-C7E75F13DC2A}"/>
              </a:ext>
            </a:extLst>
          </p:cNvPr>
          <p:cNvSpPr>
            <a:spLocks noGrp="1"/>
          </p:cNvSpPr>
          <p:nvPr>
            <p:ph idx="1"/>
          </p:nvPr>
        </p:nvSpPr>
        <p:spPr>
          <a:xfrm>
            <a:off x="1706062" y="2291262"/>
            <a:ext cx="8779512" cy="2879256"/>
          </a:xfrm>
        </p:spPr>
        <p:txBody>
          <a:bodyPr>
            <a:normAutofit/>
          </a:bodyPr>
          <a:lstStyle/>
          <a:p>
            <a:pPr algn="l" rtl="0" fontAlgn="ctr"/>
            <a:r>
              <a:rPr lang="en-US" sz="1800" i="0" dirty="0">
                <a:solidFill>
                  <a:srgbClr val="434343"/>
                </a:solidFill>
                <a:effectLst/>
                <a:latin typeface="Roboto" panose="02000000000000000000" pitchFamily="2" charset="0"/>
              </a:rPr>
              <a:t>Role of SQA</a:t>
            </a:r>
            <a:endParaRPr lang="en-US" sz="1800" i="0" dirty="0">
              <a:solidFill>
                <a:srgbClr val="434343"/>
              </a:solidFill>
              <a:effectLst/>
              <a:highlight>
                <a:srgbClr val="FFFFFF"/>
              </a:highlight>
              <a:latin typeface="Roboto" panose="02000000000000000000" pitchFamily="2" charset="0"/>
            </a:endParaRPr>
          </a:p>
          <a:p>
            <a:pPr marL="0" indent="0" algn="l" rtl="0" fontAlgn="ctr">
              <a:buNone/>
            </a:pPr>
            <a:endParaRPr lang="en-US" dirty="0">
              <a:solidFill>
                <a:srgbClr val="434343"/>
              </a:solidFill>
              <a:highlight>
                <a:srgbClr val="FFFFFF"/>
              </a:highlight>
              <a:latin typeface="Roboto" panose="02000000000000000000" pitchFamily="2" charset="0"/>
            </a:endParaRPr>
          </a:p>
        </p:txBody>
      </p:sp>
      <p:graphicFrame>
        <p:nvGraphicFramePr>
          <p:cNvPr id="6" name="Table 5">
            <a:extLst>
              <a:ext uri="{FF2B5EF4-FFF2-40B4-BE49-F238E27FC236}">
                <a16:creationId xmlns:a16="http://schemas.microsoft.com/office/drawing/2014/main" id="{BCDFBC54-AA2B-507A-9C93-39037FC773D8}"/>
              </a:ext>
            </a:extLst>
          </p:cNvPr>
          <p:cNvGraphicFramePr>
            <a:graphicFrameLocks noGrp="1"/>
          </p:cNvGraphicFramePr>
          <p:nvPr>
            <p:extLst>
              <p:ext uri="{D42A27DB-BD31-4B8C-83A1-F6EECF244321}">
                <p14:modId xmlns:p14="http://schemas.microsoft.com/office/powerpoint/2010/main" val="2381244540"/>
              </p:ext>
            </p:extLst>
          </p:nvPr>
        </p:nvGraphicFramePr>
        <p:xfrm>
          <a:off x="1877960" y="2638425"/>
          <a:ext cx="8607616" cy="2532093"/>
        </p:xfrm>
        <a:graphic>
          <a:graphicData uri="http://schemas.openxmlformats.org/drawingml/2006/table">
            <a:tbl>
              <a:tblPr/>
              <a:tblGrid>
                <a:gridCol w="2151904">
                  <a:extLst>
                    <a:ext uri="{9D8B030D-6E8A-4147-A177-3AD203B41FA5}">
                      <a16:colId xmlns:a16="http://schemas.microsoft.com/office/drawing/2014/main" val="1221337351"/>
                    </a:ext>
                  </a:extLst>
                </a:gridCol>
                <a:gridCol w="2151904">
                  <a:extLst>
                    <a:ext uri="{9D8B030D-6E8A-4147-A177-3AD203B41FA5}">
                      <a16:colId xmlns:a16="http://schemas.microsoft.com/office/drawing/2014/main" val="3876053675"/>
                    </a:ext>
                  </a:extLst>
                </a:gridCol>
                <a:gridCol w="2151904">
                  <a:extLst>
                    <a:ext uri="{9D8B030D-6E8A-4147-A177-3AD203B41FA5}">
                      <a16:colId xmlns:a16="http://schemas.microsoft.com/office/drawing/2014/main" val="2006539943"/>
                    </a:ext>
                  </a:extLst>
                </a:gridCol>
                <a:gridCol w="2151904">
                  <a:extLst>
                    <a:ext uri="{9D8B030D-6E8A-4147-A177-3AD203B41FA5}">
                      <a16:colId xmlns:a16="http://schemas.microsoft.com/office/drawing/2014/main" val="1355255752"/>
                    </a:ext>
                  </a:extLst>
                </a:gridCol>
              </a:tblGrid>
              <a:tr h="264546">
                <a:tc>
                  <a:txBody>
                    <a:bodyPr/>
                    <a:lstStyle/>
                    <a:p>
                      <a:r>
                        <a:rPr lang="en-US" sz="1000" b="1" dirty="0"/>
                        <a:t>Aspect</a:t>
                      </a:r>
                      <a:endParaRPr lang="en-US" sz="1000" dirty="0"/>
                    </a:p>
                  </a:txBody>
                  <a:tcPr marL="26288" marR="26288" marT="13144" marB="13144" anchor="ctr">
                    <a:lnL>
                      <a:noFill/>
                    </a:lnL>
                    <a:lnR>
                      <a:noFill/>
                    </a:lnR>
                    <a:lnT>
                      <a:noFill/>
                    </a:lnT>
                    <a:lnB>
                      <a:noFill/>
                    </a:lnB>
                    <a:noFill/>
                  </a:tcPr>
                </a:tc>
                <a:tc>
                  <a:txBody>
                    <a:bodyPr/>
                    <a:lstStyle/>
                    <a:p>
                      <a:r>
                        <a:rPr lang="en-US" sz="1000" b="1" dirty="0"/>
                        <a:t>Quality Assurance (QA)</a:t>
                      </a:r>
                      <a:endParaRPr lang="en-US" sz="1000" dirty="0"/>
                    </a:p>
                  </a:txBody>
                  <a:tcPr marL="26288" marR="26288" marT="13144" marB="13144" anchor="ctr">
                    <a:lnL>
                      <a:noFill/>
                    </a:lnL>
                    <a:lnR>
                      <a:noFill/>
                    </a:lnR>
                    <a:lnT>
                      <a:noFill/>
                    </a:lnT>
                    <a:lnB>
                      <a:noFill/>
                    </a:lnB>
                    <a:noFill/>
                  </a:tcPr>
                </a:tc>
                <a:tc>
                  <a:txBody>
                    <a:bodyPr/>
                    <a:lstStyle/>
                    <a:p>
                      <a:r>
                        <a:rPr lang="en-US" sz="1000" b="1" dirty="0"/>
                        <a:t>Quality Control (QC)</a:t>
                      </a:r>
                      <a:endParaRPr lang="en-US" sz="1000" dirty="0"/>
                    </a:p>
                  </a:txBody>
                  <a:tcPr marL="26288" marR="26288" marT="13144" marB="13144" anchor="ctr">
                    <a:lnL>
                      <a:noFill/>
                    </a:lnL>
                    <a:lnR>
                      <a:noFill/>
                    </a:lnR>
                    <a:lnT>
                      <a:noFill/>
                    </a:lnT>
                    <a:lnB>
                      <a:noFill/>
                    </a:lnB>
                    <a:noFill/>
                  </a:tcPr>
                </a:tc>
                <a:tc>
                  <a:txBody>
                    <a:bodyPr/>
                    <a:lstStyle/>
                    <a:p>
                      <a:r>
                        <a:rPr lang="en-US" sz="1000" b="1" dirty="0"/>
                        <a:t>Testing</a:t>
                      </a:r>
                      <a:endParaRPr lang="en-US" sz="1000" dirty="0"/>
                    </a:p>
                  </a:txBody>
                  <a:tcPr marL="26288" marR="26288" marT="13144" marB="13144" anchor="ctr">
                    <a:lnL>
                      <a:noFill/>
                    </a:lnL>
                    <a:lnR>
                      <a:noFill/>
                    </a:lnR>
                    <a:lnT>
                      <a:noFill/>
                    </a:lnT>
                    <a:lnB>
                      <a:noFill/>
                    </a:lnB>
                    <a:noFill/>
                  </a:tcPr>
                </a:tc>
                <a:extLst>
                  <a:ext uri="{0D108BD9-81ED-4DB2-BD59-A6C34878D82A}">
                    <a16:rowId xmlns:a16="http://schemas.microsoft.com/office/drawing/2014/main" val="1836797431"/>
                  </a:ext>
                </a:extLst>
              </a:tr>
              <a:tr h="831433">
                <a:tc>
                  <a:txBody>
                    <a:bodyPr/>
                    <a:lstStyle/>
                    <a:p>
                      <a:r>
                        <a:rPr lang="en-US" sz="1000" b="1" dirty="0"/>
                        <a:t>Definition</a:t>
                      </a:r>
                      <a:endParaRPr lang="en-US" sz="1000" dirty="0"/>
                    </a:p>
                  </a:txBody>
                  <a:tcPr marL="26288" marR="26288" marT="13144" marB="13144" anchor="ctr">
                    <a:lnL>
                      <a:noFill/>
                    </a:lnL>
                    <a:lnR>
                      <a:noFill/>
                    </a:lnR>
                    <a:lnT>
                      <a:noFill/>
                    </a:lnT>
                    <a:lnB>
                      <a:noFill/>
                    </a:lnB>
                    <a:noFill/>
                  </a:tcPr>
                </a:tc>
                <a:tc>
                  <a:txBody>
                    <a:bodyPr/>
                    <a:lstStyle/>
                    <a:p>
                      <a:r>
                        <a:rPr lang="en-US" sz="1000" dirty="0"/>
                        <a:t>A process-oriented approach focused on preventing defects by improving the development processes.</a:t>
                      </a:r>
                    </a:p>
                  </a:txBody>
                  <a:tcPr marL="26288" marR="26288" marT="13144" marB="13144" anchor="ctr">
                    <a:lnL>
                      <a:noFill/>
                    </a:lnL>
                    <a:lnR>
                      <a:noFill/>
                    </a:lnR>
                    <a:lnT>
                      <a:noFill/>
                    </a:lnT>
                    <a:lnB>
                      <a:noFill/>
                    </a:lnB>
                    <a:noFill/>
                  </a:tcPr>
                </a:tc>
                <a:tc>
                  <a:txBody>
                    <a:bodyPr/>
                    <a:lstStyle/>
                    <a:p>
                      <a:r>
                        <a:rPr lang="en-US" sz="1000" dirty="0"/>
                        <a:t>A product-oriented approach focused on identifying defects in the finished product through inspection.</a:t>
                      </a:r>
                    </a:p>
                  </a:txBody>
                  <a:tcPr marL="26288" marR="26288" marT="13144" marB="13144" anchor="ctr">
                    <a:lnL>
                      <a:noFill/>
                    </a:lnL>
                    <a:lnR>
                      <a:noFill/>
                    </a:lnR>
                    <a:lnT>
                      <a:noFill/>
                    </a:lnT>
                    <a:lnB>
                      <a:noFill/>
                    </a:lnB>
                    <a:noFill/>
                  </a:tcPr>
                </a:tc>
                <a:tc>
                  <a:txBody>
                    <a:bodyPr/>
                    <a:lstStyle/>
                    <a:p>
                      <a:r>
                        <a:rPr lang="en-US" sz="1000" dirty="0"/>
                        <a:t>The execution of code or system to find defects and ensure functionality meets requirements.</a:t>
                      </a:r>
                    </a:p>
                  </a:txBody>
                  <a:tcPr marL="26288" marR="26288" marT="13144" marB="13144" anchor="ctr">
                    <a:lnL>
                      <a:noFill/>
                    </a:lnL>
                    <a:lnR>
                      <a:noFill/>
                    </a:lnR>
                    <a:lnT>
                      <a:noFill/>
                    </a:lnT>
                    <a:lnB>
                      <a:noFill/>
                    </a:lnB>
                    <a:noFill/>
                  </a:tcPr>
                </a:tc>
                <a:extLst>
                  <a:ext uri="{0D108BD9-81ED-4DB2-BD59-A6C34878D82A}">
                    <a16:rowId xmlns:a16="http://schemas.microsoft.com/office/drawing/2014/main" val="3855018224"/>
                  </a:ext>
                </a:extLst>
              </a:tr>
              <a:tr h="718057">
                <a:tc>
                  <a:txBody>
                    <a:bodyPr/>
                    <a:lstStyle/>
                    <a:p>
                      <a:r>
                        <a:rPr lang="en-US" sz="1000" b="1" dirty="0"/>
                        <a:t>Goal</a:t>
                      </a:r>
                      <a:endParaRPr lang="en-US" sz="1000" dirty="0"/>
                    </a:p>
                  </a:txBody>
                  <a:tcPr marL="26288" marR="26288" marT="13144" marB="13144" anchor="ctr">
                    <a:lnL>
                      <a:noFill/>
                    </a:lnL>
                    <a:lnR>
                      <a:noFill/>
                    </a:lnR>
                    <a:lnT>
                      <a:noFill/>
                    </a:lnT>
                    <a:lnB>
                      <a:noFill/>
                    </a:lnB>
                    <a:noFill/>
                  </a:tcPr>
                </a:tc>
                <a:tc>
                  <a:txBody>
                    <a:bodyPr/>
                    <a:lstStyle/>
                    <a:p>
                      <a:r>
                        <a:rPr lang="en-US" sz="1000" dirty="0"/>
                        <a:t>To ensure that the development and maintenance processes are followed to deliver quality products.</a:t>
                      </a:r>
                    </a:p>
                  </a:txBody>
                  <a:tcPr marL="26288" marR="26288" marT="13144" marB="13144" anchor="ctr">
                    <a:lnL>
                      <a:noFill/>
                    </a:lnL>
                    <a:lnR>
                      <a:noFill/>
                    </a:lnR>
                    <a:lnT>
                      <a:noFill/>
                    </a:lnT>
                    <a:lnB>
                      <a:noFill/>
                    </a:lnB>
                    <a:noFill/>
                  </a:tcPr>
                </a:tc>
                <a:tc>
                  <a:txBody>
                    <a:bodyPr/>
                    <a:lstStyle/>
                    <a:p>
                      <a:r>
                        <a:rPr lang="en-US" sz="1000" dirty="0"/>
                        <a:t>To verify that the product meets specified quality standards by identifying defects after production.</a:t>
                      </a:r>
                    </a:p>
                  </a:txBody>
                  <a:tcPr marL="26288" marR="26288" marT="13144" marB="13144" anchor="ctr">
                    <a:lnL>
                      <a:noFill/>
                    </a:lnL>
                    <a:lnR>
                      <a:noFill/>
                    </a:lnR>
                    <a:lnT>
                      <a:noFill/>
                    </a:lnT>
                    <a:lnB>
                      <a:noFill/>
                    </a:lnB>
                    <a:noFill/>
                  </a:tcPr>
                </a:tc>
                <a:tc>
                  <a:txBody>
                    <a:bodyPr/>
                    <a:lstStyle/>
                    <a:p>
                      <a:r>
                        <a:rPr lang="en-US" sz="1000" dirty="0"/>
                        <a:t>To verify that the product works as intended and to find any existing defects.</a:t>
                      </a:r>
                    </a:p>
                  </a:txBody>
                  <a:tcPr marL="26288" marR="26288" marT="13144" marB="13144" anchor="ctr">
                    <a:lnL>
                      <a:noFill/>
                    </a:lnL>
                    <a:lnR>
                      <a:noFill/>
                    </a:lnR>
                    <a:lnT>
                      <a:noFill/>
                    </a:lnT>
                    <a:lnB>
                      <a:noFill/>
                    </a:lnB>
                    <a:noFill/>
                  </a:tcPr>
                </a:tc>
                <a:extLst>
                  <a:ext uri="{0D108BD9-81ED-4DB2-BD59-A6C34878D82A}">
                    <a16:rowId xmlns:a16="http://schemas.microsoft.com/office/drawing/2014/main" val="2607481907"/>
                  </a:ext>
                </a:extLst>
              </a:tr>
              <a:tr h="718057">
                <a:tc>
                  <a:txBody>
                    <a:bodyPr/>
                    <a:lstStyle/>
                    <a:p>
                      <a:r>
                        <a:rPr lang="en-US" sz="1000" b="1" dirty="0"/>
                        <a:t>Focus</a:t>
                      </a:r>
                      <a:endParaRPr lang="en-US" sz="1000" dirty="0"/>
                    </a:p>
                  </a:txBody>
                  <a:tcPr marL="26288" marR="26288" marT="13144" marB="13144" anchor="ctr">
                    <a:lnL>
                      <a:noFill/>
                    </a:lnL>
                    <a:lnR>
                      <a:noFill/>
                    </a:lnR>
                    <a:lnT>
                      <a:noFill/>
                    </a:lnT>
                    <a:lnB>
                      <a:noFill/>
                    </a:lnB>
                    <a:noFill/>
                  </a:tcPr>
                </a:tc>
                <a:tc>
                  <a:txBody>
                    <a:bodyPr/>
                    <a:lstStyle/>
                    <a:p>
                      <a:r>
                        <a:rPr lang="en-US" sz="1000" b="1" dirty="0"/>
                        <a:t>Process-driven</a:t>
                      </a:r>
                      <a:r>
                        <a:rPr lang="en-US" sz="1000" dirty="0"/>
                        <a:t> – improving and optimizing processes to avoid errors.</a:t>
                      </a:r>
                    </a:p>
                  </a:txBody>
                  <a:tcPr marL="26288" marR="26288" marT="13144" marB="13144" anchor="ctr">
                    <a:lnL>
                      <a:noFill/>
                    </a:lnL>
                    <a:lnR>
                      <a:noFill/>
                    </a:lnR>
                    <a:lnT>
                      <a:noFill/>
                    </a:lnT>
                    <a:lnB>
                      <a:noFill/>
                    </a:lnB>
                    <a:noFill/>
                  </a:tcPr>
                </a:tc>
                <a:tc>
                  <a:txBody>
                    <a:bodyPr/>
                    <a:lstStyle/>
                    <a:p>
                      <a:r>
                        <a:rPr lang="en-US" sz="1000" b="1" dirty="0"/>
                        <a:t>Product-driven</a:t>
                      </a:r>
                      <a:r>
                        <a:rPr lang="en-US" sz="1000" dirty="0"/>
                        <a:t> – ensuring that the final product meets the required quality standards.</a:t>
                      </a:r>
                    </a:p>
                  </a:txBody>
                  <a:tcPr marL="26288" marR="26288" marT="13144" marB="13144" anchor="ctr">
                    <a:lnL>
                      <a:noFill/>
                    </a:lnL>
                    <a:lnR>
                      <a:noFill/>
                    </a:lnR>
                    <a:lnT>
                      <a:noFill/>
                    </a:lnT>
                    <a:lnB>
                      <a:noFill/>
                    </a:lnB>
                    <a:noFill/>
                  </a:tcPr>
                </a:tc>
                <a:tc>
                  <a:txBody>
                    <a:bodyPr/>
                    <a:lstStyle/>
                    <a:p>
                      <a:r>
                        <a:rPr lang="en-US" sz="1000" b="1" dirty="0"/>
                        <a:t>Execution-driven</a:t>
                      </a:r>
                      <a:r>
                        <a:rPr lang="en-US" sz="1000" dirty="0"/>
                        <a:t> – executing the product to find defects or bugs.</a:t>
                      </a:r>
                    </a:p>
                  </a:txBody>
                  <a:tcPr marL="26288" marR="26288" marT="13144" marB="13144" anchor="ctr">
                    <a:lnL>
                      <a:noFill/>
                    </a:lnL>
                    <a:lnR>
                      <a:noFill/>
                    </a:lnR>
                    <a:lnT>
                      <a:noFill/>
                    </a:lnT>
                    <a:lnB>
                      <a:noFill/>
                    </a:lnB>
                    <a:noFill/>
                  </a:tcPr>
                </a:tc>
                <a:extLst>
                  <a:ext uri="{0D108BD9-81ED-4DB2-BD59-A6C34878D82A}">
                    <a16:rowId xmlns:a16="http://schemas.microsoft.com/office/drawing/2014/main" val="2222448400"/>
                  </a:ext>
                </a:extLst>
              </a:tr>
            </a:tbl>
          </a:graphicData>
        </a:graphic>
      </p:graphicFrame>
    </p:spTree>
    <p:extLst>
      <p:ext uri="{BB962C8B-B14F-4D97-AF65-F5344CB8AC3E}">
        <p14:creationId xmlns:p14="http://schemas.microsoft.com/office/powerpoint/2010/main" val="119552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55BD28-BBFF-DBAB-23C1-E33988B5257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20CEAF5-47B9-0C0A-F52E-F4FE3545C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5826D0FE-0137-6DB7-FE27-94EEF5161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8965264-96AD-C477-C549-7565545F4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6E5EA5-4606-64DD-608D-81AC5AD068F3}"/>
              </a:ext>
            </a:extLst>
          </p:cNvPr>
          <p:cNvSpPr>
            <a:spLocks noGrp="1"/>
          </p:cNvSpPr>
          <p:nvPr>
            <p:ph type="title"/>
          </p:nvPr>
        </p:nvSpPr>
        <p:spPr>
          <a:xfrm>
            <a:off x="2231136" y="467418"/>
            <a:ext cx="7729728" cy="1188720"/>
          </a:xfrm>
          <a:solidFill>
            <a:srgbClr val="FFFFFF"/>
          </a:solidFill>
        </p:spPr>
        <p:txBody>
          <a:bodyPr>
            <a:normAutofit/>
          </a:bodyPr>
          <a:lstStyle/>
          <a:p>
            <a:pPr rtl="0" fontAlgn="ctr"/>
            <a:r>
              <a:rPr lang="en-US" b="0" i="0" u="none" strike="noStrike" dirty="0">
                <a:solidFill>
                  <a:srgbClr val="434343"/>
                </a:solidFill>
                <a:effectLst/>
                <a:highlight>
                  <a:srgbClr val="FFFFFF"/>
                </a:highlight>
                <a:latin typeface="docs-Roboto"/>
              </a:rPr>
              <a:t>Introduction to SQA</a:t>
            </a:r>
            <a:endParaRPr lang="en-US" dirty="0"/>
          </a:p>
        </p:txBody>
      </p:sp>
      <p:sp>
        <p:nvSpPr>
          <p:cNvPr id="3" name="Content Placeholder 2">
            <a:extLst>
              <a:ext uri="{FF2B5EF4-FFF2-40B4-BE49-F238E27FC236}">
                <a16:creationId xmlns:a16="http://schemas.microsoft.com/office/drawing/2014/main" id="{9733FA3F-0569-94D2-9835-B9C36B8352BF}"/>
              </a:ext>
            </a:extLst>
          </p:cNvPr>
          <p:cNvSpPr>
            <a:spLocks noGrp="1"/>
          </p:cNvSpPr>
          <p:nvPr>
            <p:ph idx="1"/>
          </p:nvPr>
        </p:nvSpPr>
        <p:spPr>
          <a:xfrm>
            <a:off x="1706062" y="2291262"/>
            <a:ext cx="8779512" cy="2879256"/>
          </a:xfrm>
        </p:spPr>
        <p:txBody>
          <a:bodyPr>
            <a:normAutofit/>
          </a:bodyPr>
          <a:lstStyle/>
          <a:p>
            <a:pPr algn="l" rtl="0" fontAlgn="ctr"/>
            <a:r>
              <a:rPr lang="en-US" sz="1800" i="0" dirty="0">
                <a:solidFill>
                  <a:srgbClr val="434343"/>
                </a:solidFill>
                <a:effectLst/>
                <a:latin typeface="Roboto" panose="02000000000000000000" pitchFamily="2" charset="0"/>
              </a:rPr>
              <a:t>Role of SQA</a:t>
            </a:r>
            <a:endParaRPr lang="en-US" sz="1800" i="0" dirty="0">
              <a:solidFill>
                <a:srgbClr val="434343"/>
              </a:solidFill>
              <a:effectLst/>
              <a:highlight>
                <a:srgbClr val="FFFFFF"/>
              </a:highlight>
              <a:latin typeface="Roboto" panose="02000000000000000000" pitchFamily="2" charset="0"/>
            </a:endParaRPr>
          </a:p>
          <a:p>
            <a:pPr marL="0" indent="0" algn="l" rtl="0" fontAlgn="ctr">
              <a:buNone/>
            </a:pPr>
            <a:endParaRPr lang="en-US" dirty="0">
              <a:solidFill>
                <a:srgbClr val="434343"/>
              </a:solidFill>
              <a:highlight>
                <a:srgbClr val="FFFFFF"/>
              </a:highlight>
              <a:latin typeface="Roboto" panose="02000000000000000000" pitchFamily="2" charset="0"/>
            </a:endParaRPr>
          </a:p>
        </p:txBody>
      </p:sp>
      <p:graphicFrame>
        <p:nvGraphicFramePr>
          <p:cNvPr id="6" name="Table 5">
            <a:extLst>
              <a:ext uri="{FF2B5EF4-FFF2-40B4-BE49-F238E27FC236}">
                <a16:creationId xmlns:a16="http://schemas.microsoft.com/office/drawing/2014/main" id="{D5203C16-7C6E-E8BE-8185-72970975F4CE}"/>
              </a:ext>
            </a:extLst>
          </p:cNvPr>
          <p:cNvGraphicFramePr>
            <a:graphicFrameLocks noGrp="1"/>
          </p:cNvGraphicFramePr>
          <p:nvPr>
            <p:extLst>
              <p:ext uri="{D42A27DB-BD31-4B8C-83A1-F6EECF244321}">
                <p14:modId xmlns:p14="http://schemas.microsoft.com/office/powerpoint/2010/main" val="2707875731"/>
              </p:ext>
            </p:extLst>
          </p:nvPr>
        </p:nvGraphicFramePr>
        <p:xfrm>
          <a:off x="1877961" y="2716842"/>
          <a:ext cx="8534400" cy="2608780"/>
        </p:xfrm>
        <a:graphic>
          <a:graphicData uri="http://schemas.openxmlformats.org/drawingml/2006/table">
            <a:tbl>
              <a:tblPr/>
              <a:tblGrid>
                <a:gridCol w="2133600">
                  <a:extLst>
                    <a:ext uri="{9D8B030D-6E8A-4147-A177-3AD203B41FA5}">
                      <a16:colId xmlns:a16="http://schemas.microsoft.com/office/drawing/2014/main" val="1221337351"/>
                    </a:ext>
                  </a:extLst>
                </a:gridCol>
                <a:gridCol w="2133600">
                  <a:extLst>
                    <a:ext uri="{9D8B030D-6E8A-4147-A177-3AD203B41FA5}">
                      <a16:colId xmlns:a16="http://schemas.microsoft.com/office/drawing/2014/main" val="3876053675"/>
                    </a:ext>
                  </a:extLst>
                </a:gridCol>
                <a:gridCol w="2133600">
                  <a:extLst>
                    <a:ext uri="{9D8B030D-6E8A-4147-A177-3AD203B41FA5}">
                      <a16:colId xmlns:a16="http://schemas.microsoft.com/office/drawing/2014/main" val="2006539943"/>
                    </a:ext>
                  </a:extLst>
                </a:gridCol>
                <a:gridCol w="2133600">
                  <a:extLst>
                    <a:ext uri="{9D8B030D-6E8A-4147-A177-3AD203B41FA5}">
                      <a16:colId xmlns:a16="http://schemas.microsoft.com/office/drawing/2014/main" val="1355255752"/>
                    </a:ext>
                  </a:extLst>
                </a:gridCol>
              </a:tblGrid>
              <a:tr h="180830">
                <a:tc>
                  <a:txBody>
                    <a:bodyPr/>
                    <a:lstStyle/>
                    <a:p>
                      <a:r>
                        <a:rPr lang="en-US" sz="1050" b="1" dirty="0"/>
                        <a:t>Aspect</a:t>
                      </a:r>
                      <a:endParaRPr lang="en-US" sz="1050" dirty="0"/>
                    </a:p>
                  </a:txBody>
                  <a:tcPr marL="26288" marR="26288" marT="13144" marB="13144" anchor="ctr">
                    <a:lnL>
                      <a:noFill/>
                    </a:lnL>
                    <a:lnR>
                      <a:noFill/>
                    </a:lnR>
                    <a:lnT>
                      <a:noFill/>
                    </a:lnT>
                    <a:lnB>
                      <a:noFill/>
                    </a:lnB>
                    <a:noFill/>
                  </a:tcPr>
                </a:tc>
                <a:tc>
                  <a:txBody>
                    <a:bodyPr/>
                    <a:lstStyle/>
                    <a:p>
                      <a:r>
                        <a:rPr lang="en-US" sz="1050" b="1" dirty="0"/>
                        <a:t>Quality Assurance (QA)</a:t>
                      </a:r>
                      <a:endParaRPr lang="en-US" sz="1050" dirty="0"/>
                    </a:p>
                  </a:txBody>
                  <a:tcPr marL="26288" marR="26288" marT="13144" marB="13144" anchor="ctr">
                    <a:lnL>
                      <a:noFill/>
                    </a:lnL>
                    <a:lnR>
                      <a:noFill/>
                    </a:lnR>
                    <a:lnT>
                      <a:noFill/>
                    </a:lnT>
                    <a:lnB>
                      <a:noFill/>
                    </a:lnB>
                    <a:noFill/>
                  </a:tcPr>
                </a:tc>
                <a:tc>
                  <a:txBody>
                    <a:bodyPr/>
                    <a:lstStyle/>
                    <a:p>
                      <a:r>
                        <a:rPr lang="en-US" sz="1050" b="1" dirty="0"/>
                        <a:t>Quality Control (QC)</a:t>
                      </a:r>
                      <a:endParaRPr lang="en-US" sz="1050" dirty="0"/>
                    </a:p>
                  </a:txBody>
                  <a:tcPr marL="26288" marR="26288" marT="13144" marB="13144" anchor="ctr">
                    <a:lnL>
                      <a:noFill/>
                    </a:lnL>
                    <a:lnR>
                      <a:noFill/>
                    </a:lnR>
                    <a:lnT>
                      <a:noFill/>
                    </a:lnT>
                    <a:lnB>
                      <a:noFill/>
                    </a:lnB>
                    <a:noFill/>
                  </a:tcPr>
                </a:tc>
                <a:tc>
                  <a:txBody>
                    <a:bodyPr/>
                    <a:lstStyle/>
                    <a:p>
                      <a:r>
                        <a:rPr lang="en-US" sz="1050" b="1" dirty="0"/>
                        <a:t>Testing</a:t>
                      </a:r>
                      <a:endParaRPr lang="en-US" sz="1050" dirty="0"/>
                    </a:p>
                  </a:txBody>
                  <a:tcPr marL="26288" marR="26288" marT="13144" marB="13144" anchor="ctr">
                    <a:lnL>
                      <a:noFill/>
                    </a:lnL>
                    <a:lnR>
                      <a:noFill/>
                    </a:lnR>
                    <a:lnT>
                      <a:noFill/>
                    </a:lnT>
                    <a:lnB>
                      <a:noFill/>
                    </a:lnB>
                    <a:noFill/>
                  </a:tcPr>
                </a:tc>
                <a:extLst>
                  <a:ext uri="{0D108BD9-81ED-4DB2-BD59-A6C34878D82A}">
                    <a16:rowId xmlns:a16="http://schemas.microsoft.com/office/drawing/2014/main" val="1836797431"/>
                  </a:ext>
                </a:extLst>
              </a:tr>
              <a:tr h="458204">
                <a:tc>
                  <a:txBody>
                    <a:bodyPr/>
                    <a:lstStyle/>
                    <a:p>
                      <a:r>
                        <a:rPr lang="en-US" sz="1050" b="1" dirty="0"/>
                        <a:t>When</a:t>
                      </a:r>
                      <a:endParaRPr lang="en-US" sz="1050" dirty="0"/>
                    </a:p>
                  </a:txBody>
                  <a:tcPr marL="26288" marR="26288" marT="13144" marB="13144" anchor="ctr">
                    <a:lnL>
                      <a:noFill/>
                    </a:lnL>
                    <a:lnR>
                      <a:noFill/>
                    </a:lnR>
                    <a:lnT>
                      <a:noFill/>
                    </a:lnT>
                    <a:lnB>
                      <a:noFill/>
                    </a:lnB>
                    <a:noFill/>
                  </a:tcPr>
                </a:tc>
                <a:tc>
                  <a:txBody>
                    <a:bodyPr/>
                    <a:lstStyle/>
                    <a:p>
                      <a:r>
                        <a:rPr lang="en-US" sz="1050" b="1" dirty="0"/>
                        <a:t>Before</a:t>
                      </a:r>
                      <a:r>
                        <a:rPr lang="en-US" sz="1050" dirty="0"/>
                        <a:t> the development process (preventive activity).</a:t>
                      </a:r>
                    </a:p>
                  </a:txBody>
                  <a:tcPr marL="26288" marR="26288" marT="13144" marB="13144" anchor="ctr">
                    <a:lnL>
                      <a:noFill/>
                    </a:lnL>
                    <a:lnR>
                      <a:noFill/>
                    </a:lnR>
                    <a:lnT>
                      <a:noFill/>
                    </a:lnT>
                    <a:lnB>
                      <a:noFill/>
                    </a:lnB>
                    <a:noFill/>
                  </a:tcPr>
                </a:tc>
                <a:tc>
                  <a:txBody>
                    <a:bodyPr/>
                    <a:lstStyle/>
                    <a:p>
                      <a:r>
                        <a:rPr lang="en-US" sz="1050" b="1" dirty="0"/>
                        <a:t>After</a:t>
                      </a:r>
                      <a:r>
                        <a:rPr lang="en-US" sz="1050" dirty="0"/>
                        <a:t> product development (inspection activity).</a:t>
                      </a:r>
                    </a:p>
                  </a:txBody>
                  <a:tcPr marL="26288" marR="26288" marT="13144" marB="13144" anchor="ctr">
                    <a:lnL>
                      <a:noFill/>
                    </a:lnL>
                    <a:lnR>
                      <a:noFill/>
                    </a:lnR>
                    <a:lnT>
                      <a:noFill/>
                    </a:lnT>
                    <a:lnB>
                      <a:noFill/>
                    </a:lnB>
                    <a:noFill/>
                  </a:tcPr>
                </a:tc>
                <a:tc>
                  <a:txBody>
                    <a:bodyPr/>
                    <a:lstStyle/>
                    <a:p>
                      <a:r>
                        <a:rPr lang="en-US" sz="1050" dirty="0"/>
                        <a:t>Throughout the development cycle, especially during and after the build.</a:t>
                      </a:r>
                    </a:p>
                  </a:txBody>
                  <a:tcPr marL="26288" marR="26288" marT="13144" marB="13144" anchor="ctr">
                    <a:lnL>
                      <a:noFill/>
                    </a:lnL>
                    <a:lnR>
                      <a:noFill/>
                    </a:lnR>
                    <a:lnT>
                      <a:noFill/>
                    </a:lnT>
                    <a:lnB>
                      <a:noFill/>
                    </a:lnB>
                    <a:noFill/>
                  </a:tcPr>
                </a:tc>
                <a:extLst>
                  <a:ext uri="{0D108BD9-81ED-4DB2-BD59-A6C34878D82A}">
                    <a16:rowId xmlns:a16="http://schemas.microsoft.com/office/drawing/2014/main" val="3855018224"/>
                  </a:ext>
                </a:extLst>
              </a:tr>
              <a:tr h="395721">
                <a:tc>
                  <a:txBody>
                    <a:bodyPr/>
                    <a:lstStyle/>
                    <a:p>
                      <a:r>
                        <a:rPr lang="en-US" sz="1050" b="1" dirty="0"/>
                        <a:t>Responsibility</a:t>
                      </a:r>
                      <a:endParaRPr lang="en-US" sz="1050" dirty="0"/>
                    </a:p>
                  </a:txBody>
                  <a:tcPr marL="26288" marR="26288" marT="13144" marB="13144" anchor="ctr">
                    <a:lnL>
                      <a:noFill/>
                    </a:lnL>
                    <a:lnR>
                      <a:noFill/>
                    </a:lnR>
                    <a:lnT>
                      <a:noFill/>
                    </a:lnT>
                    <a:lnB>
                      <a:noFill/>
                    </a:lnB>
                    <a:noFill/>
                  </a:tcPr>
                </a:tc>
                <a:tc>
                  <a:txBody>
                    <a:bodyPr/>
                    <a:lstStyle/>
                    <a:p>
                      <a:r>
                        <a:rPr lang="en-US" sz="1050" dirty="0"/>
                        <a:t>Everyone involved in the development process (managers, developers, etc.).</a:t>
                      </a:r>
                    </a:p>
                  </a:txBody>
                  <a:tcPr marL="26288" marR="26288" marT="13144" marB="13144" anchor="ctr">
                    <a:lnL>
                      <a:noFill/>
                    </a:lnL>
                    <a:lnR>
                      <a:noFill/>
                    </a:lnR>
                    <a:lnT>
                      <a:noFill/>
                    </a:lnT>
                    <a:lnB>
                      <a:noFill/>
                    </a:lnB>
                    <a:noFill/>
                  </a:tcPr>
                </a:tc>
                <a:tc>
                  <a:txBody>
                    <a:bodyPr/>
                    <a:lstStyle/>
                    <a:p>
                      <a:r>
                        <a:rPr lang="en-US" sz="1050" dirty="0"/>
                        <a:t>Dedicated QC team or inspectors.</a:t>
                      </a:r>
                    </a:p>
                  </a:txBody>
                  <a:tcPr marL="26288" marR="26288" marT="13144" marB="13144" anchor="ctr">
                    <a:lnL>
                      <a:noFill/>
                    </a:lnL>
                    <a:lnR>
                      <a:noFill/>
                    </a:lnR>
                    <a:lnT>
                      <a:noFill/>
                    </a:lnT>
                    <a:lnB>
                      <a:noFill/>
                    </a:lnB>
                    <a:noFill/>
                  </a:tcPr>
                </a:tc>
                <a:tc>
                  <a:txBody>
                    <a:bodyPr/>
                    <a:lstStyle/>
                    <a:p>
                      <a:r>
                        <a:rPr lang="en-US" sz="1050" dirty="0"/>
                        <a:t>Testers or QA team.</a:t>
                      </a:r>
                    </a:p>
                  </a:txBody>
                  <a:tcPr marL="26288" marR="26288" marT="13144" marB="13144" anchor="ctr">
                    <a:lnL>
                      <a:noFill/>
                    </a:lnL>
                    <a:lnR>
                      <a:noFill/>
                    </a:lnR>
                    <a:lnT>
                      <a:noFill/>
                    </a:lnT>
                    <a:lnB>
                      <a:noFill/>
                    </a:lnB>
                    <a:noFill/>
                  </a:tcPr>
                </a:tc>
                <a:extLst>
                  <a:ext uri="{0D108BD9-81ED-4DB2-BD59-A6C34878D82A}">
                    <a16:rowId xmlns:a16="http://schemas.microsoft.com/office/drawing/2014/main" val="2607481907"/>
                  </a:ext>
                </a:extLst>
              </a:tr>
              <a:tr h="491459">
                <a:tc>
                  <a:txBody>
                    <a:bodyPr/>
                    <a:lstStyle/>
                    <a:p>
                      <a:r>
                        <a:rPr lang="en-US" sz="1050" b="1" dirty="0"/>
                        <a:t>Examples</a:t>
                      </a:r>
                      <a:endParaRPr lang="en-US" sz="1050" dirty="0"/>
                    </a:p>
                  </a:txBody>
                  <a:tcPr marL="26288" marR="26288" marT="13144" marB="13144" anchor="ctr">
                    <a:lnL>
                      <a:noFill/>
                    </a:lnL>
                    <a:lnR>
                      <a:noFill/>
                    </a:lnR>
                    <a:lnT>
                      <a:noFill/>
                    </a:lnT>
                    <a:lnB>
                      <a:noFill/>
                    </a:lnB>
                    <a:noFill/>
                  </a:tcPr>
                </a:tc>
                <a:tc>
                  <a:txBody>
                    <a:bodyPr/>
                    <a:lstStyle/>
                    <a:p>
                      <a:r>
                        <a:rPr lang="en-US" sz="1050" dirty="0"/>
                        <a:t>- Defining and enforcing processes</a:t>
                      </a:r>
                      <a:br>
                        <a:rPr lang="en-US" sz="1050" dirty="0"/>
                      </a:br>
                      <a:r>
                        <a:rPr lang="en-US" sz="1050" dirty="0"/>
                        <a:t>- Process audits</a:t>
                      </a:r>
                      <a:br>
                        <a:rPr lang="en-US" sz="1050" dirty="0"/>
                      </a:br>
                      <a:r>
                        <a:rPr lang="en-US" sz="1050" dirty="0"/>
                        <a:t>- Training teams on best practices</a:t>
                      </a:r>
                    </a:p>
                  </a:txBody>
                  <a:tcPr marL="26288" marR="26288" marT="13144" marB="13144" anchor="ctr">
                    <a:lnL>
                      <a:noFill/>
                    </a:lnL>
                    <a:lnR>
                      <a:noFill/>
                    </a:lnR>
                    <a:lnT>
                      <a:noFill/>
                    </a:lnT>
                    <a:lnB>
                      <a:noFill/>
                    </a:lnB>
                    <a:noFill/>
                  </a:tcPr>
                </a:tc>
                <a:tc>
                  <a:txBody>
                    <a:bodyPr/>
                    <a:lstStyle/>
                    <a:p>
                      <a:r>
                        <a:rPr lang="en-US" sz="1050" dirty="0"/>
                        <a:t>- Product inspection</a:t>
                      </a:r>
                      <a:br>
                        <a:rPr lang="en-US" sz="1050" dirty="0"/>
                      </a:br>
                      <a:r>
                        <a:rPr lang="en-US" sz="1050" dirty="0"/>
                        <a:t>- Defect identification</a:t>
                      </a:r>
                      <a:br>
                        <a:rPr lang="en-US" sz="1050" dirty="0"/>
                      </a:br>
                      <a:r>
                        <a:rPr lang="en-US" sz="1050" dirty="0"/>
                        <a:t>- Verification of corrections</a:t>
                      </a:r>
                    </a:p>
                  </a:txBody>
                  <a:tcPr marL="26288" marR="26288" marT="13144" marB="13144" anchor="ctr">
                    <a:lnL>
                      <a:noFill/>
                    </a:lnL>
                    <a:lnR>
                      <a:noFill/>
                    </a:lnR>
                    <a:lnT>
                      <a:noFill/>
                    </a:lnT>
                    <a:lnB>
                      <a:noFill/>
                    </a:lnB>
                    <a:noFill/>
                  </a:tcPr>
                </a:tc>
                <a:tc>
                  <a:txBody>
                    <a:bodyPr/>
                    <a:lstStyle/>
                    <a:p>
                      <a:r>
                        <a:rPr lang="en-US" sz="1050" dirty="0"/>
                        <a:t>- Manual or automated test execution</a:t>
                      </a:r>
                      <a:br>
                        <a:rPr lang="en-US" sz="1050" dirty="0"/>
                      </a:br>
                      <a:r>
                        <a:rPr lang="en-US" sz="1050" dirty="0"/>
                        <a:t>- Functional and non-functional testing</a:t>
                      </a:r>
                    </a:p>
                  </a:txBody>
                  <a:tcPr marL="26288" marR="26288" marT="13144" marB="13144" anchor="ctr">
                    <a:lnL>
                      <a:noFill/>
                    </a:lnL>
                    <a:lnR>
                      <a:noFill/>
                    </a:lnR>
                    <a:lnT>
                      <a:noFill/>
                    </a:lnT>
                    <a:lnB>
                      <a:noFill/>
                    </a:lnB>
                    <a:noFill/>
                  </a:tcPr>
                </a:tc>
                <a:extLst>
                  <a:ext uri="{0D108BD9-81ED-4DB2-BD59-A6C34878D82A}">
                    <a16:rowId xmlns:a16="http://schemas.microsoft.com/office/drawing/2014/main" val="2222448400"/>
                  </a:ext>
                </a:extLst>
              </a:tr>
              <a:tr h="333239">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extLst>
                  <a:ext uri="{0D108BD9-81ED-4DB2-BD59-A6C34878D82A}">
                    <a16:rowId xmlns:a16="http://schemas.microsoft.com/office/drawing/2014/main" val="2279064891"/>
                  </a:ext>
                </a:extLst>
              </a:tr>
              <a:tr h="333239">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extLst>
                  <a:ext uri="{0D108BD9-81ED-4DB2-BD59-A6C34878D82A}">
                    <a16:rowId xmlns:a16="http://schemas.microsoft.com/office/drawing/2014/main" val="544453579"/>
                  </a:ext>
                </a:extLst>
              </a:tr>
              <a:tr h="395721">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tc>
                  <a:txBody>
                    <a:bodyPr/>
                    <a:lstStyle/>
                    <a:p>
                      <a:endParaRPr lang="en-US" sz="500" dirty="0"/>
                    </a:p>
                  </a:txBody>
                  <a:tcPr marL="26288" marR="26288" marT="13144" marB="13144" anchor="ctr">
                    <a:lnL>
                      <a:noFill/>
                    </a:lnL>
                    <a:lnR>
                      <a:noFill/>
                    </a:lnR>
                    <a:lnT>
                      <a:noFill/>
                    </a:lnT>
                    <a:lnB>
                      <a:noFill/>
                    </a:lnB>
                    <a:noFill/>
                  </a:tcPr>
                </a:tc>
                <a:extLst>
                  <a:ext uri="{0D108BD9-81ED-4DB2-BD59-A6C34878D82A}">
                    <a16:rowId xmlns:a16="http://schemas.microsoft.com/office/drawing/2014/main" val="241522514"/>
                  </a:ext>
                </a:extLst>
              </a:tr>
            </a:tbl>
          </a:graphicData>
        </a:graphic>
      </p:graphicFrame>
    </p:spTree>
    <p:extLst>
      <p:ext uri="{BB962C8B-B14F-4D97-AF65-F5344CB8AC3E}">
        <p14:creationId xmlns:p14="http://schemas.microsoft.com/office/powerpoint/2010/main" val="328520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5981CE-B771-4EAD-5A59-46A8B0F362A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446BA38-29D1-5F9A-FB22-100331157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C9AB7FB-C8EF-C61E-6241-AFCDDFADBE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3A78C1F-A1B2-7BB0-EA7F-D063A11C2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AA1DA40-2EBA-C6C8-D426-3EEACB1C0034}"/>
              </a:ext>
            </a:extLst>
          </p:cNvPr>
          <p:cNvSpPr>
            <a:spLocks noGrp="1"/>
          </p:cNvSpPr>
          <p:nvPr>
            <p:ph type="title"/>
          </p:nvPr>
        </p:nvSpPr>
        <p:spPr>
          <a:xfrm>
            <a:off x="2231136" y="467418"/>
            <a:ext cx="7729728" cy="1188720"/>
          </a:xfrm>
          <a:solidFill>
            <a:srgbClr val="FFFFFF"/>
          </a:solidFill>
        </p:spPr>
        <p:txBody>
          <a:bodyPr>
            <a:normAutofit/>
          </a:bodyPr>
          <a:lstStyle/>
          <a:p>
            <a:pPr rtl="0" fontAlgn="ctr"/>
            <a:r>
              <a:rPr lang="en-US" b="0" i="0" u="none" strike="noStrike" dirty="0">
                <a:solidFill>
                  <a:srgbClr val="434343"/>
                </a:solidFill>
                <a:effectLst/>
                <a:highlight>
                  <a:srgbClr val="FFFFFF"/>
                </a:highlight>
                <a:latin typeface="docs-Roboto"/>
              </a:rPr>
              <a:t>Introduction to SQA</a:t>
            </a:r>
            <a:endParaRPr lang="en-US" dirty="0"/>
          </a:p>
        </p:txBody>
      </p:sp>
      <p:sp>
        <p:nvSpPr>
          <p:cNvPr id="3" name="Content Placeholder 2">
            <a:extLst>
              <a:ext uri="{FF2B5EF4-FFF2-40B4-BE49-F238E27FC236}">
                <a16:creationId xmlns:a16="http://schemas.microsoft.com/office/drawing/2014/main" id="{8932D6E4-A0F5-BB8D-4FDF-2D37C8C39E0D}"/>
              </a:ext>
            </a:extLst>
          </p:cNvPr>
          <p:cNvSpPr>
            <a:spLocks noGrp="1"/>
          </p:cNvSpPr>
          <p:nvPr>
            <p:ph idx="1"/>
          </p:nvPr>
        </p:nvSpPr>
        <p:spPr>
          <a:xfrm>
            <a:off x="1706062" y="2291262"/>
            <a:ext cx="8779512" cy="2879256"/>
          </a:xfrm>
        </p:spPr>
        <p:txBody>
          <a:bodyPr>
            <a:normAutofit/>
          </a:bodyPr>
          <a:lstStyle/>
          <a:p>
            <a:pPr algn="l" rtl="0" fontAlgn="ctr"/>
            <a:r>
              <a:rPr lang="en-US" sz="1800" b="1" i="0" dirty="0">
                <a:solidFill>
                  <a:srgbClr val="434343"/>
                </a:solidFill>
                <a:effectLst/>
                <a:latin typeface="Roboto" panose="02000000000000000000" pitchFamily="2" charset="0"/>
              </a:rPr>
              <a:t>Principles of Software Testing</a:t>
            </a:r>
            <a:br>
              <a:rPr lang="en-US" b="1" dirty="0"/>
            </a:br>
            <a:r>
              <a:rPr lang="en-US" b="0" i="0" dirty="0">
                <a:solidFill>
                  <a:srgbClr val="222222"/>
                </a:solidFill>
                <a:effectLst/>
                <a:highlight>
                  <a:srgbClr val="FFFFFF"/>
                </a:highlight>
                <a:latin typeface="Source Sans Pro" panose="020B0503030403020204" pitchFamily="34" charset="0"/>
              </a:rPr>
              <a:t>1) Exhaustive testing is not possible(</a:t>
            </a:r>
            <a:r>
              <a:rPr lang="en-US" sz="1000" b="0" i="0" dirty="0">
                <a:solidFill>
                  <a:srgbClr val="222222"/>
                </a:solidFill>
                <a:effectLst/>
                <a:highlight>
                  <a:srgbClr val="FFFFFF"/>
                </a:highlight>
                <a:latin typeface="Source Sans Pro" panose="020B0503030403020204" pitchFamily="34" charset="0"/>
              </a:rPr>
              <a:t>E-commerce website filters</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2) Defect Clustering(</a:t>
            </a:r>
            <a:r>
              <a:rPr lang="en-US" sz="800" b="0" i="0" dirty="0">
                <a:solidFill>
                  <a:srgbClr val="222222"/>
                </a:solidFill>
                <a:effectLst/>
                <a:highlight>
                  <a:srgbClr val="FFFFFF"/>
                </a:highlight>
                <a:latin typeface="Source Sans Pro" panose="020B0503030403020204" pitchFamily="34" charset="0"/>
              </a:rPr>
              <a:t>Banking app: </a:t>
            </a:r>
            <a:r>
              <a:rPr lang="en-US" sz="800" dirty="0"/>
              <a:t>testers often find that most defects are concentrated in certain areas, such as </a:t>
            </a:r>
            <a:r>
              <a:rPr lang="en-US" sz="800" b="1" dirty="0"/>
              <a:t>transaction processing. </a:t>
            </a:r>
            <a:r>
              <a:rPr lang="en-US" sz="800" dirty="0"/>
              <a:t>Due to the complexity</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3) Pesticide Paradox(</a:t>
            </a:r>
            <a:r>
              <a:rPr lang="en-US" sz="1100" b="0" i="0" dirty="0">
                <a:solidFill>
                  <a:srgbClr val="222222"/>
                </a:solidFill>
                <a:effectLst/>
                <a:highlight>
                  <a:srgbClr val="FFFFFF"/>
                </a:highlight>
                <a:latin typeface="Source Sans Pro" panose="020B0503030403020204" pitchFamily="34" charset="0"/>
              </a:rPr>
              <a:t>following same pattern</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4) Testing shows the presence of defects(</a:t>
            </a:r>
            <a:r>
              <a:rPr lang="en-US" sz="1200" dirty="0"/>
              <a:t>Testers cannot guarantee the </a:t>
            </a:r>
            <a:r>
              <a:rPr lang="en-US" sz="1200" b="1" dirty="0"/>
              <a:t>absence</a:t>
            </a:r>
            <a:r>
              <a:rPr lang="en-US" sz="1200" dirty="0"/>
              <a:t> of all defects</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5) Absence of Error – fallacy(</a:t>
            </a:r>
            <a:r>
              <a:rPr lang="en-US" sz="1200" b="0" i="0" dirty="0">
                <a:solidFill>
                  <a:srgbClr val="222222"/>
                </a:solidFill>
                <a:effectLst/>
                <a:highlight>
                  <a:srgbClr val="FFFFFF"/>
                </a:highlight>
                <a:latin typeface="Source Sans Pro" panose="020B0503030403020204" pitchFamily="34" charset="0"/>
              </a:rPr>
              <a:t>navigation app: most of the time </a:t>
            </a:r>
            <a:r>
              <a:rPr lang="en-US" sz="1200" dirty="0">
                <a:solidFill>
                  <a:srgbClr val="222222"/>
                </a:solidFill>
                <a:highlight>
                  <a:srgbClr val="FFFFFF"/>
                </a:highlight>
                <a:latin typeface="Source Sans Pro" panose="020B0503030403020204" pitchFamily="34" charset="0"/>
              </a:rPr>
              <a:t>its not working offline</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6) Early Testing(</a:t>
            </a:r>
            <a:r>
              <a:rPr lang="en-US" sz="1400" b="0" i="0" dirty="0">
                <a:solidFill>
                  <a:srgbClr val="222222"/>
                </a:solidFill>
                <a:effectLst/>
                <a:highlight>
                  <a:srgbClr val="FFFFFF"/>
                </a:highlight>
                <a:latin typeface="Source Sans Pro" panose="020B0503030403020204" pitchFamily="34" charset="0"/>
              </a:rPr>
              <a:t>paper-work, Imagination, finding complex scenarios</a:t>
            </a:r>
            <a:r>
              <a:rPr lang="en-US" b="0" i="0" dirty="0">
                <a:solidFill>
                  <a:srgbClr val="222222"/>
                </a:solidFill>
                <a:effectLst/>
                <a:highlight>
                  <a:srgbClr val="FFFFFF"/>
                </a:highlight>
                <a:latin typeface="Source Sans Pro" panose="020B0503030403020204" pitchFamily="34" charset="0"/>
              </a:rPr>
              <a:t>)</a:t>
            </a:r>
            <a:br>
              <a:rPr lang="en-US" dirty="0"/>
            </a:br>
            <a:r>
              <a:rPr lang="en-US" b="0" i="0" dirty="0">
                <a:solidFill>
                  <a:srgbClr val="222222"/>
                </a:solidFill>
                <a:effectLst/>
                <a:highlight>
                  <a:srgbClr val="FFFFFF"/>
                </a:highlight>
                <a:latin typeface="Source Sans Pro" panose="020B0503030403020204" pitchFamily="34" charset="0"/>
              </a:rPr>
              <a:t>7) Testing is context dependent(</a:t>
            </a:r>
            <a:r>
              <a:rPr lang="en-US" sz="1200" b="0" i="0" dirty="0">
                <a:solidFill>
                  <a:srgbClr val="222222"/>
                </a:solidFill>
                <a:effectLst/>
                <a:highlight>
                  <a:srgbClr val="FFFFFF"/>
                </a:highlight>
                <a:latin typeface="Source Sans Pro" panose="020B0503030403020204" pitchFamily="34" charset="0"/>
              </a:rPr>
              <a:t>banking, app, e-commerce app, gaming app, etc</a:t>
            </a:r>
            <a:r>
              <a:rPr lang="en-US" b="0" i="0" dirty="0">
                <a:solidFill>
                  <a:srgbClr val="222222"/>
                </a:solidFill>
                <a:effectLst/>
                <a:highlight>
                  <a:srgbClr val="FFFFFF"/>
                </a:highlight>
                <a:latin typeface="Source Sans Pro" panose="020B0503030403020204" pitchFamily="34" charset="0"/>
              </a:rPr>
              <a:t>)</a:t>
            </a:r>
            <a:endParaRPr lang="en-US" dirty="0">
              <a:solidFill>
                <a:srgbClr val="434343"/>
              </a:solidFill>
              <a:highlight>
                <a:srgbClr val="FFFFFF"/>
              </a:highlight>
              <a:latin typeface="Roboto" panose="02000000000000000000" pitchFamily="2" charset="0"/>
            </a:endParaRPr>
          </a:p>
        </p:txBody>
      </p:sp>
    </p:spTree>
    <p:extLst>
      <p:ext uri="{BB962C8B-B14F-4D97-AF65-F5344CB8AC3E}">
        <p14:creationId xmlns:p14="http://schemas.microsoft.com/office/powerpoint/2010/main" val="1776082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966A4D4-049A-4389-B407-0E7091A07C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72915"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04672" y="1290025"/>
            <a:ext cx="4475892" cy="1188720"/>
          </a:xfrm>
          <a:solidFill>
            <a:srgbClr val="FFFFFF"/>
          </a:solidFill>
          <a:ln>
            <a:solidFill>
              <a:srgbClr val="404040"/>
            </a:solidFill>
          </a:ln>
        </p:spPr>
        <p:txBody>
          <a:bodyPr>
            <a:normAutofit/>
          </a:bodyPr>
          <a:lstStyle/>
          <a:p>
            <a:r>
              <a:rPr lang="en-US" sz="2200" dirty="0"/>
              <a:t>Software Development Lifecycle (SDLC)</a:t>
            </a:r>
          </a:p>
        </p:txBody>
      </p:sp>
      <p:sp>
        <p:nvSpPr>
          <p:cNvPr id="17" name="Content Placeholder 16">
            <a:extLst>
              <a:ext uri="{FF2B5EF4-FFF2-40B4-BE49-F238E27FC236}">
                <a16:creationId xmlns:a16="http://schemas.microsoft.com/office/drawing/2014/main" id="{329C0EEF-47D1-861D-7D93-1154E9205654}"/>
              </a:ext>
            </a:extLst>
          </p:cNvPr>
          <p:cNvSpPr>
            <a:spLocks noGrp="1"/>
          </p:cNvSpPr>
          <p:nvPr>
            <p:ph idx="1"/>
          </p:nvPr>
        </p:nvSpPr>
        <p:spPr>
          <a:xfrm>
            <a:off x="804672" y="2858703"/>
            <a:ext cx="4475892" cy="3042547"/>
          </a:xfrm>
        </p:spPr>
        <p:txBody>
          <a:bodyPr>
            <a:normAutofit/>
          </a:bodyPr>
          <a:lstStyle/>
          <a:p>
            <a:pPr marL="342900" indent="-342900">
              <a:buClr>
                <a:schemeClr val="bg1"/>
              </a:buClr>
              <a:buFont typeface="+mj-lt"/>
              <a:buAutoNum type="arabicPeriod"/>
            </a:pPr>
            <a:r>
              <a:rPr lang="en-US" dirty="0">
                <a:solidFill>
                  <a:srgbClr val="FFFFFF"/>
                </a:solidFill>
              </a:rPr>
              <a:t>Requirement Gathering</a:t>
            </a:r>
          </a:p>
          <a:p>
            <a:pPr marL="342900" indent="-342900">
              <a:buClr>
                <a:schemeClr val="bg1"/>
              </a:buClr>
              <a:buFont typeface="+mj-lt"/>
              <a:buAutoNum type="arabicPeriod"/>
            </a:pPr>
            <a:r>
              <a:rPr lang="en-US" dirty="0">
                <a:solidFill>
                  <a:srgbClr val="FFFFFF"/>
                </a:solidFill>
              </a:rPr>
              <a:t>Planning</a:t>
            </a:r>
          </a:p>
          <a:p>
            <a:pPr marL="342900" indent="-342900">
              <a:buClr>
                <a:schemeClr val="bg1"/>
              </a:buClr>
              <a:buFont typeface="+mj-lt"/>
              <a:buAutoNum type="arabicPeriod"/>
            </a:pPr>
            <a:r>
              <a:rPr lang="en-US" dirty="0">
                <a:solidFill>
                  <a:srgbClr val="FFFFFF"/>
                </a:solidFill>
              </a:rPr>
              <a:t>Design/Prototyping</a:t>
            </a:r>
          </a:p>
          <a:p>
            <a:pPr marL="342900" indent="-342900">
              <a:buClr>
                <a:schemeClr val="bg1"/>
              </a:buClr>
              <a:buFont typeface="+mj-lt"/>
              <a:buAutoNum type="arabicPeriod"/>
            </a:pPr>
            <a:r>
              <a:rPr lang="en-US" dirty="0">
                <a:solidFill>
                  <a:srgbClr val="FFFFFF"/>
                </a:solidFill>
              </a:rPr>
              <a:t>Implement/Development</a:t>
            </a:r>
          </a:p>
          <a:p>
            <a:pPr marL="342900" indent="-342900">
              <a:buClr>
                <a:schemeClr val="bg1"/>
              </a:buClr>
              <a:buFont typeface="+mj-lt"/>
              <a:buAutoNum type="arabicPeriod"/>
            </a:pPr>
            <a:r>
              <a:rPr lang="en-US" dirty="0">
                <a:solidFill>
                  <a:srgbClr val="FFFFFF"/>
                </a:solidFill>
              </a:rPr>
              <a:t>Testing</a:t>
            </a:r>
          </a:p>
          <a:p>
            <a:pPr marL="342900" indent="-342900">
              <a:buClr>
                <a:schemeClr val="bg1"/>
              </a:buClr>
              <a:buFont typeface="+mj-lt"/>
              <a:buAutoNum type="arabicPeriod"/>
            </a:pPr>
            <a:r>
              <a:rPr lang="en-US" dirty="0">
                <a:solidFill>
                  <a:srgbClr val="FFFFFF"/>
                </a:solidFill>
              </a:rPr>
              <a:t>Deploy</a:t>
            </a:r>
          </a:p>
          <a:p>
            <a:pPr marL="342900" indent="-342900">
              <a:buClr>
                <a:schemeClr val="bg1"/>
              </a:buClr>
              <a:buFont typeface="+mj-lt"/>
              <a:buAutoNum type="arabicPeriod"/>
            </a:pPr>
            <a:r>
              <a:rPr lang="en-US" dirty="0">
                <a:solidFill>
                  <a:srgbClr val="FFFFFF"/>
                </a:solidFill>
              </a:rPr>
              <a:t>Maintenance</a:t>
            </a:r>
          </a:p>
        </p:txBody>
      </p:sp>
      <p:sp>
        <p:nvSpPr>
          <p:cNvPr id="22" name="Rectangle 21">
            <a:extLst>
              <a:ext uri="{FF2B5EF4-FFF2-40B4-BE49-F238E27FC236}">
                <a16:creationId xmlns:a16="http://schemas.microsoft.com/office/drawing/2014/main" id="{B5899359-8523-4D4D-B568-3FDFAF982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3032" y="640080"/>
            <a:ext cx="4818888" cy="5261170"/>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2E9C9585-DA89-4D7E-BCDF-576461A1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7586" y="806357"/>
            <a:ext cx="4511266" cy="492861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Content Placeholder 4" descr="A diagram of software development life cycle&#10;&#10;Description automatically generated">
            <a:extLst>
              <a:ext uri="{FF2B5EF4-FFF2-40B4-BE49-F238E27FC236}">
                <a16:creationId xmlns:a16="http://schemas.microsoft.com/office/drawing/2014/main" id="{4E750500-F676-57C4-7216-7489F11342F1}"/>
              </a:ext>
            </a:extLst>
          </p:cNvPr>
          <p:cNvPicPr>
            <a:picLocks noChangeAspect="1"/>
          </p:cNvPicPr>
          <p:nvPr/>
        </p:nvPicPr>
        <p:blipFill>
          <a:blip r:embed="rId3"/>
          <a:stretch>
            <a:fillRect/>
          </a:stretch>
        </p:blipFill>
        <p:spPr>
          <a:xfrm>
            <a:off x="7064692" y="1190881"/>
            <a:ext cx="4159568" cy="4159568"/>
          </a:xfrm>
          <a:prstGeom prst="rect">
            <a:avLst/>
          </a:prstGeom>
        </p:spPr>
      </p:pic>
    </p:spTree>
    <p:extLst>
      <p:ext uri="{BB962C8B-B14F-4D97-AF65-F5344CB8AC3E}">
        <p14:creationId xmlns:p14="http://schemas.microsoft.com/office/powerpoint/2010/main" val="183915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231136" y="467418"/>
            <a:ext cx="7729728" cy="1188720"/>
          </a:xfrm>
          <a:solidFill>
            <a:srgbClr val="FFFFFF"/>
          </a:solidFill>
        </p:spPr>
        <p:txBody>
          <a:bodyPr>
            <a:normAutofit/>
          </a:bodyPr>
          <a:lstStyle/>
          <a:p>
            <a:r>
              <a:rPr lang="en-US" sz="2800" dirty="0"/>
              <a:t>Software Development Lifecycle (SDLC) AS QA</a:t>
            </a:r>
            <a:endParaRPr lang="en-US" dirty="0"/>
          </a:p>
        </p:txBody>
      </p:sp>
      <p:sp>
        <p:nvSpPr>
          <p:cNvPr id="3" name="Content Placeholder 2"/>
          <p:cNvSpPr>
            <a:spLocks noGrp="1"/>
          </p:cNvSpPr>
          <p:nvPr>
            <p:ph idx="1"/>
          </p:nvPr>
        </p:nvSpPr>
        <p:spPr>
          <a:xfrm>
            <a:off x="1706062" y="2291262"/>
            <a:ext cx="8779512" cy="2879256"/>
          </a:xfrm>
        </p:spPr>
        <p:txBody>
          <a:bodyPr>
            <a:normAutofit/>
          </a:bodyPr>
          <a:lstStyle/>
          <a:p>
            <a:r>
              <a:rPr lang="en-US" b="1" dirty="0">
                <a:solidFill>
                  <a:srgbClr val="404040"/>
                </a:solidFill>
              </a:rPr>
              <a:t>Requirement Gathering</a:t>
            </a:r>
          </a:p>
          <a:p>
            <a:pPr lvl="1"/>
            <a:r>
              <a:rPr lang="en-US" dirty="0">
                <a:solidFill>
                  <a:srgbClr val="404040"/>
                </a:solidFill>
              </a:rPr>
              <a:t>Activities:  </a:t>
            </a:r>
            <a:r>
              <a:rPr lang="en-US" dirty="0"/>
              <a:t>Analyze business and functional requirements, Identify ambiguities</a:t>
            </a:r>
            <a:endParaRPr lang="en-US" dirty="0">
              <a:solidFill>
                <a:srgbClr val="404040"/>
              </a:solidFill>
            </a:endParaRPr>
          </a:p>
          <a:p>
            <a:pPr lvl="1"/>
            <a:r>
              <a:rPr lang="en-US" dirty="0">
                <a:solidFill>
                  <a:srgbClr val="404040"/>
                </a:solidFill>
              </a:rPr>
              <a:t>Deliverables: </a:t>
            </a:r>
            <a:r>
              <a:rPr lang="en-US" dirty="0"/>
              <a:t>Requirement Traceability Matrix (RTM)</a:t>
            </a:r>
            <a:endParaRPr lang="en-US" dirty="0">
              <a:solidFill>
                <a:srgbClr val="404040"/>
              </a:solidFill>
            </a:endParaRPr>
          </a:p>
          <a:p>
            <a:r>
              <a:rPr lang="en-US" b="1" dirty="0">
                <a:solidFill>
                  <a:srgbClr val="404040"/>
                </a:solidFill>
              </a:rPr>
              <a:t>Planning</a:t>
            </a:r>
          </a:p>
          <a:p>
            <a:pPr lvl="1"/>
            <a:r>
              <a:rPr lang="en-US" dirty="0">
                <a:solidFill>
                  <a:srgbClr val="404040"/>
                </a:solidFill>
              </a:rPr>
              <a:t>Activities: </a:t>
            </a:r>
            <a:r>
              <a:rPr lang="en-US" dirty="0"/>
              <a:t>Develop the overall test plan, identify test resources, timelines, and scope, Risk assessment</a:t>
            </a:r>
            <a:endParaRPr lang="en-US" dirty="0">
              <a:solidFill>
                <a:srgbClr val="404040"/>
              </a:solidFill>
            </a:endParaRPr>
          </a:p>
          <a:p>
            <a:pPr lvl="1"/>
            <a:r>
              <a:rPr lang="en-US" dirty="0">
                <a:solidFill>
                  <a:srgbClr val="404040"/>
                </a:solidFill>
              </a:rPr>
              <a:t>Deliverables:  </a:t>
            </a:r>
            <a:r>
              <a:rPr lang="en-US" dirty="0"/>
              <a:t>Test Strategy/Plan, Test Estimations, Risk Mitigation Plan</a:t>
            </a:r>
            <a:endParaRPr lang="en-US" dirty="0">
              <a:solidFill>
                <a:srgbClr val="404040"/>
              </a:solidFill>
            </a:endParaRPr>
          </a:p>
        </p:txBody>
      </p:sp>
    </p:spTree>
    <p:extLst>
      <p:ext uri="{BB962C8B-B14F-4D97-AF65-F5344CB8AC3E}">
        <p14:creationId xmlns:p14="http://schemas.microsoft.com/office/powerpoint/2010/main" val="3097217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654E21-43FD-E6D1-8322-C41EB7E2FFC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3228C3A-C122-871C-F900-1B21B8AE7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B1F195D-5A01-F1BD-D484-585C8AAD9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A721D09-9F11-00E5-5039-DB13C4005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80EDE3A-809C-D52F-5C1E-49897C525395}"/>
              </a:ext>
            </a:extLst>
          </p:cNvPr>
          <p:cNvSpPr>
            <a:spLocks noGrp="1"/>
          </p:cNvSpPr>
          <p:nvPr>
            <p:ph type="title"/>
          </p:nvPr>
        </p:nvSpPr>
        <p:spPr>
          <a:xfrm>
            <a:off x="2231136" y="467418"/>
            <a:ext cx="7729728" cy="1188720"/>
          </a:xfrm>
          <a:solidFill>
            <a:srgbClr val="FFFFFF"/>
          </a:solidFill>
        </p:spPr>
        <p:txBody>
          <a:bodyPr>
            <a:normAutofit/>
          </a:bodyPr>
          <a:lstStyle/>
          <a:p>
            <a:r>
              <a:rPr lang="en-US" sz="2800" dirty="0"/>
              <a:t>Software Development Lifecycle (SDLC) AS QA</a:t>
            </a:r>
            <a:endParaRPr lang="en-US" dirty="0"/>
          </a:p>
        </p:txBody>
      </p:sp>
      <p:sp>
        <p:nvSpPr>
          <p:cNvPr id="3" name="Content Placeholder 2">
            <a:extLst>
              <a:ext uri="{FF2B5EF4-FFF2-40B4-BE49-F238E27FC236}">
                <a16:creationId xmlns:a16="http://schemas.microsoft.com/office/drawing/2014/main" id="{4DC58EEF-CFD7-7BD5-4F4C-CB8860A00A68}"/>
              </a:ext>
            </a:extLst>
          </p:cNvPr>
          <p:cNvSpPr>
            <a:spLocks noGrp="1"/>
          </p:cNvSpPr>
          <p:nvPr>
            <p:ph idx="1"/>
          </p:nvPr>
        </p:nvSpPr>
        <p:spPr>
          <a:xfrm>
            <a:off x="1706062" y="2291262"/>
            <a:ext cx="8779512" cy="2879256"/>
          </a:xfrm>
        </p:spPr>
        <p:txBody>
          <a:bodyPr>
            <a:normAutofit/>
          </a:bodyPr>
          <a:lstStyle/>
          <a:p>
            <a:r>
              <a:rPr lang="en-US" b="1" dirty="0">
                <a:solidFill>
                  <a:srgbClr val="404040"/>
                </a:solidFill>
              </a:rPr>
              <a:t>Design/Prototyping</a:t>
            </a:r>
          </a:p>
          <a:p>
            <a:pPr lvl="1"/>
            <a:r>
              <a:rPr lang="en-US" dirty="0">
                <a:solidFill>
                  <a:srgbClr val="404040"/>
                </a:solidFill>
              </a:rPr>
              <a:t>Activities: </a:t>
            </a:r>
            <a:r>
              <a:rPr lang="en-US" dirty="0"/>
              <a:t>Review design documents, Identify test scenarios based on design</a:t>
            </a:r>
            <a:endParaRPr lang="en-US" dirty="0">
              <a:solidFill>
                <a:srgbClr val="404040"/>
              </a:solidFill>
            </a:endParaRPr>
          </a:p>
          <a:p>
            <a:pPr lvl="1"/>
            <a:r>
              <a:rPr lang="en-US" dirty="0">
                <a:solidFill>
                  <a:srgbClr val="404040"/>
                </a:solidFill>
              </a:rPr>
              <a:t>Deliverables:  </a:t>
            </a:r>
            <a:r>
              <a:rPr lang="en-US" dirty="0"/>
              <a:t>Test Scenarios, Test Cases based on high-level design and requirements</a:t>
            </a:r>
            <a:endParaRPr lang="en-US" dirty="0">
              <a:solidFill>
                <a:srgbClr val="404040"/>
              </a:solidFill>
            </a:endParaRPr>
          </a:p>
          <a:p>
            <a:r>
              <a:rPr lang="en-US" b="1" dirty="0">
                <a:solidFill>
                  <a:srgbClr val="404040"/>
                </a:solidFill>
              </a:rPr>
              <a:t>Implement/Development</a:t>
            </a:r>
          </a:p>
          <a:p>
            <a:pPr lvl="1"/>
            <a:r>
              <a:rPr lang="en-US" dirty="0">
                <a:solidFill>
                  <a:srgbClr val="404040"/>
                </a:solidFill>
              </a:rPr>
              <a:t>Activities: </a:t>
            </a:r>
            <a:r>
              <a:rPr lang="en-US" dirty="0"/>
              <a:t>QA begins creating detailed test cases, Define test environment, and prepare test data</a:t>
            </a:r>
            <a:endParaRPr lang="en-US" dirty="0">
              <a:solidFill>
                <a:srgbClr val="404040"/>
              </a:solidFill>
            </a:endParaRPr>
          </a:p>
          <a:p>
            <a:pPr lvl="1"/>
            <a:r>
              <a:rPr lang="en-US" dirty="0">
                <a:solidFill>
                  <a:srgbClr val="404040"/>
                </a:solidFill>
              </a:rPr>
              <a:t>Deliverables: </a:t>
            </a:r>
            <a:r>
              <a:rPr lang="en-US" dirty="0"/>
              <a:t>- Detailed Test Cases, Test Data</a:t>
            </a:r>
            <a:endParaRPr lang="en-US" dirty="0">
              <a:solidFill>
                <a:srgbClr val="404040"/>
              </a:solidFill>
            </a:endParaRPr>
          </a:p>
        </p:txBody>
      </p:sp>
    </p:spTree>
    <p:extLst>
      <p:ext uri="{BB962C8B-B14F-4D97-AF65-F5344CB8AC3E}">
        <p14:creationId xmlns:p14="http://schemas.microsoft.com/office/powerpoint/2010/main" val="261197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C0617-DF36-4C80-1762-08B55C98F54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0E516C6-323C-2DBF-C3F2-8705F32E1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CB5B432-56CB-6916-8A5F-A2D0192DC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CFFB6E3-F1BD-3A9A-C92B-3879980773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4C1C6A-6DCD-6504-D877-FE98BBC687AA}"/>
              </a:ext>
            </a:extLst>
          </p:cNvPr>
          <p:cNvSpPr>
            <a:spLocks noGrp="1"/>
          </p:cNvSpPr>
          <p:nvPr>
            <p:ph type="title"/>
          </p:nvPr>
        </p:nvSpPr>
        <p:spPr>
          <a:xfrm>
            <a:off x="2231136" y="467418"/>
            <a:ext cx="7729728" cy="1188720"/>
          </a:xfrm>
          <a:solidFill>
            <a:srgbClr val="FFFFFF"/>
          </a:solidFill>
        </p:spPr>
        <p:txBody>
          <a:bodyPr>
            <a:normAutofit/>
          </a:bodyPr>
          <a:lstStyle/>
          <a:p>
            <a:r>
              <a:rPr lang="en-US" sz="2800" dirty="0"/>
              <a:t>Software Development Lifecycle (SDLC) AS QA</a:t>
            </a:r>
            <a:endParaRPr lang="en-US" dirty="0"/>
          </a:p>
        </p:txBody>
      </p:sp>
      <p:sp>
        <p:nvSpPr>
          <p:cNvPr id="3" name="Content Placeholder 2">
            <a:extLst>
              <a:ext uri="{FF2B5EF4-FFF2-40B4-BE49-F238E27FC236}">
                <a16:creationId xmlns:a16="http://schemas.microsoft.com/office/drawing/2014/main" id="{818ADB78-94EA-50A5-0EAE-8495F243D5EB}"/>
              </a:ext>
            </a:extLst>
          </p:cNvPr>
          <p:cNvSpPr>
            <a:spLocks noGrp="1"/>
          </p:cNvSpPr>
          <p:nvPr>
            <p:ph idx="1"/>
          </p:nvPr>
        </p:nvSpPr>
        <p:spPr>
          <a:xfrm>
            <a:off x="1706062" y="2291262"/>
            <a:ext cx="8779512" cy="2879256"/>
          </a:xfrm>
        </p:spPr>
        <p:txBody>
          <a:bodyPr>
            <a:normAutofit/>
          </a:bodyPr>
          <a:lstStyle/>
          <a:p>
            <a:r>
              <a:rPr lang="en-US" b="1" dirty="0">
                <a:solidFill>
                  <a:srgbClr val="404040"/>
                </a:solidFill>
              </a:rPr>
              <a:t>Testing</a:t>
            </a:r>
          </a:p>
          <a:p>
            <a:pPr lvl="1"/>
            <a:r>
              <a:rPr lang="en-US" dirty="0">
                <a:solidFill>
                  <a:srgbClr val="404040"/>
                </a:solidFill>
              </a:rPr>
              <a:t>Activities: </a:t>
            </a:r>
            <a:r>
              <a:rPr lang="en-US" dirty="0"/>
              <a:t>Execute test cases (manual/automated), Perform different types of testing</a:t>
            </a:r>
            <a:endParaRPr lang="en-US" dirty="0">
              <a:solidFill>
                <a:srgbClr val="404040"/>
              </a:solidFill>
            </a:endParaRPr>
          </a:p>
          <a:p>
            <a:pPr lvl="1"/>
            <a:r>
              <a:rPr lang="en-US" dirty="0">
                <a:solidFill>
                  <a:srgbClr val="404040"/>
                </a:solidFill>
              </a:rPr>
              <a:t>Deliverables:  </a:t>
            </a:r>
            <a:r>
              <a:rPr lang="en-US" dirty="0"/>
              <a:t>Test Execution Report, Defect Logs, Test Summary Report</a:t>
            </a:r>
            <a:endParaRPr lang="en-US" dirty="0">
              <a:solidFill>
                <a:srgbClr val="404040"/>
              </a:solidFill>
            </a:endParaRPr>
          </a:p>
          <a:p>
            <a:r>
              <a:rPr lang="en-US" b="1" dirty="0">
                <a:solidFill>
                  <a:srgbClr val="404040"/>
                </a:solidFill>
              </a:rPr>
              <a:t>Deployment</a:t>
            </a:r>
          </a:p>
          <a:p>
            <a:pPr lvl="1"/>
            <a:r>
              <a:rPr lang="en-US" dirty="0">
                <a:solidFill>
                  <a:srgbClr val="404040"/>
                </a:solidFill>
              </a:rPr>
              <a:t>Activities: </a:t>
            </a:r>
            <a:r>
              <a:rPr lang="en-US" dirty="0"/>
              <a:t>Conduct smoke testing,  Verify that the system is stable and functioning in the production environment</a:t>
            </a:r>
            <a:endParaRPr lang="en-US" dirty="0">
              <a:solidFill>
                <a:srgbClr val="404040"/>
              </a:solidFill>
            </a:endParaRPr>
          </a:p>
          <a:p>
            <a:pPr lvl="1"/>
            <a:r>
              <a:rPr lang="en-US" dirty="0">
                <a:solidFill>
                  <a:srgbClr val="404040"/>
                </a:solidFill>
              </a:rPr>
              <a:t>Deliverables: </a:t>
            </a:r>
            <a:r>
              <a:rPr lang="en-US" dirty="0"/>
              <a:t>Smoke Test Results, Go/No-Go Decision</a:t>
            </a:r>
            <a:endParaRPr lang="en-US" dirty="0">
              <a:solidFill>
                <a:srgbClr val="404040"/>
              </a:solidFill>
            </a:endParaRPr>
          </a:p>
        </p:txBody>
      </p:sp>
    </p:spTree>
    <p:extLst>
      <p:ext uri="{BB962C8B-B14F-4D97-AF65-F5344CB8AC3E}">
        <p14:creationId xmlns:p14="http://schemas.microsoft.com/office/powerpoint/2010/main" val="141410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96901A-A4AE-A62C-51F9-28D7EF1CD2E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CA2F44C-D338-1DAC-B19F-48D5FB2B57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A1950CF-5881-1DDD-8381-20234D3BCD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0D5A76DF-8FD3-BC82-B10B-B9CA3BCAA2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CCF3AC-E5B6-AD47-4485-C254DA677D58}"/>
              </a:ext>
            </a:extLst>
          </p:cNvPr>
          <p:cNvSpPr>
            <a:spLocks noGrp="1"/>
          </p:cNvSpPr>
          <p:nvPr>
            <p:ph type="title"/>
          </p:nvPr>
        </p:nvSpPr>
        <p:spPr>
          <a:xfrm>
            <a:off x="2231136" y="467418"/>
            <a:ext cx="7729728" cy="1188720"/>
          </a:xfrm>
          <a:solidFill>
            <a:srgbClr val="FFFFFF"/>
          </a:solidFill>
        </p:spPr>
        <p:txBody>
          <a:bodyPr>
            <a:normAutofit/>
          </a:bodyPr>
          <a:lstStyle/>
          <a:p>
            <a:r>
              <a:rPr lang="en-US" sz="2800" dirty="0"/>
              <a:t>Software Development Lifecycle (SDLC) AS QA</a:t>
            </a:r>
            <a:endParaRPr lang="en-US" dirty="0"/>
          </a:p>
        </p:txBody>
      </p:sp>
      <p:sp>
        <p:nvSpPr>
          <p:cNvPr id="3" name="Content Placeholder 2">
            <a:extLst>
              <a:ext uri="{FF2B5EF4-FFF2-40B4-BE49-F238E27FC236}">
                <a16:creationId xmlns:a16="http://schemas.microsoft.com/office/drawing/2014/main" id="{803E7CBA-B592-18FE-15AD-B989084C1960}"/>
              </a:ext>
            </a:extLst>
          </p:cNvPr>
          <p:cNvSpPr>
            <a:spLocks noGrp="1"/>
          </p:cNvSpPr>
          <p:nvPr>
            <p:ph idx="1"/>
          </p:nvPr>
        </p:nvSpPr>
        <p:spPr>
          <a:xfrm>
            <a:off x="1706062" y="2291262"/>
            <a:ext cx="8779512" cy="2879256"/>
          </a:xfrm>
        </p:spPr>
        <p:txBody>
          <a:bodyPr>
            <a:normAutofit/>
          </a:bodyPr>
          <a:lstStyle/>
          <a:p>
            <a:r>
              <a:rPr lang="en-US" b="1" dirty="0">
                <a:solidFill>
                  <a:srgbClr val="404040"/>
                </a:solidFill>
              </a:rPr>
              <a:t>Maintenance</a:t>
            </a:r>
          </a:p>
          <a:p>
            <a:pPr lvl="1"/>
            <a:r>
              <a:rPr lang="en-US" dirty="0">
                <a:solidFill>
                  <a:srgbClr val="404040"/>
                </a:solidFill>
              </a:rPr>
              <a:t>Activities: </a:t>
            </a:r>
            <a:r>
              <a:rPr lang="en-US" dirty="0"/>
              <a:t>Perform regression testing for patches and updates, Monitor system for issues post-deployment</a:t>
            </a:r>
            <a:endParaRPr lang="en-US" dirty="0">
              <a:solidFill>
                <a:srgbClr val="404040"/>
              </a:solidFill>
            </a:endParaRPr>
          </a:p>
          <a:p>
            <a:pPr lvl="1"/>
            <a:r>
              <a:rPr lang="en-US" dirty="0">
                <a:solidFill>
                  <a:srgbClr val="404040"/>
                </a:solidFill>
              </a:rPr>
              <a:t>Deliverables: </a:t>
            </a:r>
            <a:r>
              <a:rPr lang="en-US" dirty="0"/>
              <a:t>Post-Production Test Reports, Regression Test Results</a:t>
            </a:r>
            <a:endParaRPr lang="en-US" dirty="0">
              <a:solidFill>
                <a:srgbClr val="404040"/>
              </a:solidFill>
            </a:endParaRPr>
          </a:p>
        </p:txBody>
      </p:sp>
    </p:spTree>
    <p:extLst>
      <p:ext uri="{BB962C8B-B14F-4D97-AF65-F5344CB8AC3E}">
        <p14:creationId xmlns:p14="http://schemas.microsoft.com/office/powerpoint/2010/main" val="1218335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F3FC5CB-A570-D11A-20E8-77D618E1E367}"/>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4A9500-3654-5F3B-1405-311B02B37F90}"/>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sz="2400" dirty="0">
                <a:solidFill>
                  <a:schemeClr val="bg1"/>
                </a:solidFill>
              </a:rPr>
              <a:t>Software Testing Lifecycle (STLC)</a:t>
            </a:r>
          </a:p>
        </p:txBody>
      </p:sp>
      <p:sp>
        <p:nvSpPr>
          <p:cNvPr id="17" name="Content Placeholder 16">
            <a:extLst>
              <a:ext uri="{FF2B5EF4-FFF2-40B4-BE49-F238E27FC236}">
                <a16:creationId xmlns:a16="http://schemas.microsoft.com/office/drawing/2014/main" id="{30613C25-DB5B-8EA2-A429-473B87B317F6}"/>
              </a:ext>
            </a:extLst>
          </p:cNvPr>
          <p:cNvSpPr>
            <a:spLocks noGrp="1"/>
          </p:cNvSpPr>
          <p:nvPr>
            <p:ph idx="1"/>
          </p:nvPr>
        </p:nvSpPr>
        <p:spPr>
          <a:xfrm>
            <a:off x="643468" y="2638044"/>
            <a:ext cx="3363974" cy="3415622"/>
          </a:xfrm>
        </p:spPr>
        <p:txBody>
          <a:bodyPr>
            <a:normAutofit/>
          </a:bodyPr>
          <a:lstStyle/>
          <a:p>
            <a:pPr marL="342900" indent="-342900">
              <a:buClr>
                <a:schemeClr val="bg1"/>
              </a:buClr>
              <a:buFont typeface="+mj-lt"/>
              <a:buAutoNum type="arabicPeriod"/>
            </a:pPr>
            <a:r>
              <a:rPr lang="en-US" dirty="0">
                <a:solidFill>
                  <a:schemeClr val="bg1"/>
                </a:solidFill>
              </a:rPr>
              <a:t>Requirement Analysis</a:t>
            </a:r>
          </a:p>
          <a:p>
            <a:pPr marL="342900" indent="-342900">
              <a:buClr>
                <a:schemeClr val="bg1"/>
              </a:buClr>
              <a:buFont typeface="+mj-lt"/>
              <a:buAutoNum type="arabicPeriod"/>
            </a:pPr>
            <a:r>
              <a:rPr lang="en-US" dirty="0">
                <a:solidFill>
                  <a:schemeClr val="bg1"/>
                </a:solidFill>
              </a:rPr>
              <a:t>Test Planning</a:t>
            </a:r>
          </a:p>
          <a:p>
            <a:pPr marL="342900" indent="-342900">
              <a:buClr>
                <a:schemeClr val="bg1"/>
              </a:buClr>
              <a:buFont typeface="+mj-lt"/>
              <a:buAutoNum type="arabicPeriod"/>
            </a:pPr>
            <a:r>
              <a:rPr lang="en-US" dirty="0">
                <a:solidFill>
                  <a:schemeClr val="bg1"/>
                </a:solidFill>
              </a:rPr>
              <a:t>Test Case Development</a:t>
            </a:r>
          </a:p>
          <a:p>
            <a:pPr marL="342900" indent="-342900">
              <a:buClr>
                <a:schemeClr val="bg1"/>
              </a:buClr>
              <a:buFont typeface="+mj-lt"/>
              <a:buAutoNum type="arabicPeriod"/>
            </a:pPr>
            <a:r>
              <a:rPr lang="en-US" dirty="0">
                <a:solidFill>
                  <a:schemeClr val="bg1"/>
                </a:solidFill>
              </a:rPr>
              <a:t>Environment Setup</a:t>
            </a:r>
          </a:p>
          <a:p>
            <a:pPr marL="342900" indent="-342900">
              <a:buClr>
                <a:schemeClr val="bg1"/>
              </a:buClr>
              <a:buFont typeface="+mj-lt"/>
              <a:buAutoNum type="arabicPeriod"/>
            </a:pPr>
            <a:r>
              <a:rPr lang="en-US" dirty="0">
                <a:solidFill>
                  <a:schemeClr val="bg1"/>
                </a:solidFill>
              </a:rPr>
              <a:t>Test Execution</a:t>
            </a:r>
          </a:p>
          <a:p>
            <a:pPr marL="342900" indent="-342900">
              <a:buClr>
                <a:schemeClr val="bg1"/>
              </a:buClr>
              <a:buFont typeface="+mj-lt"/>
              <a:buAutoNum type="arabicPeriod"/>
            </a:pPr>
            <a:r>
              <a:rPr lang="en-US" dirty="0">
                <a:solidFill>
                  <a:schemeClr val="bg1"/>
                </a:solidFill>
              </a:rPr>
              <a:t>Test Cycle Closure</a:t>
            </a:r>
          </a:p>
        </p:txBody>
      </p:sp>
      <p:pic>
        <p:nvPicPr>
          <p:cNvPr id="5" name="Content Placeholder 4" descr="A diagram of software testing life cycle&#10;&#10;Description automatically generated">
            <a:extLst>
              <a:ext uri="{FF2B5EF4-FFF2-40B4-BE49-F238E27FC236}">
                <a16:creationId xmlns:a16="http://schemas.microsoft.com/office/drawing/2014/main" id="{75038DD0-F269-EAB2-74FB-E4C2547199AC}"/>
              </a:ext>
            </a:extLst>
          </p:cNvPr>
          <p:cNvPicPr>
            <a:picLocks noChangeAspect="1"/>
          </p:cNvPicPr>
          <p:nvPr/>
        </p:nvPicPr>
        <p:blipFill>
          <a:blip r:embed="rId3"/>
          <a:stretch/>
        </p:blipFill>
        <p:spPr>
          <a:xfrm>
            <a:off x="5297763" y="1160797"/>
            <a:ext cx="6250769" cy="4375538"/>
          </a:xfrm>
          <a:prstGeom prst="rect">
            <a:avLst/>
          </a:prstGeom>
        </p:spPr>
      </p:pic>
    </p:spTree>
    <p:extLst>
      <p:ext uri="{BB962C8B-B14F-4D97-AF65-F5344CB8AC3E}">
        <p14:creationId xmlns:p14="http://schemas.microsoft.com/office/powerpoint/2010/main" val="4134714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A4F49AB-07D6-4A07-2284-37C1664A636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535ABB-B20E-4398-2A67-79D92BB0DF00}"/>
              </a:ext>
            </a:extLst>
          </p:cNvPr>
          <p:cNvSpPr>
            <a:spLocks noGrp="1"/>
          </p:cNvSpPr>
          <p:nvPr>
            <p:ph type="title"/>
          </p:nvPr>
        </p:nvSpPr>
        <p:spPr>
          <a:xfrm>
            <a:off x="643467" y="643467"/>
            <a:ext cx="3363974" cy="1728044"/>
          </a:xfrm>
          <a:noFill/>
          <a:ln>
            <a:solidFill>
              <a:schemeClr val="bg1"/>
            </a:solidFill>
          </a:ln>
        </p:spPr>
        <p:txBody>
          <a:bodyPr vert="horz" wrap="square" lIns="182880" tIns="182880" rIns="182880" bIns="182880" rtlCol="0" anchor="ctr">
            <a:normAutofit/>
          </a:bodyPr>
          <a:lstStyle/>
          <a:p>
            <a:r>
              <a:rPr lang="en-US" sz="2400" dirty="0">
                <a:solidFill>
                  <a:schemeClr val="bg1"/>
                </a:solidFill>
              </a:rPr>
              <a:t>Software Testing Lifecycle (STLC)</a:t>
            </a:r>
          </a:p>
        </p:txBody>
      </p:sp>
      <p:sp>
        <p:nvSpPr>
          <p:cNvPr id="5" name="Rectangle 1">
            <a:extLst>
              <a:ext uri="{FF2B5EF4-FFF2-40B4-BE49-F238E27FC236}">
                <a16:creationId xmlns:a16="http://schemas.microsoft.com/office/drawing/2014/main" id="{45958E9A-6DE3-14DD-9A98-BA377B610D63}"/>
              </a:ext>
            </a:extLst>
          </p:cNvPr>
          <p:cNvSpPr>
            <a:spLocks noChangeArrowheads="1"/>
          </p:cNvSpPr>
          <p:nvPr/>
        </p:nvSpPr>
        <p:spPr bwMode="auto">
          <a:xfrm>
            <a:off x="643468" y="2638044"/>
            <a:ext cx="3363974" cy="341562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defTabSz="914400" fontAlgn="base">
              <a:spcBef>
                <a:spcPts val="1000"/>
              </a:spcBef>
              <a:spcAft>
                <a:spcPct val="0"/>
              </a:spcAft>
              <a:buClr>
                <a:schemeClr val="accent2"/>
              </a:buClr>
              <a:buSzTx/>
              <a:buFont typeface="Arial" panose="020B0604020202020204" pitchFamily="34" charset="0"/>
              <a:buChar char="•"/>
              <a:tabLst/>
            </a:pPr>
            <a:r>
              <a:rPr kumimoji="0" lang="en-US" altLang="en-US" b="1" i="0" u="none" strike="noStrike" cap="none" normalizeH="0" baseline="0" dirty="0">
                <a:ln>
                  <a:noFill/>
                </a:ln>
                <a:solidFill>
                  <a:schemeClr val="bg1"/>
                </a:solidFill>
                <a:effectLst/>
              </a:rPr>
              <a:t>Summary of STLC Phases</a:t>
            </a:r>
          </a:p>
          <a:p>
            <a:pPr marL="0" marR="0" lvl="0" indent="-228600" defTabSz="914400" fontAlgn="base">
              <a:spcBef>
                <a:spcPts val="1000"/>
              </a:spcBef>
              <a:spcAft>
                <a:spcPct val="0"/>
              </a:spcAft>
              <a:buClr>
                <a:schemeClr val="accent2"/>
              </a:buClr>
              <a:buSzTx/>
              <a:buFont typeface="Arial" panose="020B0604020202020204" pitchFamily="34" charset="0"/>
              <a:buChar char="•"/>
              <a:tabLst/>
            </a:pPr>
            <a:endParaRPr kumimoji="0" lang="en-US" altLang="en-US" b="0" i="0" u="none" strike="noStrike" cap="none" normalizeH="0" baseline="0" dirty="0">
              <a:ln>
                <a:noFill/>
              </a:ln>
              <a:solidFill>
                <a:schemeClr val="bg1"/>
              </a:solidFill>
              <a:effectLst/>
            </a:endParaRPr>
          </a:p>
        </p:txBody>
      </p:sp>
      <p:graphicFrame>
        <p:nvGraphicFramePr>
          <p:cNvPr id="4" name="Content Placeholder 3">
            <a:extLst>
              <a:ext uri="{FF2B5EF4-FFF2-40B4-BE49-F238E27FC236}">
                <a16:creationId xmlns:a16="http://schemas.microsoft.com/office/drawing/2014/main" id="{A37B6D2B-40BD-55EC-1284-EC7156F389DB}"/>
              </a:ext>
            </a:extLst>
          </p:cNvPr>
          <p:cNvGraphicFramePr>
            <a:graphicFrameLocks noGrp="1"/>
          </p:cNvGraphicFramePr>
          <p:nvPr>
            <p:ph idx="1"/>
            <p:extLst>
              <p:ext uri="{D42A27DB-BD31-4B8C-83A1-F6EECF244321}">
                <p14:modId xmlns:p14="http://schemas.microsoft.com/office/powerpoint/2010/main" val="3586377591"/>
              </p:ext>
            </p:extLst>
          </p:nvPr>
        </p:nvGraphicFramePr>
        <p:xfrm>
          <a:off x="5297763" y="643466"/>
          <a:ext cx="6340055" cy="5410197"/>
        </p:xfrm>
        <a:graphic>
          <a:graphicData uri="http://schemas.openxmlformats.org/drawingml/2006/table">
            <a:tbl>
              <a:tblPr/>
              <a:tblGrid>
                <a:gridCol w="1919565">
                  <a:extLst>
                    <a:ext uri="{9D8B030D-6E8A-4147-A177-3AD203B41FA5}">
                      <a16:colId xmlns:a16="http://schemas.microsoft.com/office/drawing/2014/main" val="4023535640"/>
                    </a:ext>
                  </a:extLst>
                </a:gridCol>
                <a:gridCol w="2281761">
                  <a:extLst>
                    <a:ext uri="{9D8B030D-6E8A-4147-A177-3AD203B41FA5}">
                      <a16:colId xmlns:a16="http://schemas.microsoft.com/office/drawing/2014/main" val="1177392126"/>
                    </a:ext>
                  </a:extLst>
                </a:gridCol>
                <a:gridCol w="2138729">
                  <a:extLst>
                    <a:ext uri="{9D8B030D-6E8A-4147-A177-3AD203B41FA5}">
                      <a16:colId xmlns:a16="http://schemas.microsoft.com/office/drawing/2014/main" val="3105893841"/>
                    </a:ext>
                  </a:extLst>
                </a:gridCol>
              </a:tblGrid>
              <a:tr h="421506">
                <a:tc>
                  <a:txBody>
                    <a:bodyPr/>
                    <a:lstStyle/>
                    <a:p>
                      <a:r>
                        <a:rPr lang="en-US" sz="2000" b="1" u="sng" dirty="0"/>
                        <a:t>STLC Phase</a:t>
                      </a:r>
                      <a:endParaRPr lang="en-US" sz="2000" u="sng" dirty="0"/>
                    </a:p>
                  </a:txBody>
                  <a:tcPr marL="89694" marR="89694" marT="44846" marB="44846" anchor="ctr">
                    <a:lnL>
                      <a:noFill/>
                    </a:lnL>
                    <a:lnR>
                      <a:noFill/>
                    </a:lnR>
                    <a:lnT>
                      <a:noFill/>
                    </a:lnT>
                    <a:lnB>
                      <a:noFill/>
                    </a:lnB>
                    <a:noFill/>
                  </a:tcPr>
                </a:tc>
                <a:tc>
                  <a:txBody>
                    <a:bodyPr/>
                    <a:lstStyle/>
                    <a:p>
                      <a:r>
                        <a:rPr lang="en-US" sz="2000" b="1" u="sng" dirty="0"/>
                        <a:t>Key Objective</a:t>
                      </a:r>
                      <a:endParaRPr lang="en-US" sz="2000" u="sng" dirty="0"/>
                    </a:p>
                  </a:txBody>
                  <a:tcPr marL="89694" marR="89694" marT="44846" marB="44846" anchor="ctr">
                    <a:lnL>
                      <a:noFill/>
                    </a:lnL>
                    <a:lnR>
                      <a:noFill/>
                    </a:lnR>
                    <a:lnT>
                      <a:noFill/>
                    </a:lnT>
                    <a:lnB>
                      <a:noFill/>
                    </a:lnB>
                    <a:noFill/>
                  </a:tcPr>
                </a:tc>
                <a:tc>
                  <a:txBody>
                    <a:bodyPr/>
                    <a:lstStyle/>
                    <a:p>
                      <a:r>
                        <a:rPr lang="en-US" sz="2000" b="1" u="sng" dirty="0"/>
                        <a:t>Deliverables</a:t>
                      </a:r>
                    </a:p>
                  </a:txBody>
                  <a:tcPr marL="89694" marR="89694" marT="44846" marB="44846" anchor="ctr">
                    <a:lnL>
                      <a:noFill/>
                    </a:lnL>
                    <a:lnR>
                      <a:noFill/>
                    </a:lnR>
                    <a:lnT>
                      <a:noFill/>
                    </a:lnT>
                    <a:lnB>
                      <a:noFill/>
                    </a:lnB>
                    <a:noFill/>
                  </a:tcPr>
                </a:tc>
                <a:extLst>
                  <a:ext uri="{0D108BD9-81ED-4DB2-BD59-A6C34878D82A}">
                    <a16:rowId xmlns:a16="http://schemas.microsoft.com/office/drawing/2014/main" val="2165937475"/>
                  </a:ext>
                </a:extLst>
              </a:tr>
              <a:tr h="694801">
                <a:tc>
                  <a:txBody>
                    <a:bodyPr/>
                    <a:lstStyle/>
                    <a:p>
                      <a:r>
                        <a:rPr lang="en-US" sz="1700" b="1" dirty="0">
                          <a:solidFill>
                            <a:srgbClr val="9BAFB5"/>
                          </a:solidFill>
                        </a:rPr>
                        <a:t>Requirement Analysis</a:t>
                      </a:r>
                      <a:endParaRPr lang="en-US" sz="1700" dirty="0">
                        <a:solidFill>
                          <a:srgbClr val="9BAFB5"/>
                        </a:solidFill>
                      </a:endParaRPr>
                    </a:p>
                  </a:txBody>
                  <a:tcPr marL="89694" marR="89694" marT="44846" marB="44846" anchor="ctr">
                    <a:lnL>
                      <a:noFill/>
                    </a:lnL>
                    <a:lnR>
                      <a:noFill/>
                    </a:lnR>
                    <a:lnT>
                      <a:noFill/>
                    </a:lnT>
                    <a:lnB>
                      <a:noFill/>
                    </a:lnB>
                    <a:noFill/>
                  </a:tcPr>
                </a:tc>
                <a:tc>
                  <a:txBody>
                    <a:bodyPr/>
                    <a:lstStyle/>
                    <a:p>
                      <a:r>
                        <a:rPr lang="en-US" sz="1700" dirty="0"/>
                        <a:t>Understand testing requirements</a:t>
                      </a:r>
                    </a:p>
                  </a:txBody>
                  <a:tcPr marL="89694" marR="89694" marT="44846" marB="44846" anchor="ctr">
                    <a:lnL>
                      <a:noFill/>
                    </a:lnL>
                    <a:lnR>
                      <a:noFill/>
                    </a:lnR>
                    <a:lnT>
                      <a:noFill/>
                    </a:lnT>
                    <a:lnB>
                      <a:noFill/>
                    </a:lnB>
                    <a:noFill/>
                  </a:tcPr>
                </a:tc>
                <a:tc>
                  <a:txBody>
                    <a:bodyPr/>
                    <a:lstStyle/>
                    <a:p>
                      <a:r>
                        <a:rPr lang="en-US" sz="1700" dirty="0"/>
                        <a:t>Requirements Traceability Matrix</a:t>
                      </a:r>
                    </a:p>
                  </a:txBody>
                  <a:tcPr marL="89694" marR="89694" marT="44846" marB="44846" anchor="ctr">
                    <a:lnL>
                      <a:noFill/>
                    </a:lnL>
                    <a:lnR>
                      <a:noFill/>
                    </a:lnR>
                    <a:lnT>
                      <a:noFill/>
                    </a:lnT>
                    <a:lnB>
                      <a:noFill/>
                    </a:lnB>
                    <a:noFill/>
                  </a:tcPr>
                </a:tc>
                <a:extLst>
                  <a:ext uri="{0D108BD9-81ED-4DB2-BD59-A6C34878D82A}">
                    <a16:rowId xmlns:a16="http://schemas.microsoft.com/office/drawing/2014/main" val="1082169426"/>
                  </a:ext>
                </a:extLst>
              </a:tr>
              <a:tr h="694801">
                <a:tc>
                  <a:txBody>
                    <a:bodyPr/>
                    <a:lstStyle/>
                    <a:p>
                      <a:r>
                        <a:rPr lang="en-US" sz="1700" b="1" kern="1200" dirty="0">
                          <a:solidFill>
                            <a:srgbClr val="9BAFB5"/>
                          </a:solidFill>
                          <a:latin typeface="+mn-lt"/>
                          <a:ea typeface="+mn-ea"/>
                          <a:cs typeface="+mn-cs"/>
                        </a:rPr>
                        <a:t>Test Planning</a:t>
                      </a:r>
                    </a:p>
                  </a:txBody>
                  <a:tcPr marL="89694" marR="89694" marT="44846" marB="44846" anchor="ctr">
                    <a:lnL>
                      <a:noFill/>
                    </a:lnL>
                    <a:lnR>
                      <a:noFill/>
                    </a:lnR>
                    <a:lnT>
                      <a:noFill/>
                    </a:lnT>
                    <a:lnB>
                      <a:noFill/>
                    </a:lnB>
                    <a:noFill/>
                  </a:tcPr>
                </a:tc>
                <a:tc>
                  <a:txBody>
                    <a:bodyPr/>
                    <a:lstStyle/>
                    <a:p>
                      <a:r>
                        <a:rPr lang="en-US" sz="1700" dirty="0"/>
                        <a:t>Plan and organize testing activities</a:t>
                      </a:r>
                    </a:p>
                  </a:txBody>
                  <a:tcPr marL="89694" marR="89694" marT="44846" marB="44846" anchor="ctr">
                    <a:lnL>
                      <a:noFill/>
                    </a:lnL>
                    <a:lnR>
                      <a:noFill/>
                    </a:lnR>
                    <a:lnT>
                      <a:noFill/>
                    </a:lnT>
                    <a:lnB>
                      <a:noFill/>
                    </a:lnB>
                    <a:noFill/>
                  </a:tcPr>
                </a:tc>
                <a:tc>
                  <a:txBody>
                    <a:bodyPr/>
                    <a:lstStyle/>
                    <a:p>
                      <a:r>
                        <a:rPr lang="en-US" sz="1700" dirty="0"/>
                        <a:t>Test Plan, Effort Estimation</a:t>
                      </a:r>
                    </a:p>
                  </a:txBody>
                  <a:tcPr marL="89694" marR="89694" marT="44846" marB="44846" anchor="ctr">
                    <a:lnL>
                      <a:noFill/>
                    </a:lnL>
                    <a:lnR>
                      <a:noFill/>
                    </a:lnR>
                    <a:lnT>
                      <a:noFill/>
                    </a:lnT>
                    <a:lnB>
                      <a:noFill/>
                    </a:lnB>
                    <a:noFill/>
                  </a:tcPr>
                </a:tc>
                <a:extLst>
                  <a:ext uri="{0D108BD9-81ED-4DB2-BD59-A6C34878D82A}">
                    <a16:rowId xmlns:a16="http://schemas.microsoft.com/office/drawing/2014/main" val="2406553751"/>
                  </a:ext>
                </a:extLst>
              </a:tr>
              <a:tr h="968096">
                <a:tc>
                  <a:txBody>
                    <a:bodyPr/>
                    <a:lstStyle/>
                    <a:p>
                      <a:pPr marL="0" algn="l" defTabSz="914400" rtl="0" eaLnBrk="1" latinLnBrk="0" hangingPunct="1"/>
                      <a:r>
                        <a:rPr lang="en-US" sz="1700" b="1" kern="1200" dirty="0">
                          <a:solidFill>
                            <a:srgbClr val="9BAFB5"/>
                          </a:solidFill>
                          <a:latin typeface="+mn-lt"/>
                          <a:ea typeface="+mn-ea"/>
                          <a:cs typeface="+mn-cs"/>
                        </a:rPr>
                        <a:t>Test Case Development</a:t>
                      </a:r>
                    </a:p>
                  </a:txBody>
                  <a:tcPr marL="89694" marR="89694" marT="44846" marB="44846" anchor="ctr">
                    <a:lnL>
                      <a:noFill/>
                    </a:lnL>
                    <a:lnR>
                      <a:noFill/>
                    </a:lnR>
                    <a:lnT>
                      <a:noFill/>
                    </a:lnT>
                    <a:lnB>
                      <a:noFill/>
                    </a:lnB>
                    <a:noFill/>
                  </a:tcPr>
                </a:tc>
                <a:tc>
                  <a:txBody>
                    <a:bodyPr/>
                    <a:lstStyle/>
                    <a:p>
                      <a:r>
                        <a:rPr lang="en-US" sz="1700" dirty="0"/>
                        <a:t>Design detailed test cases and prepare data</a:t>
                      </a:r>
                    </a:p>
                  </a:txBody>
                  <a:tcPr marL="89694" marR="89694" marT="44846" marB="44846" anchor="ctr">
                    <a:lnL>
                      <a:noFill/>
                    </a:lnL>
                    <a:lnR>
                      <a:noFill/>
                    </a:lnR>
                    <a:lnT>
                      <a:noFill/>
                    </a:lnT>
                    <a:lnB>
                      <a:noFill/>
                    </a:lnB>
                    <a:noFill/>
                  </a:tcPr>
                </a:tc>
                <a:tc>
                  <a:txBody>
                    <a:bodyPr/>
                    <a:lstStyle/>
                    <a:p>
                      <a:r>
                        <a:rPr lang="en-US" sz="1700" dirty="0"/>
                        <a:t>Test Cases, Test Data</a:t>
                      </a:r>
                    </a:p>
                  </a:txBody>
                  <a:tcPr marL="89694" marR="89694" marT="44846" marB="44846" anchor="ctr">
                    <a:lnL>
                      <a:noFill/>
                    </a:lnL>
                    <a:lnR>
                      <a:noFill/>
                    </a:lnR>
                    <a:lnT>
                      <a:noFill/>
                    </a:lnT>
                    <a:lnB>
                      <a:noFill/>
                    </a:lnB>
                    <a:noFill/>
                  </a:tcPr>
                </a:tc>
                <a:extLst>
                  <a:ext uri="{0D108BD9-81ED-4DB2-BD59-A6C34878D82A}">
                    <a16:rowId xmlns:a16="http://schemas.microsoft.com/office/drawing/2014/main" val="2852121547"/>
                  </a:ext>
                </a:extLst>
              </a:tr>
              <a:tr h="968096">
                <a:tc>
                  <a:txBody>
                    <a:bodyPr/>
                    <a:lstStyle/>
                    <a:p>
                      <a:pPr marL="0" algn="l" defTabSz="914400" rtl="0" eaLnBrk="1" latinLnBrk="0" hangingPunct="1"/>
                      <a:r>
                        <a:rPr lang="en-US" sz="1700" b="1" kern="1200" dirty="0">
                          <a:solidFill>
                            <a:srgbClr val="9BAFB5"/>
                          </a:solidFill>
                          <a:latin typeface="+mn-lt"/>
                          <a:ea typeface="+mn-ea"/>
                          <a:cs typeface="+mn-cs"/>
                        </a:rPr>
                        <a:t>Test Environment Setup</a:t>
                      </a:r>
                    </a:p>
                  </a:txBody>
                  <a:tcPr marL="89694" marR="89694" marT="44846" marB="44846" anchor="ctr">
                    <a:lnL>
                      <a:noFill/>
                    </a:lnL>
                    <a:lnR>
                      <a:noFill/>
                    </a:lnR>
                    <a:lnT>
                      <a:noFill/>
                    </a:lnT>
                    <a:lnB>
                      <a:noFill/>
                    </a:lnB>
                    <a:noFill/>
                  </a:tcPr>
                </a:tc>
                <a:tc>
                  <a:txBody>
                    <a:bodyPr/>
                    <a:lstStyle/>
                    <a:p>
                      <a:r>
                        <a:rPr lang="en-US" sz="1700" dirty="0"/>
                        <a:t>Set up the necessary testing environment</a:t>
                      </a:r>
                    </a:p>
                  </a:txBody>
                  <a:tcPr marL="89694" marR="89694" marT="44846" marB="44846" anchor="ctr">
                    <a:lnL>
                      <a:noFill/>
                    </a:lnL>
                    <a:lnR>
                      <a:noFill/>
                    </a:lnR>
                    <a:lnT>
                      <a:noFill/>
                    </a:lnT>
                    <a:lnB>
                      <a:noFill/>
                    </a:lnB>
                    <a:noFill/>
                  </a:tcPr>
                </a:tc>
                <a:tc>
                  <a:txBody>
                    <a:bodyPr/>
                    <a:lstStyle/>
                    <a:p>
                      <a:r>
                        <a:rPr lang="en-US" sz="1700" dirty="0"/>
                        <a:t>Test Environment, Smoke Test Results</a:t>
                      </a:r>
                    </a:p>
                  </a:txBody>
                  <a:tcPr marL="89694" marR="89694" marT="44846" marB="44846" anchor="ctr">
                    <a:lnL>
                      <a:noFill/>
                    </a:lnL>
                    <a:lnR>
                      <a:noFill/>
                    </a:lnR>
                    <a:lnT>
                      <a:noFill/>
                    </a:lnT>
                    <a:lnB>
                      <a:noFill/>
                    </a:lnB>
                    <a:noFill/>
                  </a:tcPr>
                </a:tc>
                <a:extLst>
                  <a:ext uri="{0D108BD9-81ED-4DB2-BD59-A6C34878D82A}">
                    <a16:rowId xmlns:a16="http://schemas.microsoft.com/office/drawing/2014/main" val="2254545874"/>
                  </a:ext>
                </a:extLst>
              </a:tr>
              <a:tr h="968096">
                <a:tc>
                  <a:txBody>
                    <a:bodyPr/>
                    <a:lstStyle/>
                    <a:p>
                      <a:pPr marL="0" algn="l" defTabSz="914400" rtl="0" eaLnBrk="1" latinLnBrk="0" hangingPunct="1"/>
                      <a:r>
                        <a:rPr lang="en-US" sz="1700" b="1" kern="1200" dirty="0">
                          <a:solidFill>
                            <a:srgbClr val="9BAFB5"/>
                          </a:solidFill>
                          <a:latin typeface="+mn-lt"/>
                          <a:ea typeface="+mn-ea"/>
                          <a:cs typeface="+mn-cs"/>
                        </a:rPr>
                        <a:t>Test Execution</a:t>
                      </a:r>
                    </a:p>
                  </a:txBody>
                  <a:tcPr marL="89694" marR="89694" marT="44846" marB="44846" anchor="ctr">
                    <a:lnL>
                      <a:noFill/>
                    </a:lnL>
                    <a:lnR>
                      <a:noFill/>
                    </a:lnR>
                    <a:lnT>
                      <a:noFill/>
                    </a:lnT>
                    <a:lnB>
                      <a:noFill/>
                    </a:lnB>
                    <a:noFill/>
                  </a:tcPr>
                </a:tc>
                <a:tc>
                  <a:txBody>
                    <a:bodyPr/>
                    <a:lstStyle/>
                    <a:p>
                      <a:r>
                        <a:rPr lang="en-US" sz="1700" dirty="0"/>
                        <a:t>Execute test cases and report defects</a:t>
                      </a:r>
                    </a:p>
                  </a:txBody>
                  <a:tcPr marL="89694" marR="89694" marT="44846" marB="44846" anchor="ctr">
                    <a:lnL>
                      <a:noFill/>
                    </a:lnL>
                    <a:lnR>
                      <a:noFill/>
                    </a:lnR>
                    <a:lnT>
                      <a:noFill/>
                    </a:lnT>
                    <a:lnB>
                      <a:noFill/>
                    </a:lnB>
                    <a:noFill/>
                  </a:tcPr>
                </a:tc>
                <a:tc>
                  <a:txBody>
                    <a:bodyPr/>
                    <a:lstStyle/>
                    <a:p>
                      <a:r>
                        <a:rPr lang="en-US" sz="1700" dirty="0"/>
                        <a:t>Test Execution Report, Defect Logs</a:t>
                      </a:r>
                    </a:p>
                  </a:txBody>
                  <a:tcPr marL="89694" marR="89694" marT="44846" marB="44846" anchor="ctr">
                    <a:lnL>
                      <a:noFill/>
                    </a:lnL>
                    <a:lnR>
                      <a:noFill/>
                    </a:lnR>
                    <a:lnT>
                      <a:noFill/>
                    </a:lnT>
                    <a:lnB>
                      <a:noFill/>
                    </a:lnB>
                    <a:noFill/>
                  </a:tcPr>
                </a:tc>
                <a:extLst>
                  <a:ext uri="{0D108BD9-81ED-4DB2-BD59-A6C34878D82A}">
                    <a16:rowId xmlns:a16="http://schemas.microsoft.com/office/drawing/2014/main" val="1950858759"/>
                  </a:ext>
                </a:extLst>
              </a:tr>
              <a:tr h="694801">
                <a:tc>
                  <a:txBody>
                    <a:bodyPr/>
                    <a:lstStyle/>
                    <a:p>
                      <a:pPr marL="0" algn="l" defTabSz="914400" rtl="0" eaLnBrk="1" latinLnBrk="0" hangingPunct="1"/>
                      <a:r>
                        <a:rPr lang="en-US" sz="1700" b="1" kern="1200" dirty="0">
                          <a:solidFill>
                            <a:srgbClr val="9BAFB5"/>
                          </a:solidFill>
                          <a:latin typeface="+mn-lt"/>
                          <a:ea typeface="+mn-ea"/>
                          <a:cs typeface="+mn-cs"/>
                        </a:rPr>
                        <a:t>Test Cycle Closure</a:t>
                      </a:r>
                    </a:p>
                  </a:txBody>
                  <a:tcPr marL="89694" marR="89694" marT="44846" marB="44846" anchor="ctr">
                    <a:lnL>
                      <a:noFill/>
                    </a:lnL>
                    <a:lnR>
                      <a:noFill/>
                    </a:lnR>
                    <a:lnT>
                      <a:noFill/>
                    </a:lnT>
                    <a:lnB>
                      <a:noFill/>
                    </a:lnB>
                    <a:noFill/>
                  </a:tcPr>
                </a:tc>
                <a:tc>
                  <a:txBody>
                    <a:bodyPr/>
                    <a:lstStyle/>
                    <a:p>
                      <a:r>
                        <a:rPr lang="en-US" sz="1700" dirty="0"/>
                        <a:t>Finalize testing and report results</a:t>
                      </a:r>
                    </a:p>
                  </a:txBody>
                  <a:tcPr marL="89694" marR="89694" marT="44846" marB="44846" anchor="ctr">
                    <a:lnL>
                      <a:noFill/>
                    </a:lnL>
                    <a:lnR>
                      <a:noFill/>
                    </a:lnR>
                    <a:lnT>
                      <a:noFill/>
                    </a:lnT>
                    <a:lnB>
                      <a:noFill/>
                    </a:lnB>
                    <a:noFill/>
                  </a:tcPr>
                </a:tc>
                <a:tc>
                  <a:txBody>
                    <a:bodyPr/>
                    <a:lstStyle/>
                    <a:p>
                      <a:r>
                        <a:rPr lang="en-US" sz="1700" dirty="0"/>
                        <a:t>Test Summary Report, Metrics</a:t>
                      </a:r>
                    </a:p>
                  </a:txBody>
                  <a:tcPr marL="89694" marR="89694" marT="44846" marB="44846" anchor="ctr">
                    <a:lnL>
                      <a:noFill/>
                    </a:lnL>
                    <a:lnR>
                      <a:noFill/>
                    </a:lnR>
                    <a:lnT>
                      <a:noFill/>
                    </a:lnT>
                    <a:lnB>
                      <a:noFill/>
                    </a:lnB>
                    <a:noFill/>
                  </a:tcPr>
                </a:tc>
                <a:extLst>
                  <a:ext uri="{0D108BD9-81ED-4DB2-BD59-A6C34878D82A}">
                    <a16:rowId xmlns:a16="http://schemas.microsoft.com/office/drawing/2014/main" val="3039178707"/>
                  </a:ext>
                </a:extLst>
              </a:tr>
            </a:tbl>
          </a:graphicData>
        </a:graphic>
      </p:graphicFrame>
    </p:spTree>
    <p:extLst>
      <p:ext uri="{BB962C8B-B14F-4D97-AF65-F5344CB8AC3E}">
        <p14:creationId xmlns:p14="http://schemas.microsoft.com/office/powerpoint/2010/main" val="18898578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3467" y="2681103"/>
            <a:ext cx="3363974" cy="1495794"/>
          </a:xfrm>
          <a:noFill/>
          <a:ln>
            <a:solidFill>
              <a:schemeClr val="bg1"/>
            </a:solidFill>
          </a:ln>
        </p:spPr>
        <p:txBody>
          <a:bodyPr wrap="square">
            <a:normAutofit/>
          </a:bodyPr>
          <a:lstStyle/>
          <a:p>
            <a:r>
              <a:rPr lang="en-US" dirty="0">
                <a:solidFill>
                  <a:schemeClr val="bg1"/>
                </a:solidFill>
              </a:rPr>
              <a:t>SDLC Models</a:t>
            </a:r>
          </a:p>
        </p:txBody>
      </p:sp>
      <p:graphicFrame>
        <p:nvGraphicFramePr>
          <p:cNvPr id="15" name="Content Placeholder 2">
            <a:extLst>
              <a:ext uri="{FF2B5EF4-FFF2-40B4-BE49-F238E27FC236}">
                <a16:creationId xmlns:a16="http://schemas.microsoft.com/office/drawing/2014/main" id="{BBBB5AEA-B054-A22C-4253-693FA6A28139}"/>
              </a:ext>
            </a:extLst>
          </p:cNvPr>
          <p:cNvGraphicFramePr>
            <a:graphicFrameLocks noGrp="1"/>
          </p:cNvGraphicFramePr>
          <p:nvPr>
            <p:ph idx="1"/>
            <p:extLst>
              <p:ext uri="{D42A27DB-BD31-4B8C-83A1-F6EECF244321}">
                <p14:modId xmlns:p14="http://schemas.microsoft.com/office/powerpoint/2010/main" val="651228238"/>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2899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descr="A diagram of a waterfall model&#10;&#10;Description automatically generated">
            <a:extLst>
              <a:ext uri="{FF2B5EF4-FFF2-40B4-BE49-F238E27FC236}">
                <a16:creationId xmlns:a16="http://schemas.microsoft.com/office/drawing/2014/main" id="{9918C0A0-C070-7431-F6E0-5FA9BC873A1D}"/>
              </a:ext>
            </a:extLst>
          </p:cNvPr>
          <p:cNvPicPr>
            <a:picLocks noChangeAspect="1"/>
          </p:cNvPicPr>
          <p:nvPr/>
        </p:nvPicPr>
        <p:blipFill>
          <a:blip r:embed="rId3"/>
          <a:srcRect l="4505" r="7564" b="-2"/>
          <a:stretch/>
        </p:blipFill>
        <p:spPr>
          <a:xfrm>
            <a:off x="4650909" y="10"/>
            <a:ext cx="7541090" cy="6857989"/>
          </a:xfrm>
          <a:prstGeom prst="rect">
            <a:avLst/>
          </a:prstGeom>
        </p:spPr>
      </p:pic>
      <p:sp>
        <p:nvSpPr>
          <p:cNvPr id="34" name="Rectangle 3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3467" y="643467"/>
            <a:ext cx="3363974" cy="1728044"/>
          </a:xfrm>
          <a:noFill/>
          <a:ln>
            <a:solidFill>
              <a:schemeClr val="bg1"/>
            </a:solidFill>
          </a:ln>
        </p:spPr>
        <p:txBody>
          <a:bodyPr vert="horz" wrap="square" lIns="274320" tIns="182880" rIns="274320" bIns="182880" rtlCol="0" anchorCtr="1">
            <a:normAutofit/>
          </a:bodyPr>
          <a:lstStyle/>
          <a:p>
            <a:r>
              <a:rPr lang="en-US" dirty="0">
                <a:solidFill>
                  <a:schemeClr val="bg1"/>
                </a:solidFill>
              </a:rPr>
              <a:t>Waterfall Model</a:t>
            </a:r>
          </a:p>
        </p:txBody>
      </p:sp>
      <p:sp>
        <p:nvSpPr>
          <p:cNvPr id="3" name="Content Placeholder 2"/>
          <p:cNvSpPr>
            <a:spLocks noGrp="1"/>
          </p:cNvSpPr>
          <p:nvPr>
            <p:ph idx="1"/>
          </p:nvPr>
        </p:nvSpPr>
        <p:spPr>
          <a:xfrm>
            <a:off x="643468" y="2638044"/>
            <a:ext cx="3363974" cy="3415622"/>
          </a:xfrm>
        </p:spPr>
        <p:txBody>
          <a:bodyPr vert="horz" lIns="91440" tIns="45720" rIns="91440" bIns="45720" rtlCol="0">
            <a:normAutofit/>
          </a:bodyPr>
          <a:lstStyle/>
          <a:p>
            <a:pPr marL="0" indent="0">
              <a:buNone/>
            </a:pPr>
            <a:r>
              <a:rPr lang="en-US" kern="1200" dirty="0">
                <a:solidFill>
                  <a:schemeClr val="bg1"/>
                </a:solidFill>
                <a:latin typeface="+mn-lt"/>
                <a:ea typeface="+mn-ea"/>
                <a:cs typeface="+mn-cs"/>
              </a:rPr>
              <a:t>The waterfall model is a sequential software development process in which development is seen as flowing steadily downwards (like a waterfall) through the phases of requirements gathering, analysis, design, implementation, testing (validation), and maintenance</a:t>
            </a:r>
          </a:p>
        </p:txBody>
      </p:sp>
    </p:spTree>
    <p:extLst>
      <p:ext uri="{BB962C8B-B14F-4D97-AF65-F5344CB8AC3E}">
        <p14:creationId xmlns:p14="http://schemas.microsoft.com/office/powerpoint/2010/main" val="3938804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51105E24-93E8-C24C-58DC-872AB0DE1337}"/>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6D90C147-2AB9-729F-EECD-0EF8C5207E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64C914E3-1C81-C976-058B-F10FF2969F60}"/>
              </a:ext>
            </a:extLst>
          </p:cNvPr>
          <p:cNvPicPr>
            <a:picLocks noChangeAspect="1"/>
          </p:cNvPicPr>
          <p:nvPr/>
        </p:nvPicPr>
        <p:blipFill>
          <a:blip r:embed="rId3"/>
          <a:srcRect l="19074" r="19074"/>
          <a:stretch/>
        </p:blipFill>
        <p:spPr>
          <a:xfrm>
            <a:off x="4650909" y="10"/>
            <a:ext cx="7541090" cy="6857989"/>
          </a:xfrm>
          <a:prstGeom prst="rect">
            <a:avLst/>
          </a:prstGeom>
        </p:spPr>
      </p:pic>
      <p:sp>
        <p:nvSpPr>
          <p:cNvPr id="34" name="Rectangle 33">
            <a:extLst>
              <a:ext uri="{FF2B5EF4-FFF2-40B4-BE49-F238E27FC236}">
                <a16:creationId xmlns:a16="http://schemas.microsoft.com/office/drawing/2014/main" id="{776C13DC-0F1D-1240-8824-DC6498366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052C7E-1CD0-74E8-AADA-A7F7AD413561}"/>
              </a:ext>
            </a:extLst>
          </p:cNvPr>
          <p:cNvSpPr>
            <a:spLocks noGrp="1"/>
          </p:cNvSpPr>
          <p:nvPr>
            <p:ph type="title"/>
          </p:nvPr>
        </p:nvSpPr>
        <p:spPr>
          <a:xfrm>
            <a:off x="643467" y="643467"/>
            <a:ext cx="3363974" cy="1728044"/>
          </a:xfrm>
          <a:noFill/>
          <a:ln>
            <a:solidFill>
              <a:schemeClr val="bg1"/>
            </a:solidFill>
          </a:ln>
        </p:spPr>
        <p:txBody>
          <a:bodyPr vert="horz" wrap="square" lIns="274320" tIns="182880" rIns="274320" bIns="182880" rtlCol="0" anchorCtr="1">
            <a:normAutofit/>
          </a:bodyPr>
          <a:lstStyle/>
          <a:p>
            <a:r>
              <a:rPr lang="en-US" dirty="0">
                <a:solidFill>
                  <a:schemeClr val="bg1"/>
                </a:solidFill>
              </a:rPr>
              <a:t>V-Shaped Model</a:t>
            </a:r>
          </a:p>
        </p:txBody>
      </p:sp>
      <p:sp>
        <p:nvSpPr>
          <p:cNvPr id="3" name="Content Placeholder 2">
            <a:extLst>
              <a:ext uri="{FF2B5EF4-FFF2-40B4-BE49-F238E27FC236}">
                <a16:creationId xmlns:a16="http://schemas.microsoft.com/office/drawing/2014/main" id="{52BD41D7-D0EE-F646-9B68-616A715C23FB}"/>
              </a:ext>
            </a:extLst>
          </p:cNvPr>
          <p:cNvSpPr>
            <a:spLocks noGrp="1"/>
          </p:cNvSpPr>
          <p:nvPr>
            <p:ph idx="1"/>
          </p:nvPr>
        </p:nvSpPr>
        <p:spPr>
          <a:xfrm>
            <a:off x="643468" y="2638044"/>
            <a:ext cx="3363974" cy="3415622"/>
          </a:xfrm>
        </p:spPr>
        <p:txBody>
          <a:bodyPr vert="horz" lIns="91440" tIns="45720" rIns="91440" bIns="45720" rtlCol="0">
            <a:normAutofit/>
          </a:bodyPr>
          <a:lstStyle/>
          <a:p>
            <a:pPr marL="0" indent="0">
              <a:buNone/>
            </a:pPr>
            <a:r>
              <a:rPr lang="en-US" kern="1200" dirty="0">
                <a:solidFill>
                  <a:schemeClr val="bg1"/>
                </a:solidFill>
                <a:latin typeface="+mn-lt"/>
                <a:ea typeface="+mn-ea"/>
                <a:cs typeface="+mn-cs"/>
              </a:rPr>
              <a:t>Also known as the Verification and Validation Model, it is a sequential model that goes through each required phase of software development, from planning to coding to testing. The main advantage of the V-Model is that it provides a clear and concise roadmap for each stage of development, making it easy to track progress and ensure quality control.</a:t>
            </a:r>
          </a:p>
        </p:txBody>
      </p:sp>
    </p:spTree>
    <p:extLst>
      <p:ext uri="{BB962C8B-B14F-4D97-AF65-F5344CB8AC3E}">
        <p14:creationId xmlns:p14="http://schemas.microsoft.com/office/powerpoint/2010/main" val="2268033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AC9F97CC-8778-A849-ECD5-D59083B3228F}"/>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48BE2A0-2A9B-EF50-42AB-C0C465FAFA69}"/>
              </a:ext>
            </a:extLst>
          </p:cNvPr>
          <p:cNvSpPr>
            <a:spLocks noGrp="1"/>
          </p:cNvSpPr>
          <p:nvPr>
            <p:ph type="title"/>
          </p:nvPr>
        </p:nvSpPr>
        <p:spPr>
          <a:xfrm>
            <a:off x="643467" y="643467"/>
            <a:ext cx="3363974" cy="1728044"/>
          </a:xfrm>
          <a:noFill/>
          <a:ln>
            <a:solidFill>
              <a:schemeClr val="bg1"/>
            </a:solidFill>
          </a:ln>
        </p:spPr>
        <p:txBody>
          <a:bodyPr vert="horz" wrap="square" lIns="274320" tIns="182880" rIns="274320" bIns="182880" rtlCol="0" anchorCtr="1">
            <a:normAutofit/>
          </a:bodyPr>
          <a:lstStyle/>
          <a:p>
            <a:r>
              <a:rPr lang="en-US" sz="1800" dirty="0">
                <a:solidFill>
                  <a:schemeClr val="bg1"/>
                </a:solidFill>
              </a:rPr>
              <a:t>Iterative Model</a:t>
            </a:r>
          </a:p>
        </p:txBody>
      </p:sp>
      <p:sp>
        <p:nvSpPr>
          <p:cNvPr id="3" name="Content Placeholder 2">
            <a:extLst>
              <a:ext uri="{FF2B5EF4-FFF2-40B4-BE49-F238E27FC236}">
                <a16:creationId xmlns:a16="http://schemas.microsoft.com/office/drawing/2014/main" id="{BF0F7B9F-DD5D-0411-9469-9A82EB445742}"/>
              </a:ext>
            </a:extLst>
          </p:cNvPr>
          <p:cNvSpPr>
            <a:spLocks noGrp="1"/>
          </p:cNvSpPr>
          <p:nvPr>
            <p:ph idx="1"/>
          </p:nvPr>
        </p:nvSpPr>
        <p:spPr>
          <a:xfrm>
            <a:off x="643468" y="2638044"/>
            <a:ext cx="3363974" cy="3415622"/>
          </a:xfrm>
        </p:spPr>
        <p:txBody>
          <a:bodyPr vert="horz" lIns="91440" tIns="45720" rIns="91440" bIns="45720" rtlCol="0">
            <a:normAutofit/>
          </a:bodyPr>
          <a:lstStyle/>
          <a:p>
            <a:pPr marL="0" indent="0">
              <a:buNone/>
            </a:pPr>
            <a:r>
              <a:rPr lang="en-US" kern="1200" dirty="0">
                <a:solidFill>
                  <a:schemeClr val="bg1"/>
                </a:solidFill>
                <a:latin typeface="+mn-lt"/>
                <a:ea typeface="+mn-ea"/>
                <a:cs typeface="+mn-cs"/>
              </a:rPr>
              <a:t>The iterative SDLC Model is a software development process that combines the best aspects of the waterfall and agile models. The result is a process that is more flexible and responsive to change than the traditional waterfall model but which still provides the discipline and structure necessary to complete large-scale projects successfully.</a:t>
            </a:r>
          </a:p>
        </p:txBody>
      </p:sp>
      <p:pic>
        <p:nvPicPr>
          <p:cNvPr id="5" name="Picture 4" descr="A diagram of software components&#10;&#10;Description automatically generated">
            <a:extLst>
              <a:ext uri="{FF2B5EF4-FFF2-40B4-BE49-F238E27FC236}">
                <a16:creationId xmlns:a16="http://schemas.microsoft.com/office/drawing/2014/main" id="{92D35F7F-FEC1-617B-82EC-503CD4318962}"/>
              </a:ext>
            </a:extLst>
          </p:cNvPr>
          <p:cNvPicPr>
            <a:picLocks noChangeAspect="1"/>
          </p:cNvPicPr>
          <p:nvPr/>
        </p:nvPicPr>
        <p:blipFill>
          <a:blip r:embed="rId3"/>
          <a:stretch>
            <a:fillRect/>
          </a:stretch>
        </p:blipFill>
        <p:spPr>
          <a:xfrm>
            <a:off x="5297763" y="1590538"/>
            <a:ext cx="6250769" cy="3516057"/>
          </a:xfrm>
          <a:prstGeom prst="rect">
            <a:avLst/>
          </a:prstGeom>
        </p:spPr>
      </p:pic>
    </p:spTree>
    <p:extLst>
      <p:ext uri="{BB962C8B-B14F-4D97-AF65-F5344CB8AC3E}">
        <p14:creationId xmlns:p14="http://schemas.microsoft.com/office/powerpoint/2010/main" val="836818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2738BB4-E5F4-6FE6-7BC0-069A50B0C2D7}"/>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84AAE7F-2A2D-9E42-22DD-89A60927E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DE8C7967-0BD2-E0F8-1204-7ACD91B8A5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566D37-96A0-6D5E-6894-31BDD6E299CC}"/>
              </a:ext>
            </a:extLst>
          </p:cNvPr>
          <p:cNvSpPr>
            <a:spLocks noGrp="1"/>
          </p:cNvSpPr>
          <p:nvPr>
            <p:ph type="title"/>
          </p:nvPr>
        </p:nvSpPr>
        <p:spPr>
          <a:xfrm>
            <a:off x="643467" y="643467"/>
            <a:ext cx="3363974" cy="1728044"/>
          </a:xfrm>
          <a:noFill/>
          <a:ln>
            <a:solidFill>
              <a:schemeClr val="bg1"/>
            </a:solidFill>
          </a:ln>
        </p:spPr>
        <p:txBody>
          <a:bodyPr vert="horz" wrap="square" lIns="274320" tIns="182880" rIns="274320" bIns="182880" rtlCol="0" anchorCtr="1">
            <a:normAutofit/>
          </a:bodyPr>
          <a:lstStyle/>
          <a:p>
            <a:r>
              <a:rPr lang="en-US" sz="1800" dirty="0">
                <a:solidFill>
                  <a:schemeClr val="bg1"/>
                </a:solidFill>
              </a:rPr>
              <a:t>Spiral Model</a:t>
            </a:r>
          </a:p>
        </p:txBody>
      </p:sp>
      <p:sp>
        <p:nvSpPr>
          <p:cNvPr id="3" name="Content Placeholder 2">
            <a:extLst>
              <a:ext uri="{FF2B5EF4-FFF2-40B4-BE49-F238E27FC236}">
                <a16:creationId xmlns:a16="http://schemas.microsoft.com/office/drawing/2014/main" id="{2192FF83-CF31-4EA6-7459-6D6EB6D2493A}"/>
              </a:ext>
            </a:extLst>
          </p:cNvPr>
          <p:cNvSpPr>
            <a:spLocks noGrp="1"/>
          </p:cNvSpPr>
          <p:nvPr>
            <p:ph idx="1"/>
          </p:nvPr>
        </p:nvSpPr>
        <p:spPr>
          <a:xfrm>
            <a:off x="643468" y="2638044"/>
            <a:ext cx="3363974" cy="3415622"/>
          </a:xfrm>
        </p:spPr>
        <p:txBody>
          <a:bodyPr vert="horz" lIns="91440" tIns="45720" rIns="91440" bIns="45720" rtlCol="0">
            <a:normAutofit fontScale="92500" lnSpcReduction="10000"/>
          </a:bodyPr>
          <a:lstStyle/>
          <a:p>
            <a:pPr marL="0" indent="0">
              <a:buNone/>
            </a:pPr>
            <a:r>
              <a:rPr lang="en-US" kern="1200" dirty="0">
                <a:solidFill>
                  <a:schemeClr val="bg1"/>
                </a:solidFill>
                <a:latin typeface="+mn-lt"/>
                <a:ea typeface="+mn-ea"/>
                <a:cs typeface="+mn-cs"/>
              </a:rPr>
              <a:t>The spiral model is a risk-driven process model generator for software projects.</a:t>
            </a:r>
          </a:p>
          <a:p>
            <a:r>
              <a:rPr lang="en-US" kern="1200" dirty="0">
                <a:solidFill>
                  <a:schemeClr val="bg1"/>
                </a:solidFill>
                <a:latin typeface="+mn-lt"/>
                <a:ea typeface="+mn-ea"/>
                <a:cs typeface="+mn-cs"/>
              </a:rPr>
              <a:t>You can adapt the process to the unique risks of your project. </a:t>
            </a:r>
          </a:p>
          <a:p>
            <a:r>
              <a:rPr lang="en-US" kern="1200" dirty="0">
                <a:solidFill>
                  <a:schemeClr val="bg1"/>
                </a:solidFill>
                <a:latin typeface="+mn-lt"/>
                <a:ea typeface="+mn-ea"/>
                <a:cs typeface="+mn-cs"/>
              </a:rPr>
              <a:t>You can deliver your project in small increments, allowing for changes and refinements along the way. </a:t>
            </a:r>
          </a:p>
          <a:p>
            <a:r>
              <a:rPr lang="en-US" kern="1200" dirty="0">
                <a:solidFill>
                  <a:schemeClr val="bg1"/>
                </a:solidFill>
                <a:latin typeface="+mn-lt"/>
                <a:ea typeface="+mn-ea"/>
                <a:cs typeface="+mn-cs"/>
              </a:rPr>
              <a:t>You can track progress and management through each stage of development.</a:t>
            </a:r>
          </a:p>
        </p:txBody>
      </p:sp>
      <p:pic>
        <p:nvPicPr>
          <p:cNvPr id="5" name="Picture 4">
            <a:extLst>
              <a:ext uri="{FF2B5EF4-FFF2-40B4-BE49-F238E27FC236}">
                <a16:creationId xmlns:a16="http://schemas.microsoft.com/office/drawing/2014/main" id="{2CD36FB7-36CA-6E2F-2A25-0E10E94579A9}"/>
              </a:ext>
            </a:extLst>
          </p:cNvPr>
          <p:cNvPicPr>
            <a:picLocks noChangeAspect="1"/>
          </p:cNvPicPr>
          <p:nvPr/>
        </p:nvPicPr>
        <p:blipFill>
          <a:blip r:embed="rId3"/>
          <a:srcRect/>
          <a:stretch/>
        </p:blipFill>
        <p:spPr>
          <a:xfrm>
            <a:off x="4797631" y="1384569"/>
            <a:ext cx="7269089" cy="4088862"/>
          </a:xfrm>
          <a:prstGeom prst="rect">
            <a:avLst/>
          </a:prstGeom>
        </p:spPr>
      </p:pic>
    </p:spTree>
    <p:extLst>
      <p:ext uri="{BB962C8B-B14F-4D97-AF65-F5344CB8AC3E}">
        <p14:creationId xmlns:p14="http://schemas.microsoft.com/office/powerpoint/2010/main" val="3634746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F159743-2F87-07CB-84A3-BD72C4F5C69B}"/>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C043AE06-3EE3-91B8-0D8D-4131458A8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10969813-C999-09D6-1233-A2ACC01CE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0E78B0-DBB0-0FBF-D438-1709B826B96B}"/>
              </a:ext>
            </a:extLst>
          </p:cNvPr>
          <p:cNvSpPr>
            <a:spLocks noGrp="1"/>
          </p:cNvSpPr>
          <p:nvPr>
            <p:ph type="title"/>
          </p:nvPr>
        </p:nvSpPr>
        <p:spPr>
          <a:xfrm>
            <a:off x="643467" y="643467"/>
            <a:ext cx="3363974" cy="1728044"/>
          </a:xfrm>
          <a:noFill/>
          <a:ln>
            <a:solidFill>
              <a:schemeClr val="bg1"/>
            </a:solidFill>
          </a:ln>
        </p:spPr>
        <p:txBody>
          <a:bodyPr vert="horz" wrap="square" lIns="274320" tIns="182880" rIns="274320" bIns="182880" rtlCol="0" anchorCtr="1">
            <a:normAutofit/>
          </a:bodyPr>
          <a:lstStyle/>
          <a:p>
            <a:r>
              <a:rPr lang="en-US" sz="1800" dirty="0">
                <a:solidFill>
                  <a:schemeClr val="bg1"/>
                </a:solidFill>
              </a:rPr>
              <a:t>Agile Model</a:t>
            </a:r>
          </a:p>
        </p:txBody>
      </p:sp>
      <p:sp>
        <p:nvSpPr>
          <p:cNvPr id="3" name="Content Placeholder 2">
            <a:extLst>
              <a:ext uri="{FF2B5EF4-FFF2-40B4-BE49-F238E27FC236}">
                <a16:creationId xmlns:a16="http://schemas.microsoft.com/office/drawing/2014/main" id="{89CAF44B-EE27-2466-C09B-4F6ADC0CFB94}"/>
              </a:ext>
            </a:extLst>
          </p:cNvPr>
          <p:cNvSpPr>
            <a:spLocks noGrp="1"/>
          </p:cNvSpPr>
          <p:nvPr>
            <p:ph idx="1"/>
          </p:nvPr>
        </p:nvSpPr>
        <p:spPr>
          <a:xfrm>
            <a:off x="643468" y="2638044"/>
            <a:ext cx="3363974" cy="3415622"/>
          </a:xfrm>
        </p:spPr>
        <p:txBody>
          <a:bodyPr vert="horz" lIns="91440" tIns="45720" rIns="91440" bIns="45720" rtlCol="0">
            <a:normAutofit fontScale="85000" lnSpcReduction="10000"/>
          </a:bodyPr>
          <a:lstStyle/>
          <a:p>
            <a:pPr marL="0" indent="0">
              <a:buNone/>
            </a:pPr>
            <a:r>
              <a:rPr lang="en-US" kern="1200" dirty="0">
                <a:solidFill>
                  <a:schemeClr val="bg1"/>
                </a:solidFill>
                <a:latin typeface="+mn-lt"/>
                <a:ea typeface="+mn-ea"/>
                <a:cs typeface="+mn-cs"/>
              </a:rPr>
              <a:t>The Agile models are </a:t>
            </a:r>
            <a:r>
              <a:rPr lang="en-US" b="1" kern="1200" dirty="0">
                <a:solidFill>
                  <a:schemeClr val="bg1"/>
                </a:solidFill>
                <a:latin typeface="+mn-lt"/>
                <a:ea typeface="+mn-ea"/>
                <a:cs typeface="+mn-cs"/>
              </a:rPr>
              <a:t>iterative</a:t>
            </a:r>
            <a:r>
              <a:rPr lang="en-US" kern="1200" dirty="0">
                <a:solidFill>
                  <a:schemeClr val="bg1"/>
                </a:solidFill>
                <a:latin typeface="+mn-lt"/>
                <a:ea typeface="+mn-ea"/>
                <a:cs typeface="+mn-cs"/>
              </a:rPr>
              <a:t> and </a:t>
            </a:r>
            <a:r>
              <a:rPr lang="en-US" b="1" kern="1200" dirty="0">
                <a:solidFill>
                  <a:schemeClr val="bg1"/>
                </a:solidFill>
                <a:latin typeface="+mn-lt"/>
                <a:ea typeface="+mn-ea"/>
                <a:cs typeface="+mn-cs"/>
              </a:rPr>
              <a:t>incremental</a:t>
            </a:r>
            <a:r>
              <a:rPr lang="en-US" kern="1200" dirty="0">
                <a:solidFill>
                  <a:schemeClr val="bg1"/>
                </a:solidFill>
                <a:latin typeface="+mn-lt"/>
                <a:ea typeface="+mn-ea"/>
                <a:cs typeface="+mn-cs"/>
              </a:rPr>
              <a:t> software development models that emphasize flexibility and customer collaboration. </a:t>
            </a:r>
          </a:p>
          <a:p>
            <a:pPr marL="0" indent="0">
              <a:buNone/>
            </a:pPr>
            <a:r>
              <a:rPr lang="en-US" kern="1200" dirty="0">
                <a:solidFill>
                  <a:schemeClr val="bg1"/>
                </a:solidFill>
                <a:latin typeface="+mn-lt"/>
                <a:ea typeface="+mn-ea"/>
                <a:cs typeface="+mn-cs"/>
              </a:rPr>
              <a:t>The Agile models include Extreme Programming (XP), Scrum, and Lean Software Development.</a:t>
            </a:r>
          </a:p>
          <a:p>
            <a:pPr marL="0" indent="0">
              <a:buNone/>
            </a:pPr>
            <a:r>
              <a:rPr lang="en-US" kern="1200" dirty="0">
                <a:solidFill>
                  <a:schemeClr val="bg1"/>
                </a:solidFill>
                <a:latin typeface="+mn-lt"/>
                <a:ea typeface="+mn-ea"/>
                <a:cs typeface="+mn-cs"/>
              </a:rPr>
              <a:t> The Agile models have helped organizations improve their software development processes by increasing transparency and communication, decreasing bureaucracy, and improving project management.</a:t>
            </a:r>
          </a:p>
        </p:txBody>
      </p:sp>
      <p:pic>
        <p:nvPicPr>
          <p:cNvPr id="5" name="Picture 4">
            <a:extLst>
              <a:ext uri="{FF2B5EF4-FFF2-40B4-BE49-F238E27FC236}">
                <a16:creationId xmlns:a16="http://schemas.microsoft.com/office/drawing/2014/main" id="{AE9E3A77-D3A6-BF5B-EBF6-4BE5C911DF2D}"/>
              </a:ext>
            </a:extLst>
          </p:cNvPr>
          <p:cNvPicPr>
            <a:picLocks noChangeAspect="1"/>
          </p:cNvPicPr>
          <p:nvPr/>
        </p:nvPicPr>
        <p:blipFill>
          <a:blip r:embed="rId3"/>
          <a:srcRect/>
          <a:stretch/>
        </p:blipFill>
        <p:spPr>
          <a:xfrm>
            <a:off x="4797631" y="1384569"/>
            <a:ext cx="7269088" cy="4088862"/>
          </a:xfrm>
          <a:prstGeom prst="rect">
            <a:avLst/>
          </a:prstGeom>
        </p:spPr>
      </p:pic>
    </p:spTree>
    <p:extLst>
      <p:ext uri="{BB962C8B-B14F-4D97-AF65-F5344CB8AC3E}">
        <p14:creationId xmlns:p14="http://schemas.microsoft.com/office/powerpoint/2010/main" val="19558870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pPr marL="0" marR="0" lvl="0" indent="0" fontAlgn="base">
              <a:spcAft>
                <a:spcPct val="0"/>
              </a:spcAft>
              <a:buClrTx/>
              <a:buSzTx/>
              <a:tabLst/>
            </a:pPr>
            <a:r>
              <a:rPr kumimoji="0" lang="en-US" altLang="en-US" sz="2700" b="1" i="0" u="none" strike="noStrike" normalizeH="0" dirty="0">
                <a:ln>
                  <a:noFill/>
                </a:ln>
                <a:solidFill>
                  <a:schemeClr val="bg1"/>
                </a:solidFill>
                <a:effectLst/>
              </a:rPr>
              <a:t>Comparison of SDLC Models</a:t>
            </a:r>
          </a:p>
        </p:txBody>
      </p:sp>
      <p:sp>
        <p:nvSpPr>
          <p:cNvPr id="5" name="Rectangle 1">
            <a:extLst>
              <a:ext uri="{FF2B5EF4-FFF2-40B4-BE49-F238E27FC236}">
                <a16:creationId xmlns:a16="http://schemas.microsoft.com/office/drawing/2014/main" id="{80B16A65-62C3-16FA-D70C-3ED215F9E645}"/>
              </a:ext>
            </a:extLst>
          </p:cNvPr>
          <p:cNvSpPr>
            <a:spLocks noChangeArrowheads="1"/>
          </p:cNvSpPr>
          <p:nvPr/>
        </p:nvSpPr>
        <p:spPr bwMode="auto">
          <a:xfrm>
            <a:off x="474345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0" name="Content Placeholder 28">
            <a:extLst>
              <a:ext uri="{FF2B5EF4-FFF2-40B4-BE49-F238E27FC236}">
                <a16:creationId xmlns:a16="http://schemas.microsoft.com/office/drawing/2014/main" id="{D44DC225-5ACB-5E6D-A20E-31F8D0A73144}"/>
              </a:ext>
            </a:extLst>
          </p:cNvPr>
          <p:cNvGraphicFramePr>
            <a:graphicFrameLocks/>
          </p:cNvGraphicFramePr>
          <p:nvPr>
            <p:extLst>
              <p:ext uri="{D42A27DB-BD31-4B8C-83A1-F6EECF244321}">
                <p14:modId xmlns:p14="http://schemas.microsoft.com/office/powerpoint/2010/main" val="1208006992"/>
              </p:ext>
            </p:extLst>
          </p:nvPr>
        </p:nvGraphicFramePr>
        <p:xfrm>
          <a:off x="4928181" y="320634"/>
          <a:ext cx="6994645" cy="6222671"/>
        </p:xfrm>
        <a:graphic>
          <a:graphicData uri="http://schemas.openxmlformats.org/drawingml/2006/table">
            <a:tbl>
              <a:tblPr>
                <a:solidFill>
                  <a:srgbClr val="F2F2F2">
                    <a:alpha val="30196"/>
                  </a:srgbClr>
                </a:solidFill>
              </a:tblPr>
              <a:tblGrid>
                <a:gridCol w="1230394">
                  <a:extLst>
                    <a:ext uri="{9D8B030D-6E8A-4147-A177-3AD203B41FA5}">
                      <a16:colId xmlns:a16="http://schemas.microsoft.com/office/drawing/2014/main" val="1001997166"/>
                    </a:ext>
                  </a:extLst>
                </a:gridCol>
                <a:gridCol w="1968618">
                  <a:extLst>
                    <a:ext uri="{9D8B030D-6E8A-4147-A177-3AD203B41FA5}">
                      <a16:colId xmlns:a16="http://schemas.microsoft.com/office/drawing/2014/main" val="2331710330"/>
                    </a:ext>
                  </a:extLst>
                </a:gridCol>
                <a:gridCol w="1674083">
                  <a:extLst>
                    <a:ext uri="{9D8B030D-6E8A-4147-A177-3AD203B41FA5}">
                      <a16:colId xmlns:a16="http://schemas.microsoft.com/office/drawing/2014/main" val="3224642361"/>
                    </a:ext>
                  </a:extLst>
                </a:gridCol>
                <a:gridCol w="2121550">
                  <a:extLst>
                    <a:ext uri="{9D8B030D-6E8A-4147-A177-3AD203B41FA5}">
                      <a16:colId xmlns:a16="http://schemas.microsoft.com/office/drawing/2014/main" val="2930198858"/>
                    </a:ext>
                  </a:extLst>
                </a:gridCol>
              </a:tblGrid>
              <a:tr h="504111">
                <a:tc>
                  <a:txBody>
                    <a:bodyPr/>
                    <a:lstStyle/>
                    <a:p>
                      <a:r>
                        <a:rPr lang="en-US" sz="1500" b="1" cap="none" spc="0" dirty="0">
                          <a:solidFill>
                            <a:schemeClr val="tx1"/>
                          </a:solidFill>
                        </a:rPr>
                        <a:t>Model</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b="1" cap="none" spc="0" dirty="0">
                          <a:solidFill>
                            <a:schemeClr val="tx1"/>
                          </a:solidFill>
                        </a:rPr>
                        <a:t>Best For</a:t>
                      </a:r>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b="1" cap="none" spc="0" dirty="0">
                          <a:solidFill>
                            <a:schemeClr val="tx1"/>
                          </a:solidFill>
                        </a:rPr>
                        <a:t>Key Feature</a:t>
                      </a:r>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b="1" cap="none" spc="0" dirty="0">
                          <a:solidFill>
                            <a:schemeClr val="tx1"/>
                          </a:solidFill>
                        </a:rPr>
                        <a:t>Drawbacks</a:t>
                      </a:r>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38100" cap="flat" cmpd="sng" algn="ctr">
                      <a:no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964617236"/>
                  </a:ext>
                </a:extLst>
              </a:tr>
              <a:tr h="1001120">
                <a:tc>
                  <a:txBody>
                    <a:bodyPr/>
                    <a:lstStyle/>
                    <a:p>
                      <a:r>
                        <a:rPr lang="en-US" sz="1500" b="1" cap="none" spc="0" dirty="0">
                          <a:solidFill>
                            <a:schemeClr val="tx1"/>
                          </a:solidFill>
                        </a:rPr>
                        <a:t>Waterfall</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Projects with stable requirements</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Linear, simple to manage</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Not flexible to changes</a:t>
                      </a: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2413410452"/>
                  </a:ext>
                </a:extLst>
              </a:tr>
              <a:tr h="1001120">
                <a:tc>
                  <a:txBody>
                    <a:bodyPr/>
                    <a:lstStyle/>
                    <a:p>
                      <a:r>
                        <a:rPr lang="en-US" sz="1500" b="1" cap="none" spc="0" dirty="0">
                          <a:solidFill>
                            <a:schemeClr val="tx1"/>
                          </a:solidFill>
                        </a:rPr>
                        <a:t>V-Model</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Projects needing verification at each stage</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Testing integrated into each phase</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Same as Waterfall, rigid structure</a:t>
                      </a: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908855801"/>
                  </a:ext>
                </a:extLst>
              </a:tr>
              <a:tr h="1001120">
                <a:tc>
                  <a:txBody>
                    <a:bodyPr/>
                    <a:lstStyle/>
                    <a:p>
                      <a:r>
                        <a:rPr lang="en-US" sz="1500" b="1" cap="none" spc="0" dirty="0">
                          <a:solidFill>
                            <a:schemeClr val="tx1"/>
                          </a:solidFill>
                        </a:rPr>
                        <a:t>Iterative</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Large projects with evolving needs</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Repeated cycles of improvement</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Can lead to scope creep</a:t>
                      </a: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3377830699"/>
                  </a:ext>
                </a:extLst>
              </a:tr>
              <a:tr h="1249625">
                <a:tc>
                  <a:txBody>
                    <a:bodyPr/>
                    <a:lstStyle/>
                    <a:p>
                      <a:r>
                        <a:rPr lang="en-US" sz="1500" b="1" cap="none" spc="0" dirty="0">
                          <a:solidFill>
                            <a:schemeClr val="tx1"/>
                          </a:solidFill>
                        </a:rPr>
                        <a:t>Spiral</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High-risk projects with uncertainty</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Risk management and iterative</a:t>
                      </a: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tc>
                  <a:txBody>
                    <a:bodyPr/>
                    <a:lstStyle/>
                    <a:p>
                      <a:r>
                        <a:rPr lang="en-US" sz="1500" cap="none" spc="0" dirty="0">
                          <a:solidFill>
                            <a:schemeClr val="tx1"/>
                          </a:solidFill>
                        </a:rPr>
                        <a:t>Can be expensive, complex </a:t>
                      </a: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6350" cap="flat" cmpd="sng" algn="ctr">
                      <a:solidFill>
                        <a:schemeClr val="tx1">
                          <a:lumMod val="75000"/>
                          <a:lumOff val="25000"/>
                        </a:schemeClr>
                      </a:solidFill>
                      <a:prstDash val="solid"/>
                    </a:lnB>
                    <a:solidFill>
                      <a:srgbClr val="F2F2F2">
                        <a:alpha val="30196"/>
                      </a:srgbClr>
                    </a:solidFill>
                  </a:tcPr>
                </a:tc>
                <a:extLst>
                  <a:ext uri="{0D108BD9-81ED-4DB2-BD59-A6C34878D82A}">
                    <a16:rowId xmlns:a16="http://schemas.microsoft.com/office/drawing/2014/main" val="4029360636"/>
                  </a:ext>
                </a:extLst>
              </a:tr>
              <a:tr h="1465575">
                <a:tc>
                  <a:txBody>
                    <a:bodyPr/>
                    <a:lstStyle/>
                    <a:p>
                      <a:r>
                        <a:rPr lang="en-US" sz="1500" b="1" cap="none" spc="0" dirty="0">
                          <a:solidFill>
                            <a:schemeClr val="tx1"/>
                          </a:solidFill>
                        </a:rPr>
                        <a:t>Agile</a:t>
                      </a:r>
                      <a:endParaRPr lang="en-US" sz="1500" cap="none" spc="0" dirty="0">
                        <a:solidFill>
                          <a:schemeClr val="tx1"/>
                        </a:solidFill>
                      </a:endParaRPr>
                    </a:p>
                  </a:txBody>
                  <a:tcPr marL="126341" marR="51624" marT="97186" marB="97186" anchor="ctr">
                    <a:lnL w="38100" cap="flat" cmpd="sng" algn="ctr">
                      <a:no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cap="none" spc="0" dirty="0">
                          <a:solidFill>
                            <a:schemeClr val="tx1"/>
                          </a:solidFill>
                        </a:rPr>
                        <a:t>Projects with frequent requirement changes</a:t>
                      </a:r>
                    </a:p>
                    <a:p>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cap="none" spc="0" dirty="0">
                          <a:solidFill>
                            <a:schemeClr val="tx1"/>
                          </a:solidFill>
                        </a:rPr>
                        <a:t>Flexibility and collaboration</a:t>
                      </a:r>
                    </a:p>
                    <a:p>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cap="none" spc="0" dirty="0">
                          <a:solidFill>
                            <a:schemeClr val="tx1"/>
                          </a:solidFill>
                        </a:rPr>
                        <a:t>Requires continuous stakeholder involvement</a:t>
                      </a:r>
                    </a:p>
                    <a:p>
                      <a:endParaRPr lang="en-US" sz="1500" cap="none" spc="0" dirty="0">
                        <a:solidFill>
                          <a:schemeClr val="tx1"/>
                        </a:solidFill>
                      </a:endParaRPr>
                    </a:p>
                  </a:txBody>
                  <a:tcPr marL="126341" marR="51624" marT="97186" marB="97186" anchor="ctr">
                    <a:lnL w="6350" cap="flat" cmpd="sng" algn="ctr">
                      <a:solidFill>
                        <a:schemeClr val="tx1">
                          <a:lumMod val="75000"/>
                          <a:lumOff val="25000"/>
                        </a:schemeClr>
                      </a:solidFill>
                      <a:prstDash val="solid"/>
                    </a:lnL>
                    <a:lnR w="38100" cap="flat" cmpd="sng" algn="ctr">
                      <a:noFill/>
                      <a:prstDash val="solid"/>
                    </a:lnR>
                    <a:lnT w="6350" cap="flat" cmpd="sng" algn="ctr">
                      <a:solidFill>
                        <a:schemeClr val="tx1">
                          <a:lumMod val="75000"/>
                          <a:lumOff val="25000"/>
                        </a:schemeClr>
                      </a:solid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431883979"/>
                  </a:ext>
                </a:extLst>
              </a:tr>
            </a:tbl>
          </a:graphicData>
        </a:graphic>
      </p:graphicFrame>
    </p:spTree>
    <p:extLst>
      <p:ext uri="{BB962C8B-B14F-4D97-AF65-F5344CB8AC3E}">
        <p14:creationId xmlns:p14="http://schemas.microsoft.com/office/powerpoint/2010/main" val="2328701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dirty="0">
                <a:solidFill>
                  <a:srgbClr val="FFFFFF"/>
                </a:solidFill>
              </a:rPr>
              <a:t>Types of software testing</a:t>
            </a:r>
          </a:p>
        </p:txBody>
      </p:sp>
      <p:sp>
        <p:nvSpPr>
          <p:cNvPr id="3" name="Content Placeholder 2"/>
          <p:cNvSpPr>
            <a:spLocks noGrp="1"/>
          </p:cNvSpPr>
          <p:nvPr>
            <p:ph idx="1"/>
          </p:nvPr>
        </p:nvSpPr>
        <p:spPr>
          <a:xfrm>
            <a:off x="5591695" y="1402080"/>
            <a:ext cx="5320696" cy="4053840"/>
          </a:xfrm>
        </p:spPr>
        <p:txBody>
          <a:bodyPr anchor="ctr">
            <a:normAutofit/>
          </a:bodyPr>
          <a:lstStyle/>
          <a:p>
            <a:pPr marL="0" indent="0">
              <a:lnSpc>
                <a:spcPct val="90000"/>
              </a:lnSpc>
              <a:buNone/>
            </a:pPr>
            <a:r>
              <a:rPr lang="en-US" sz="1500" b="1" dirty="0"/>
              <a:t>Functional Testing</a:t>
            </a:r>
          </a:p>
          <a:p>
            <a:pPr marL="0" indent="0">
              <a:lnSpc>
                <a:spcPct val="90000"/>
              </a:lnSpc>
              <a:buNone/>
            </a:pPr>
            <a:r>
              <a:rPr lang="en-US" sz="1500" dirty="0"/>
              <a:t>Functional testing verifies that each software function operates according to the specified requirements. It tests the behavior of the software against the functional specifications.</a:t>
            </a:r>
          </a:p>
          <a:p>
            <a:pPr>
              <a:lnSpc>
                <a:spcPct val="90000"/>
              </a:lnSpc>
              <a:buFont typeface="Arial" panose="020B0604020202020204" pitchFamily="34" charset="0"/>
              <a:buChar char="•"/>
            </a:pPr>
            <a:r>
              <a:rPr lang="en-US" sz="1500" b="1" dirty="0"/>
              <a:t>Purpose</a:t>
            </a:r>
            <a:r>
              <a:rPr lang="en-US" sz="1500" dirty="0"/>
              <a:t>: To ensure that the software behaves as expected.</a:t>
            </a:r>
          </a:p>
          <a:p>
            <a:pPr>
              <a:lnSpc>
                <a:spcPct val="90000"/>
              </a:lnSpc>
              <a:buFont typeface="Arial" panose="020B0604020202020204" pitchFamily="34" charset="0"/>
              <a:buChar char="•"/>
            </a:pPr>
            <a:r>
              <a:rPr lang="en-US" sz="1500" b="1" dirty="0"/>
              <a:t>Focus</a:t>
            </a:r>
            <a:r>
              <a:rPr lang="en-US" sz="1500" dirty="0"/>
              <a:t>: Testing user interactions, features, and business logic.</a:t>
            </a:r>
          </a:p>
          <a:p>
            <a:pPr marL="0" indent="0">
              <a:lnSpc>
                <a:spcPct val="90000"/>
              </a:lnSpc>
              <a:buNone/>
            </a:pPr>
            <a:br>
              <a:rPr lang="en-US" sz="1500" dirty="0"/>
            </a:br>
            <a:r>
              <a:rPr lang="en-US" sz="1500" b="1" dirty="0"/>
              <a:t>Types of Functional Testing</a:t>
            </a:r>
            <a:r>
              <a:rPr lang="en-US" sz="1500" dirty="0"/>
              <a:t>:</a:t>
            </a:r>
          </a:p>
          <a:p>
            <a:pPr>
              <a:lnSpc>
                <a:spcPct val="90000"/>
              </a:lnSpc>
            </a:pPr>
            <a:r>
              <a:rPr lang="en-US" sz="1500" dirty="0"/>
              <a:t>Smoke Testing</a:t>
            </a:r>
          </a:p>
          <a:p>
            <a:pPr>
              <a:lnSpc>
                <a:spcPct val="90000"/>
              </a:lnSpc>
            </a:pPr>
            <a:r>
              <a:rPr lang="en-US" sz="1500" dirty="0"/>
              <a:t>Sanity Testing</a:t>
            </a:r>
          </a:p>
          <a:p>
            <a:pPr>
              <a:lnSpc>
                <a:spcPct val="90000"/>
              </a:lnSpc>
            </a:pPr>
            <a:r>
              <a:rPr lang="en-US" sz="1500" dirty="0"/>
              <a:t>Regression Testing</a:t>
            </a:r>
          </a:p>
          <a:p>
            <a:pPr>
              <a:lnSpc>
                <a:spcPct val="90000"/>
              </a:lnSpc>
            </a:pPr>
            <a:r>
              <a:rPr lang="en-US" sz="1500" dirty="0"/>
              <a:t>Retesting</a:t>
            </a:r>
          </a:p>
          <a:p>
            <a:pPr marL="0" indent="0">
              <a:lnSpc>
                <a:spcPct val="90000"/>
              </a:lnSpc>
              <a:buNone/>
            </a:pPr>
            <a:endParaRPr lang="en-US" sz="1500" dirty="0"/>
          </a:p>
        </p:txBody>
      </p:sp>
    </p:spTree>
    <p:extLst>
      <p:ext uri="{BB962C8B-B14F-4D97-AF65-F5344CB8AC3E}">
        <p14:creationId xmlns:p14="http://schemas.microsoft.com/office/powerpoint/2010/main" val="1281389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40CD6F-E96A-3C07-6B6A-10E42093EC3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30C4081-E2B9-732C-CA5E-96040D25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Rectangle 19">
            <a:extLst>
              <a:ext uri="{FF2B5EF4-FFF2-40B4-BE49-F238E27FC236}">
                <a16:creationId xmlns:a16="http://schemas.microsoft.com/office/drawing/2014/main" id="{93A5865E-DB3B-E1DD-5E71-5CE57394D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65AAB023-5BDC-1BAD-CD79-954501B6B1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0E4F92-21D7-C369-392F-CB1B0AE1AD7E}"/>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dirty="0">
                <a:solidFill>
                  <a:srgbClr val="FFFFFF"/>
                </a:solidFill>
              </a:rPr>
              <a:t>Types of software testing</a:t>
            </a:r>
          </a:p>
        </p:txBody>
      </p:sp>
      <p:sp>
        <p:nvSpPr>
          <p:cNvPr id="3" name="Content Placeholder 2">
            <a:extLst>
              <a:ext uri="{FF2B5EF4-FFF2-40B4-BE49-F238E27FC236}">
                <a16:creationId xmlns:a16="http://schemas.microsoft.com/office/drawing/2014/main" id="{1B63D892-FD95-821E-9383-1A825A7A0BD6}"/>
              </a:ext>
            </a:extLst>
          </p:cNvPr>
          <p:cNvSpPr>
            <a:spLocks noGrp="1"/>
          </p:cNvSpPr>
          <p:nvPr>
            <p:ph idx="1"/>
          </p:nvPr>
        </p:nvSpPr>
        <p:spPr>
          <a:xfrm>
            <a:off x="5591695" y="1402080"/>
            <a:ext cx="5320696" cy="4053840"/>
          </a:xfrm>
        </p:spPr>
        <p:txBody>
          <a:bodyPr anchor="ctr">
            <a:normAutofit lnSpcReduction="10000"/>
          </a:bodyPr>
          <a:lstStyle/>
          <a:p>
            <a:pPr marL="0" indent="0">
              <a:lnSpc>
                <a:spcPct val="90000"/>
              </a:lnSpc>
              <a:buNone/>
            </a:pPr>
            <a:r>
              <a:rPr lang="en-US" sz="1500" b="1" dirty="0"/>
              <a:t>Non-Functional Testing</a:t>
            </a:r>
          </a:p>
          <a:p>
            <a:pPr marL="0" indent="0">
              <a:lnSpc>
                <a:spcPct val="90000"/>
              </a:lnSpc>
              <a:buNone/>
            </a:pPr>
            <a:r>
              <a:rPr lang="en-US" sz="1600" dirty="0"/>
              <a:t>Non-functional testing evaluates aspects of the software that are not related to specific behaviors or functionalities. It focuses on non-functional attributes such as performance, usability, and security.</a:t>
            </a:r>
            <a:endParaRPr lang="en-US" sz="1500" dirty="0"/>
          </a:p>
          <a:p>
            <a:pPr>
              <a:lnSpc>
                <a:spcPct val="90000"/>
              </a:lnSpc>
              <a:buFont typeface="Arial" panose="020B0604020202020204" pitchFamily="34" charset="0"/>
              <a:buChar char="•"/>
            </a:pPr>
            <a:r>
              <a:rPr lang="en-US" sz="1500" b="1" dirty="0"/>
              <a:t>Purpose</a:t>
            </a:r>
            <a:r>
              <a:rPr lang="en-US" sz="1500" dirty="0"/>
              <a:t>: </a:t>
            </a:r>
            <a:r>
              <a:rPr lang="en-US" sz="1600" dirty="0"/>
              <a:t>To ensure the software's performance, reliability, and quality.</a:t>
            </a:r>
          </a:p>
          <a:p>
            <a:pPr>
              <a:lnSpc>
                <a:spcPct val="90000"/>
              </a:lnSpc>
              <a:buFont typeface="Arial" panose="020B0604020202020204" pitchFamily="34" charset="0"/>
              <a:buChar char="•"/>
            </a:pPr>
            <a:r>
              <a:rPr lang="en-US" sz="1500" b="1" dirty="0"/>
              <a:t>Focus</a:t>
            </a:r>
            <a:r>
              <a:rPr lang="en-US" sz="1500" dirty="0"/>
              <a:t>: </a:t>
            </a:r>
            <a:r>
              <a:rPr lang="en-US" sz="1600" dirty="0"/>
              <a:t>Testing system attributes that affect user experience.</a:t>
            </a:r>
            <a:endParaRPr lang="en-US" sz="1500" dirty="0"/>
          </a:p>
          <a:p>
            <a:pPr marL="0" indent="0">
              <a:lnSpc>
                <a:spcPct val="90000"/>
              </a:lnSpc>
              <a:buNone/>
            </a:pPr>
            <a:br>
              <a:rPr lang="en-US" sz="1500" dirty="0"/>
            </a:br>
            <a:r>
              <a:rPr lang="en-US" sz="1500" b="1" dirty="0"/>
              <a:t>Types of Non-Functional Testing</a:t>
            </a:r>
            <a:r>
              <a:rPr lang="en-US" sz="1500" dirty="0"/>
              <a:t>:</a:t>
            </a:r>
          </a:p>
          <a:p>
            <a:pPr>
              <a:lnSpc>
                <a:spcPct val="90000"/>
              </a:lnSpc>
            </a:pPr>
            <a:r>
              <a:rPr lang="en-US" sz="1600" dirty="0"/>
              <a:t>Performance</a:t>
            </a:r>
            <a:r>
              <a:rPr lang="en-US" sz="1500" dirty="0"/>
              <a:t> Testing</a:t>
            </a:r>
          </a:p>
          <a:p>
            <a:pPr>
              <a:lnSpc>
                <a:spcPct val="90000"/>
              </a:lnSpc>
            </a:pPr>
            <a:r>
              <a:rPr lang="en-US" sz="1600" dirty="0"/>
              <a:t>Usability</a:t>
            </a:r>
            <a:r>
              <a:rPr lang="en-US" sz="1500" dirty="0"/>
              <a:t> Testing</a:t>
            </a:r>
          </a:p>
          <a:p>
            <a:pPr>
              <a:lnSpc>
                <a:spcPct val="90000"/>
              </a:lnSpc>
            </a:pPr>
            <a:r>
              <a:rPr lang="en-US" sz="1600" dirty="0"/>
              <a:t>Compatibility</a:t>
            </a:r>
            <a:r>
              <a:rPr lang="en-US" sz="1500" dirty="0"/>
              <a:t> Testing</a:t>
            </a:r>
          </a:p>
          <a:p>
            <a:pPr>
              <a:lnSpc>
                <a:spcPct val="90000"/>
              </a:lnSpc>
            </a:pPr>
            <a:r>
              <a:rPr lang="en-US" sz="1500" dirty="0"/>
              <a:t>Security Testing … etc</a:t>
            </a:r>
          </a:p>
          <a:p>
            <a:pPr marL="0" indent="0">
              <a:lnSpc>
                <a:spcPct val="90000"/>
              </a:lnSpc>
              <a:buNone/>
            </a:pPr>
            <a:endParaRPr lang="en-US" sz="1500" dirty="0"/>
          </a:p>
        </p:txBody>
      </p:sp>
    </p:spTree>
    <p:extLst>
      <p:ext uri="{BB962C8B-B14F-4D97-AF65-F5344CB8AC3E}">
        <p14:creationId xmlns:p14="http://schemas.microsoft.com/office/powerpoint/2010/main" val="1892075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804672" y="2404872"/>
            <a:ext cx="3044950" cy="1627792"/>
          </a:xfrm>
          <a:prstGeom prst="flowChartDocument">
            <a:avLst/>
          </a:prstGeom>
        </p:spPr>
        <p:txBody>
          <a:bodyPr vert="horz" lIns="274320" tIns="182880" rIns="274320" bIns="182880" rtlCol="0" anchor="ctr" anchorCtr="1">
            <a:normAutofit/>
          </a:bodyPr>
          <a:lstStyle/>
          <a:p>
            <a:r>
              <a:rPr lang="en-US" sz="1300" dirty="0"/>
              <a:t>Key Differences Between Functional and Non-Functional Testing</a:t>
            </a:r>
          </a:p>
        </p:txBody>
      </p:sp>
      <p:graphicFrame>
        <p:nvGraphicFramePr>
          <p:cNvPr id="4" name="Table 3">
            <a:extLst>
              <a:ext uri="{FF2B5EF4-FFF2-40B4-BE49-F238E27FC236}">
                <a16:creationId xmlns:a16="http://schemas.microsoft.com/office/drawing/2014/main" id="{B2D7FE31-686B-6A85-ECF4-EA99B37E255D}"/>
              </a:ext>
            </a:extLst>
          </p:cNvPr>
          <p:cNvGraphicFramePr>
            <a:graphicFrameLocks noGrp="1"/>
          </p:cNvGraphicFramePr>
          <p:nvPr>
            <p:extLst>
              <p:ext uri="{D42A27DB-BD31-4B8C-83A1-F6EECF244321}">
                <p14:modId xmlns:p14="http://schemas.microsoft.com/office/powerpoint/2010/main" val="1325937323"/>
              </p:ext>
            </p:extLst>
          </p:nvPr>
        </p:nvGraphicFramePr>
        <p:xfrm>
          <a:off x="5294376" y="843513"/>
          <a:ext cx="6257545" cy="4856271"/>
        </p:xfrm>
        <a:graphic>
          <a:graphicData uri="http://schemas.openxmlformats.org/drawingml/2006/table">
            <a:tbl>
              <a:tblPr/>
              <a:tblGrid>
                <a:gridCol w="1177468">
                  <a:extLst>
                    <a:ext uri="{9D8B030D-6E8A-4147-A177-3AD203B41FA5}">
                      <a16:colId xmlns:a16="http://schemas.microsoft.com/office/drawing/2014/main" val="1804290292"/>
                    </a:ext>
                  </a:extLst>
                </a:gridCol>
                <a:gridCol w="2429132">
                  <a:extLst>
                    <a:ext uri="{9D8B030D-6E8A-4147-A177-3AD203B41FA5}">
                      <a16:colId xmlns:a16="http://schemas.microsoft.com/office/drawing/2014/main" val="3059578131"/>
                    </a:ext>
                  </a:extLst>
                </a:gridCol>
                <a:gridCol w="2650945">
                  <a:extLst>
                    <a:ext uri="{9D8B030D-6E8A-4147-A177-3AD203B41FA5}">
                      <a16:colId xmlns:a16="http://schemas.microsoft.com/office/drawing/2014/main" val="4254850614"/>
                    </a:ext>
                  </a:extLst>
                </a:gridCol>
              </a:tblGrid>
              <a:tr h="350364">
                <a:tc>
                  <a:txBody>
                    <a:bodyPr/>
                    <a:lstStyle/>
                    <a:p>
                      <a:pPr algn="l" fontAlgn="ctr"/>
                      <a:r>
                        <a:rPr lang="en-US" sz="1500" b="1" i="0" u="none" strike="noStrike" dirty="0">
                          <a:effectLst/>
                          <a:latin typeface="Arial" panose="020B0604020202020204" pitchFamily="34" charset="0"/>
                        </a:rPr>
                        <a:t>Aspect</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1" i="0" u="none" strike="noStrike" dirty="0">
                          <a:effectLst/>
                          <a:latin typeface="Arial" panose="020B0604020202020204" pitchFamily="34" charset="0"/>
                        </a:rPr>
                        <a:t>Functional Testing</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1" i="0" u="none" strike="noStrike" dirty="0">
                          <a:effectLst/>
                          <a:latin typeface="Arial" panose="020B0604020202020204" pitchFamily="34" charset="0"/>
                        </a:rPr>
                        <a:t>Non-Functional Testing</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extLst>
                  <a:ext uri="{0D108BD9-81ED-4DB2-BD59-A6C34878D82A}">
                    <a16:rowId xmlns:a16="http://schemas.microsoft.com/office/drawing/2014/main" val="3075602007"/>
                  </a:ext>
                </a:extLst>
              </a:tr>
              <a:tr h="806666">
                <a:tc>
                  <a:txBody>
                    <a:bodyPr/>
                    <a:lstStyle/>
                    <a:p>
                      <a:pPr algn="l" fontAlgn="ctr"/>
                      <a:r>
                        <a:rPr lang="en-US" sz="1500" b="1" i="0" u="none" strike="noStrike" dirty="0">
                          <a:effectLst/>
                          <a:latin typeface="Arial" panose="020B0604020202020204" pitchFamily="34" charset="0"/>
                        </a:rPr>
                        <a:t>Objective</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Verify that the software functions as expected</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Assess software's performance and quality attributes</a:t>
                      </a:r>
                    </a:p>
                  </a:txBody>
                  <a:tcPr marL="76582" marR="76582" marT="38291" marB="38291" anchor="ctr">
                    <a:lnL>
                      <a:noFill/>
                    </a:lnL>
                    <a:lnR>
                      <a:noFill/>
                    </a:lnR>
                    <a:lnT>
                      <a:noFill/>
                    </a:lnT>
                    <a:lnB>
                      <a:noFill/>
                    </a:lnB>
                    <a:noFill/>
                  </a:tcPr>
                </a:tc>
                <a:extLst>
                  <a:ext uri="{0D108BD9-81ED-4DB2-BD59-A6C34878D82A}">
                    <a16:rowId xmlns:a16="http://schemas.microsoft.com/office/drawing/2014/main" val="3043033837"/>
                  </a:ext>
                </a:extLst>
              </a:tr>
              <a:tr h="578515">
                <a:tc>
                  <a:txBody>
                    <a:bodyPr/>
                    <a:lstStyle/>
                    <a:p>
                      <a:pPr algn="l" fontAlgn="ctr"/>
                      <a:r>
                        <a:rPr lang="en-US" sz="1500" b="1" i="0" u="none" strike="noStrike" dirty="0">
                          <a:effectLst/>
                          <a:latin typeface="Arial" panose="020B0604020202020204" pitchFamily="34" charset="0"/>
                        </a:rPr>
                        <a:t>Focus</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Features, functionality, and business logic</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Performance, usability, security, and other attributes</a:t>
                      </a:r>
                    </a:p>
                  </a:txBody>
                  <a:tcPr marL="76582" marR="76582" marT="38291" marB="38291" anchor="ctr">
                    <a:lnL>
                      <a:noFill/>
                    </a:lnL>
                    <a:lnR>
                      <a:noFill/>
                    </a:lnR>
                    <a:lnT>
                      <a:noFill/>
                    </a:lnT>
                    <a:lnB>
                      <a:noFill/>
                    </a:lnB>
                    <a:noFill/>
                  </a:tcPr>
                </a:tc>
                <a:extLst>
                  <a:ext uri="{0D108BD9-81ED-4DB2-BD59-A6C34878D82A}">
                    <a16:rowId xmlns:a16="http://schemas.microsoft.com/office/drawing/2014/main" val="68362561"/>
                  </a:ext>
                </a:extLst>
              </a:tr>
              <a:tr h="578515">
                <a:tc>
                  <a:txBody>
                    <a:bodyPr/>
                    <a:lstStyle/>
                    <a:p>
                      <a:pPr algn="l" fontAlgn="ctr"/>
                      <a:r>
                        <a:rPr lang="en-US" sz="1500" b="1" i="0" u="none" strike="noStrike" dirty="0">
                          <a:effectLst/>
                          <a:latin typeface="Arial" panose="020B0604020202020204" pitchFamily="34" charset="0"/>
                        </a:rPr>
                        <a:t>Types of Testing</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Smoke, Sanity, Regression, etc</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Performance, Usability, Security, Compatibility</a:t>
                      </a:r>
                    </a:p>
                  </a:txBody>
                  <a:tcPr marL="76582" marR="76582" marT="38291" marB="38291" anchor="ctr">
                    <a:lnL>
                      <a:noFill/>
                    </a:lnL>
                    <a:lnR>
                      <a:noFill/>
                    </a:lnR>
                    <a:lnT>
                      <a:noFill/>
                    </a:lnT>
                    <a:lnB>
                      <a:noFill/>
                    </a:lnB>
                    <a:noFill/>
                  </a:tcPr>
                </a:tc>
                <a:extLst>
                  <a:ext uri="{0D108BD9-81ED-4DB2-BD59-A6C34878D82A}">
                    <a16:rowId xmlns:a16="http://schemas.microsoft.com/office/drawing/2014/main" val="1616923474"/>
                  </a:ext>
                </a:extLst>
              </a:tr>
              <a:tr h="806666">
                <a:tc>
                  <a:txBody>
                    <a:bodyPr/>
                    <a:lstStyle/>
                    <a:p>
                      <a:pPr algn="l" fontAlgn="ctr"/>
                      <a:r>
                        <a:rPr lang="en-US" sz="1500" b="1" i="0" u="none" strike="noStrike" dirty="0">
                          <a:effectLst/>
                          <a:latin typeface="Arial" panose="020B0604020202020204" pitchFamily="34" charset="0"/>
                        </a:rPr>
                        <a:t>Testing Basis</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Requirements and specifications</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Quality standards, expectations, and benchmarks</a:t>
                      </a:r>
                    </a:p>
                  </a:txBody>
                  <a:tcPr marL="76582" marR="76582" marT="38291" marB="38291" anchor="ctr">
                    <a:lnL>
                      <a:noFill/>
                    </a:lnL>
                    <a:lnR>
                      <a:noFill/>
                    </a:lnR>
                    <a:lnT>
                      <a:noFill/>
                    </a:lnT>
                    <a:lnB>
                      <a:noFill/>
                    </a:lnB>
                    <a:noFill/>
                  </a:tcPr>
                </a:tc>
                <a:extLst>
                  <a:ext uri="{0D108BD9-81ED-4DB2-BD59-A6C34878D82A}">
                    <a16:rowId xmlns:a16="http://schemas.microsoft.com/office/drawing/2014/main" val="1791404270"/>
                  </a:ext>
                </a:extLst>
              </a:tr>
              <a:tr h="578515">
                <a:tc>
                  <a:txBody>
                    <a:bodyPr/>
                    <a:lstStyle/>
                    <a:p>
                      <a:pPr algn="l" fontAlgn="ctr"/>
                      <a:r>
                        <a:rPr lang="en-US" sz="1500" b="1" i="0" u="none" strike="noStrike" dirty="0">
                          <a:effectLst/>
                          <a:latin typeface="Arial" panose="020B0604020202020204" pitchFamily="34" charset="0"/>
                        </a:rPr>
                        <a:t>Examples</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Testing login, form submissions, calculations</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Testing load times, handling of high traffic, security</a:t>
                      </a:r>
                    </a:p>
                  </a:txBody>
                  <a:tcPr marL="76582" marR="76582" marT="38291" marB="38291" anchor="ctr">
                    <a:lnL>
                      <a:noFill/>
                    </a:lnL>
                    <a:lnR>
                      <a:noFill/>
                    </a:lnR>
                    <a:lnT>
                      <a:noFill/>
                    </a:lnT>
                    <a:lnB>
                      <a:noFill/>
                    </a:lnB>
                    <a:noFill/>
                  </a:tcPr>
                </a:tc>
                <a:extLst>
                  <a:ext uri="{0D108BD9-81ED-4DB2-BD59-A6C34878D82A}">
                    <a16:rowId xmlns:a16="http://schemas.microsoft.com/office/drawing/2014/main" val="2900910746"/>
                  </a:ext>
                </a:extLst>
              </a:tr>
              <a:tr h="578515">
                <a:tc>
                  <a:txBody>
                    <a:bodyPr/>
                    <a:lstStyle/>
                    <a:p>
                      <a:pPr algn="l" fontAlgn="ctr"/>
                      <a:r>
                        <a:rPr lang="en-US" sz="1500" b="1" i="0" u="none" strike="noStrike" dirty="0">
                          <a:effectLst/>
                          <a:latin typeface="Arial" panose="020B0604020202020204" pitchFamily="34" charset="0"/>
                        </a:rPr>
                        <a:t>Tools Used</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Selenium, QTP, TestComplete</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JMeter, LoadRunner, OWASP ZAP</a:t>
                      </a:r>
                    </a:p>
                  </a:txBody>
                  <a:tcPr marL="76582" marR="76582" marT="38291" marB="38291" anchor="ctr">
                    <a:lnL>
                      <a:noFill/>
                    </a:lnL>
                    <a:lnR>
                      <a:noFill/>
                    </a:lnR>
                    <a:lnT>
                      <a:noFill/>
                    </a:lnT>
                    <a:lnB>
                      <a:noFill/>
                    </a:lnB>
                    <a:noFill/>
                  </a:tcPr>
                </a:tc>
                <a:extLst>
                  <a:ext uri="{0D108BD9-81ED-4DB2-BD59-A6C34878D82A}">
                    <a16:rowId xmlns:a16="http://schemas.microsoft.com/office/drawing/2014/main" val="4194611173"/>
                  </a:ext>
                </a:extLst>
              </a:tr>
              <a:tr h="578515">
                <a:tc>
                  <a:txBody>
                    <a:bodyPr/>
                    <a:lstStyle/>
                    <a:p>
                      <a:pPr algn="l" fontAlgn="ctr"/>
                      <a:r>
                        <a:rPr lang="en-US" sz="1500" b="1" i="0" u="none" strike="noStrike" dirty="0">
                          <a:effectLst/>
                          <a:latin typeface="Arial" panose="020B0604020202020204" pitchFamily="34" charset="0"/>
                        </a:rPr>
                        <a:t>Output</a:t>
                      </a:r>
                      <a:endParaRPr lang="en-US" sz="1500" b="0" i="0" u="none" strike="noStrike" dirty="0">
                        <a:effectLst/>
                        <a:latin typeface="Arial" panose="020B0604020202020204" pitchFamily="34" charset="0"/>
                      </a:endParaRP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Ensures functionalities work as expected</a:t>
                      </a:r>
                    </a:p>
                  </a:txBody>
                  <a:tcPr marL="76582" marR="76582" marT="38291" marB="38291" anchor="ctr">
                    <a:lnL>
                      <a:noFill/>
                    </a:lnL>
                    <a:lnR>
                      <a:noFill/>
                    </a:lnR>
                    <a:lnT>
                      <a:noFill/>
                    </a:lnT>
                    <a:lnB>
                      <a:noFill/>
                    </a:lnB>
                    <a:noFill/>
                  </a:tcPr>
                </a:tc>
                <a:tc>
                  <a:txBody>
                    <a:bodyPr/>
                    <a:lstStyle/>
                    <a:p>
                      <a:pPr algn="l" fontAlgn="ctr"/>
                      <a:r>
                        <a:rPr lang="en-US" sz="1500" b="0" i="0" u="none" strike="noStrike" dirty="0">
                          <a:effectLst/>
                          <a:latin typeface="Arial" panose="020B0604020202020204" pitchFamily="34" charset="0"/>
                        </a:rPr>
                        <a:t>Ensures the software meets performance requirements</a:t>
                      </a:r>
                    </a:p>
                  </a:txBody>
                  <a:tcPr marL="76582" marR="76582" marT="38291" marB="38291" anchor="ctr">
                    <a:lnL>
                      <a:noFill/>
                    </a:lnL>
                    <a:lnR>
                      <a:noFill/>
                    </a:lnR>
                    <a:lnT>
                      <a:noFill/>
                    </a:lnT>
                    <a:lnB>
                      <a:noFill/>
                    </a:lnB>
                    <a:noFill/>
                  </a:tcPr>
                </a:tc>
                <a:extLst>
                  <a:ext uri="{0D108BD9-81ED-4DB2-BD59-A6C34878D82A}">
                    <a16:rowId xmlns:a16="http://schemas.microsoft.com/office/drawing/2014/main" val="106821486"/>
                  </a:ext>
                </a:extLst>
              </a:tr>
            </a:tbl>
          </a:graphicData>
        </a:graphic>
      </p:graphicFrame>
    </p:spTree>
    <p:extLst>
      <p:ext uri="{BB962C8B-B14F-4D97-AF65-F5344CB8AC3E}">
        <p14:creationId xmlns:p14="http://schemas.microsoft.com/office/powerpoint/2010/main" val="6066044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Rectangle 1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300" dirty="0">
                <a:solidFill>
                  <a:srgbClr val="FFFFFF"/>
                </a:solidFill>
              </a:rPr>
              <a:t>Functional Testing</a:t>
            </a:r>
          </a:p>
        </p:txBody>
      </p:sp>
      <p:sp>
        <p:nvSpPr>
          <p:cNvPr id="17" name="Content Placeholder 2"/>
          <p:cNvSpPr>
            <a:spLocks noGrp="1"/>
          </p:cNvSpPr>
          <p:nvPr>
            <p:ph idx="1"/>
          </p:nvPr>
        </p:nvSpPr>
        <p:spPr>
          <a:xfrm>
            <a:off x="5591695" y="1402080"/>
            <a:ext cx="5320696" cy="4053840"/>
          </a:xfrm>
        </p:spPr>
        <p:txBody>
          <a:bodyPr anchor="ctr">
            <a:normAutofit/>
          </a:bodyPr>
          <a:lstStyle/>
          <a:p>
            <a:r>
              <a:rPr lang="en-US" sz="1700" b="1" dirty="0"/>
              <a:t>Smoke Testing </a:t>
            </a:r>
            <a:r>
              <a:rPr lang="en-US" sz="1700" dirty="0"/>
              <a:t>is a preliminary test to check whether the basic functionalities of an application are working correctly. It is also known as "Build Verification Testing.”</a:t>
            </a:r>
          </a:p>
          <a:p>
            <a:r>
              <a:rPr lang="en-US" sz="1700" b="1" dirty="0"/>
              <a:t>Sanity Testing </a:t>
            </a:r>
            <a:r>
              <a:rPr lang="en-US" sz="1700" dirty="0"/>
              <a:t>is a narrow regression test that focuses on specific functionalities of an application. It ensures that a small section of the application works as expected after minor changes or bug fixes.</a:t>
            </a:r>
          </a:p>
          <a:p>
            <a:r>
              <a:rPr lang="en-US" sz="1700" b="1" dirty="0"/>
              <a:t>Regression Testing </a:t>
            </a:r>
            <a:r>
              <a:rPr lang="en-US" sz="1700" dirty="0"/>
              <a:t>involves re-running functional and non-functional tests to ensure that previously developed and tested software still works after changes (e.g., new features, enhancements, bug fixes).</a:t>
            </a:r>
          </a:p>
          <a:p>
            <a:r>
              <a:rPr lang="en-US" sz="1700" b="1" dirty="0"/>
              <a:t>Retesting </a:t>
            </a:r>
            <a:r>
              <a:rPr lang="en-US" sz="1700" dirty="0"/>
              <a:t>is a process of testing a specific defect after it has been fixed to verify that the issue is resolved.</a:t>
            </a:r>
          </a:p>
          <a:p>
            <a:endParaRPr lang="en-US" sz="1700" dirty="0"/>
          </a:p>
        </p:txBody>
      </p:sp>
    </p:spTree>
    <p:extLst>
      <p:ext uri="{BB962C8B-B14F-4D97-AF65-F5344CB8AC3E}">
        <p14:creationId xmlns:p14="http://schemas.microsoft.com/office/powerpoint/2010/main" val="4179841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0BCB5B-3005-D4DD-7F12-496E5A907408}"/>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860CFB-411F-E683-7228-1CDB669169A5}"/>
              </a:ext>
            </a:extLst>
          </p:cNvPr>
          <p:cNvSpPr>
            <a:spLocks noGrp="1"/>
          </p:cNvSpPr>
          <p:nvPr>
            <p:ph type="title"/>
          </p:nvPr>
        </p:nvSpPr>
        <p:spPr>
          <a:xfrm>
            <a:off x="804672" y="2404872"/>
            <a:ext cx="3044950" cy="1627792"/>
          </a:xfrm>
          <a:prstGeom prst="flowChartDocument">
            <a:avLst/>
          </a:prstGeom>
        </p:spPr>
        <p:txBody>
          <a:bodyPr vert="horz" lIns="274320" tIns="182880" rIns="274320" bIns="182880" rtlCol="0" anchor="ctr" anchorCtr="1">
            <a:normAutofit/>
          </a:bodyPr>
          <a:lstStyle/>
          <a:p>
            <a:r>
              <a:rPr lang="en-US" sz="1500" dirty="0"/>
              <a:t>Key Differences Between Smoke, Sanity, Regression, and Retesting</a:t>
            </a:r>
          </a:p>
        </p:txBody>
      </p:sp>
      <p:graphicFrame>
        <p:nvGraphicFramePr>
          <p:cNvPr id="3" name="Table 2">
            <a:extLst>
              <a:ext uri="{FF2B5EF4-FFF2-40B4-BE49-F238E27FC236}">
                <a16:creationId xmlns:a16="http://schemas.microsoft.com/office/drawing/2014/main" id="{5F277573-1D90-F681-0AB0-794D36CFDF77}"/>
              </a:ext>
            </a:extLst>
          </p:cNvPr>
          <p:cNvGraphicFramePr>
            <a:graphicFrameLocks noGrp="1"/>
          </p:cNvGraphicFramePr>
          <p:nvPr>
            <p:extLst>
              <p:ext uri="{D42A27DB-BD31-4B8C-83A1-F6EECF244321}">
                <p14:modId xmlns:p14="http://schemas.microsoft.com/office/powerpoint/2010/main" val="986152830"/>
              </p:ext>
            </p:extLst>
          </p:nvPr>
        </p:nvGraphicFramePr>
        <p:xfrm>
          <a:off x="4766310" y="1611630"/>
          <a:ext cx="7315200" cy="3509008"/>
        </p:xfrm>
        <a:graphic>
          <a:graphicData uri="http://schemas.openxmlformats.org/drawingml/2006/table">
            <a:tbl>
              <a:tblPr>
                <a:solidFill>
                  <a:schemeClr val="bg1"/>
                </a:solidFill>
              </a:tblPr>
              <a:tblGrid>
                <a:gridCol w="943380">
                  <a:extLst>
                    <a:ext uri="{9D8B030D-6E8A-4147-A177-3AD203B41FA5}">
                      <a16:colId xmlns:a16="http://schemas.microsoft.com/office/drawing/2014/main" val="722233094"/>
                    </a:ext>
                  </a:extLst>
                </a:gridCol>
                <a:gridCol w="1370091">
                  <a:extLst>
                    <a:ext uri="{9D8B030D-6E8A-4147-A177-3AD203B41FA5}">
                      <a16:colId xmlns:a16="http://schemas.microsoft.com/office/drawing/2014/main" val="1782440281"/>
                    </a:ext>
                  </a:extLst>
                </a:gridCol>
                <a:gridCol w="1414745">
                  <a:extLst>
                    <a:ext uri="{9D8B030D-6E8A-4147-A177-3AD203B41FA5}">
                      <a16:colId xmlns:a16="http://schemas.microsoft.com/office/drawing/2014/main" val="2235123998"/>
                    </a:ext>
                  </a:extLst>
                </a:gridCol>
                <a:gridCol w="1881149">
                  <a:extLst>
                    <a:ext uri="{9D8B030D-6E8A-4147-A177-3AD203B41FA5}">
                      <a16:colId xmlns:a16="http://schemas.microsoft.com/office/drawing/2014/main" val="2276638275"/>
                    </a:ext>
                  </a:extLst>
                </a:gridCol>
                <a:gridCol w="1705835">
                  <a:extLst>
                    <a:ext uri="{9D8B030D-6E8A-4147-A177-3AD203B41FA5}">
                      <a16:colId xmlns:a16="http://schemas.microsoft.com/office/drawing/2014/main" val="1549984985"/>
                    </a:ext>
                  </a:extLst>
                </a:gridCol>
              </a:tblGrid>
              <a:tr h="318712">
                <a:tc>
                  <a:txBody>
                    <a:bodyPr/>
                    <a:lstStyle/>
                    <a:p>
                      <a:r>
                        <a:rPr lang="en-US" sz="900" b="1" cap="none" spc="0" dirty="0">
                          <a:solidFill>
                            <a:schemeClr val="tx1"/>
                          </a:solidFill>
                        </a:rPr>
                        <a:t>Aspect</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b="1" cap="none" spc="0" dirty="0">
                          <a:solidFill>
                            <a:schemeClr val="tx1"/>
                          </a:solidFill>
                        </a:rPr>
                        <a:t>Smoke Testing</a:t>
                      </a:r>
                      <a:endParaRPr lang="en-US" sz="900" cap="none" spc="0" dirty="0">
                        <a:solidFill>
                          <a:schemeClr val="tx1"/>
                        </a:solidFill>
                      </a:endParaRP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b="1" cap="none" spc="0" dirty="0">
                          <a:solidFill>
                            <a:schemeClr val="tx1"/>
                          </a:solidFill>
                        </a:rPr>
                        <a:t>Sanity Testing</a:t>
                      </a:r>
                      <a:endParaRPr lang="en-US" sz="900" cap="none" spc="0" dirty="0">
                        <a:solidFill>
                          <a:schemeClr val="tx1"/>
                        </a:solidFill>
                      </a:endParaRP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b="1" cap="none" spc="0" dirty="0">
                          <a:solidFill>
                            <a:schemeClr val="tx1"/>
                          </a:solidFill>
                        </a:rPr>
                        <a:t>Regression Testing</a:t>
                      </a:r>
                      <a:endParaRPr lang="en-US" sz="900" cap="none" spc="0" dirty="0">
                        <a:solidFill>
                          <a:schemeClr val="tx1"/>
                        </a:solidFill>
                      </a:endParaRP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b="1" cap="none" spc="0" dirty="0">
                          <a:solidFill>
                            <a:schemeClr val="tx1"/>
                          </a:solidFill>
                        </a:rPr>
                        <a:t>Retesting</a:t>
                      </a:r>
                      <a:endParaRPr lang="en-US" sz="900" cap="none" spc="0" dirty="0">
                        <a:solidFill>
                          <a:schemeClr val="tx1"/>
                        </a:solidFill>
                      </a:endParaRP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34566061"/>
                  </a:ext>
                </a:extLst>
              </a:tr>
              <a:tr h="478465">
                <a:tc>
                  <a:txBody>
                    <a:bodyPr/>
                    <a:lstStyle/>
                    <a:p>
                      <a:r>
                        <a:rPr lang="en-US" sz="900" b="1" cap="none" spc="0" dirty="0">
                          <a:solidFill>
                            <a:schemeClr val="tx1"/>
                          </a:solidFill>
                        </a:rPr>
                        <a:t>Purpose</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To verify if the build is stable</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To verify specific functionality or bug</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To ensure new changes do not affect existing features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To check if specific defects are fixed</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03775812"/>
                  </a:ext>
                </a:extLst>
              </a:tr>
              <a:tr h="478465">
                <a:tc>
                  <a:txBody>
                    <a:bodyPr/>
                    <a:lstStyle/>
                    <a:p>
                      <a:r>
                        <a:rPr lang="en-US" sz="900" b="1" cap="none" spc="0" dirty="0">
                          <a:solidFill>
                            <a:schemeClr val="tx1"/>
                          </a:solidFill>
                        </a:rPr>
                        <a:t>Coverage</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High-level, basic functionalities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Narrow, focused on particular functions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Broad, including all affected and unaffected areas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Limited to defect-specific test cases</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473908363"/>
                  </a:ext>
                </a:extLst>
              </a:tr>
              <a:tr h="478465">
                <a:tc>
                  <a:txBody>
                    <a:bodyPr/>
                    <a:lstStyle/>
                    <a:p>
                      <a:r>
                        <a:rPr lang="en-US" sz="900" b="1" cap="none" spc="0" dirty="0">
                          <a:solidFill>
                            <a:schemeClr val="tx1"/>
                          </a:solidFill>
                        </a:rPr>
                        <a:t>Execution Time</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Quick, takes a short amount of time</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Quick, focuses only on recent changes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Takes longer, as it covers the entire application</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Varies, depending on the complexity of the defect</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753211661"/>
                  </a:ext>
                </a:extLst>
              </a:tr>
              <a:tr h="638218">
                <a:tc>
                  <a:txBody>
                    <a:bodyPr/>
                    <a:lstStyle/>
                    <a:p>
                      <a:r>
                        <a:rPr lang="en-US" sz="900" b="1" cap="none" spc="0" dirty="0">
                          <a:solidFill>
                            <a:schemeClr val="tx1"/>
                          </a:solidFill>
                        </a:rPr>
                        <a:t>When Performed</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After a new build is released</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After minor changes or bug fixes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After new features, enhancements, or major bug fixes</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After a defect fix</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091957308"/>
                  </a:ext>
                </a:extLst>
              </a:tr>
              <a:tr h="478465">
                <a:tc>
                  <a:txBody>
                    <a:bodyPr/>
                    <a:lstStyle/>
                    <a:p>
                      <a:r>
                        <a:rPr lang="en-US" sz="900" b="1" cap="none" spc="0" dirty="0">
                          <a:solidFill>
                            <a:schemeClr val="tx1"/>
                          </a:solidFill>
                        </a:rPr>
                        <a:t>Automation Possibility</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Can be automated</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Generally manual</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Can be automated</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Generally manual</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954351853"/>
                  </a:ext>
                </a:extLst>
              </a:tr>
              <a:tr h="638218">
                <a:tc>
                  <a:txBody>
                    <a:bodyPr/>
                    <a:lstStyle/>
                    <a:p>
                      <a:r>
                        <a:rPr lang="en-US" sz="900" b="1" cap="none" spc="0" dirty="0">
                          <a:solidFill>
                            <a:schemeClr val="tx1"/>
                          </a:solidFill>
                        </a:rPr>
                        <a:t>Example</a:t>
                      </a:r>
                      <a:endParaRPr lang="en-US" sz="900" cap="none" spc="0" dirty="0">
                        <a:solidFill>
                          <a:schemeClr val="tx1"/>
                        </a:solidFill>
                      </a:endParaRPr>
                    </a:p>
                  </a:txBody>
                  <a:tcPr marL="66654" marR="18504" marT="51273" marB="51273"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Checking if the app launches successfully</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Verifying the specific bug fix</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Testing all functionalities after a new module is added</a:t>
                      </a:r>
                    </a:p>
                  </a:txBody>
                  <a:tcPr marL="66654" marR="18504" marT="51273" marB="51273"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9050" cap="flat" cmpd="sng" algn="ctr">
                      <a:solidFill>
                        <a:schemeClr val="tx1"/>
                      </a:solidFill>
                      <a:prstDash val="solid"/>
                    </a:lnB>
                    <a:noFill/>
                  </a:tcPr>
                </a:tc>
                <a:tc>
                  <a:txBody>
                    <a:bodyPr/>
                    <a:lstStyle/>
                    <a:p>
                      <a:r>
                        <a:rPr lang="en-US" sz="900" cap="none" spc="0" dirty="0">
                          <a:solidFill>
                            <a:schemeClr val="tx1"/>
                          </a:solidFill>
                        </a:rPr>
                        <a:t>Checking the functionality of a fixed button</a:t>
                      </a:r>
                    </a:p>
                  </a:txBody>
                  <a:tcPr marL="66654" marR="18504" marT="51273" marB="51273"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914109207"/>
                  </a:ext>
                </a:extLst>
              </a:tr>
            </a:tbl>
          </a:graphicData>
        </a:graphic>
      </p:graphicFrame>
    </p:spTree>
    <p:extLst>
      <p:ext uri="{BB962C8B-B14F-4D97-AF65-F5344CB8AC3E}">
        <p14:creationId xmlns:p14="http://schemas.microsoft.com/office/powerpoint/2010/main" val="619526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3EF59320-0589-1065-8B99-AABCD230E8FA}"/>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60898-0DFF-DF9C-FD3F-81AE597889D3}"/>
              </a:ext>
            </a:extLst>
          </p:cNvPr>
          <p:cNvSpPr>
            <a:spLocks noGrp="1"/>
          </p:cNvSpPr>
          <p:nvPr>
            <p:ph type="title"/>
          </p:nvPr>
        </p:nvSpPr>
        <p:spPr>
          <a:xfrm>
            <a:off x="643466" y="643467"/>
            <a:ext cx="6242719" cy="1728044"/>
          </a:xfrm>
          <a:prstGeom prst="ellipse">
            <a:avLst/>
          </a:prstGeom>
          <a:noFill/>
          <a:ln>
            <a:solidFill>
              <a:schemeClr val="bg1"/>
            </a:solidFill>
          </a:ln>
        </p:spPr>
        <p:txBody>
          <a:bodyPr wrap="square">
            <a:normAutofit/>
          </a:bodyPr>
          <a:lstStyle/>
          <a:p>
            <a:r>
              <a:rPr lang="en-US" dirty="0">
                <a:solidFill>
                  <a:schemeClr val="bg1"/>
                </a:solidFill>
              </a:rPr>
              <a:t>Non-Functional Testing</a:t>
            </a:r>
          </a:p>
        </p:txBody>
      </p:sp>
      <p:sp>
        <p:nvSpPr>
          <p:cNvPr id="17" name="Content Placeholder 2">
            <a:extLst>
              <a:ext uri="{FF2B5EF4-FFF2-40B4-BE49-F238E27FC236}">
                <a16:creationId xmlns:a16="http://schemas.microsoft.com/office/drawing/2014/main" id="{08892D91-EB97-822E-94DC-13973FBBDC95}"/>
              </a:ext>
            </a:extLst>
          </p:cNvPr>
          <p:cNvSpPr>
            <a:spLocks noGrp="1"/>
          </p:cNvSpPr>
          <p:nvPr>
            <p:ph idx="1"/>
          </p:nvPr>
        </p:nvSpPr>
        <p:spPr>
          <a:xfrm>
            <a:off x="643467" y="2638044"/>
            <a:ext cx="6242715" cy="3415622"/>
          </a:xfrm>
        </p:spPr>
        <p:txBody>
          <a:bodyPr>
            <a:normAutofit/>
          </a:bodyPr>
          <a:lstStyle/>
          <a:p>
            <a:pPr>
              <a:lnSpc>
                <a:spcPct val="90000"/>
              </a:lnSpc>
            </a:pPr>
            <a:r>
              <a:rPr lang="en-US" b="1" dirty="0">
                <a:solidFill>
                  <a:schemeClr val="bg1"/>
                </a:solidFill>
              </a:rPr>
              <a:t>Performance Testing: </a:t>
            </a:r>
            <a:r>
              <a:rPr lang="en-US" dirty="0">
                <a:solidFill>
                  <a:schemeClr val="bg1"/>
                </a:solidFill>
              </a:rPr>
              <a:t>To evaluate the system's responsiveness, stability, and speed under different load conditions.</a:t>
            </a:r>
          </a:p>
          <a:p>
            <a:pPr lvl="1">
              <a:lnSpc>
                <a:spcPct val="90000"/>
              </a:lnSpc>
            </a:pPr>
            <a:r>
              <a:rPr lang="en-US" b="1" dirty="0">
                <a:solidFill>
                  <a:schemeClr val="bg1"/>
                </a:solidFill>
              </a:rPr>
              <a:t>Load Testing: </a:t>
            </a:r>
            <a:r>
              <a:rPr lang="en-US" dirty="0">
                <a:solidFill>
                  <a:schemeClr val="bg1"/>
                </a:solidFill>
              </a:rPr>
              <a:t>Tests the system's behavior under expected load to identify any performance bottlenecks.</a:t>
            </a:r>
            <a:endParaRPr lang="en-US" b="1" dirty="0">
              <a:solidFill>
                <a:schemeClr val="bg1"/>
              </a:solidFill>
            </a:endParaRPr>
          </a:p>
          <a:p>
            <a:pPr lvl="1">
              <a:lnSpc>
                <a:spcPct val="90000"/>
              </a:lnSpc>
            </a:pPr>
            <a:r>
              <a:rPr lang="en-US" b="1" dirty="0">
                <a:solidFill>
                  <a:schemeClr val="bg1"/>
                </a:solidFill>
              </a:rPr>
              <a:t>Stress Testing:</a:t>
            </a:r>
            <a:r>
              <a:rPr lang="en-US" dirty="0">
                <a:solidFill>
                  <a:schemeClr val="bg1"/>
                </a:solidFill>
              </a:rPr>
              <a:t> Puts the system under extreme conditions(Greater than expected load) to assess its stability and error-handling capabilities.</a:t>
            </a:r>
          </a:p>
          <a:p>
            <a:pPr lvl="1">
              <a:lnSpc>
                <a:spcPct val="90000"/>
              </a:lnSpc>
            </a:pPr>
            <a:r>
              <a:rPr lang="en-US" b="1" dirty="0">
                <a:solidFill>
                  <a:schemeClr val="bg1"/>
                </a:solidFill>
              </a:rPr>
              <a:t>Spike Testing:</a:t>
            </a:r>
            <a:r>
              <a:rPr lang="en-US" dirty="0">
                <a:solidFill>
                  <a:schemeClr val="bg1"/>
                </a:solidFill>
              </a:rPr>
              <a:t> Tests the system's response to a sudden, sharp increase in load</a:t>
            </a:r>
          </a:p>
          <a:p>
            <a:pPr lvl="1">
              <a:lnSpc>
                <a:spcPct val="90000"/>
              </a:lnSpc>
            </a:pPr>
            <a:r>
              <a:rPr lang="en-US" b="1" dirty="0">
                <a:solidFill>
                  <a:schemeClr val="bg1"/>
                </a:solidFill>
              </a:rPr>
              <a:t>Soak/Endurance Testing: </a:t>
            </a:r>
            <a:r>
              <a:rPr lang="en-US" dirty="0">
                <a:solidFill>
                  <a:schemeClr val="bg1"/>
                </a:solidFill>
              </a:rPr>
              <a:t>Checks the system's performance over a prolonged period to detect memory leaks or degradation.</a:t>
            </a:r>
          </a:p>
        </p:txBody>
      </p:sp>
      <p:pic>
        <p:nvPicPr>
          <p:cNvPr id="4" name="Picture 3" descr="A diagram of stress testing&#10;&#10;Description automatically generated">
            <a:extLst>
              <a:ext uri="{FF2B5EF4-FFF2-40B4-BE49-F238E27FC236}">
                <a16:creationId xmlns:a16="http://schemas.microsoft.com/office/drawing/2014/main" id="{B04A95C1-87D9-717A-AAF6-A0390BD12CA2}"/>
              </a:ext>
            </a:extLst>
          </p:cNvPr>
          <p:cNvPicPr>
            <a:picLocks noChangeAspect="1"/>
          </p:cNvPicPr>
          <p:nvPr/>
        </p:nvPicPr>
        <p:blipFill>
          <a:blip r:embed="rId2"/>
          <a:stretch>
            <a:fillRect/>
          </a:stretch>
        </p:blipFill>
        <p:spPr>
          <a:xfrm>
            <a:off x="8119870" y="2402846"/>
            <a:ext cx="3428662" cy="1851477"/>
          </a:xfrm>
          <a:prstGeom prst="rect">
            <a:avLst/>
          </a:prstGeom>
        </p:spPr>
      </p:pic>
    </p:spTree>
    <p:extLst>
      <p:ext uri="{BB962C8B-B14F-4D97-AF65-F5344CB8AC3E}">
        <p14:creationId xmlns:p14="http://schemas.microsoft.com/office/powerpoint/2010/main" val="4205022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837F256-4E1D-25BB-A2A2-C89AE76ABA81}"/>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B58F6C2D-BC42-485D-9DAA-6239BD134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3770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4A9837-B86D-499C-A194-836FF210CF47}"/>
              </a:ext>
            </a:extLst>
          </p:cNvPr>
          <p:cNvSpPr>
            <a:spLocks noGrp="1"/>
          </p:cNvSpPr>
          <p:nvPr>
            <p:ph type="title"/>
          </p:nvPr>
        </p:nvSpPr>
        <p:spPr>
          <a:xfrm>
            <a:off x="963505" y="2258167"/>
            <a:ext cx="5610692" cy="2341666"/>
          </a:xfrm>
          <a:prstGeom prst="ellipse">
            <a:avLst/>
          </a:prstGeom>
          <a:noFill/>
          <a:ln>
            <a:solidFill>
              <a:schemeClr val="bg1"/>
            </a:solidFill>
          </a:ln>
        </p:spPr>
        <p:txBody>
          <a:bodyPr>
            <a:normAutofit/>
          </a:bodyPr>
          <a:lstStyle/>
          <a:p>
            <a:r>
              <a:rPr lang="en-US" sz="3000">
                <a:solidFill>
                  <a:schemeClr val="bg1"/>
                </a:solidFill>
              </a:rPr>
              <a:t>Non-Functional Testing</a:t>
            </a:r>
          </a:p>
        </p:txBody>
      </p:sp>
      <p:sp>
        <p:nvSpPr>
          <p:cNvPr id="77" name="Content Placeholder 2">
            <a:extLst>
              <a:ext uri="{FF2B5EF4-FFF2-40B4-BE49-F238E27FC236}">
                <a16:creationId xmlns:a16="http://schemas.microsoft.com/office/drawing/2014/main" id="{3B282ED9-378A-181A-31C6-716437459CD3}"/>
              </a:ext>
            </a:extLst>
          </p:cNvPr>
          <p:cNvSpPr>
            <a:spLocks noGrp="1"/>
          </p:cNvSpPr>
          <p:nvPr>
            <p:ph idx="1"/>
          </p:nvPr>
        </p:nvSpPr>
        <p:spPr>
          <a:xfrm>
            <a:off x="8177783" y="973600"/>
            <a:ext cx="3374136" cy="4924280"/>
          </a:xfrm>
        </p:spPr>
        <p:txBody>
          <a:bodyPr anchor="ctr">
            <a:normAutofit/>
          </a:bodyPr>
          <a:lstStyle/>
          <a:p>
            <a:pPr>
              <a:lnSpc>
                <a:spcPct val="90000"/>
              </a:lnSpc>
            </a:pPr>
            <a:r>
              <a:rPr lang="en-US" sz="1500" b="1" dirty="0"/>
              <a:t>Usability Testing: </a:t>
            </a:r>
            <a:r>
              <a:rPr lang="en-US" sz="1500" dirty="0"/>
              <a:t>To evaluate how user-friendly and intuitive the application is for end-users.</a:t>
            </a:r>
          </a:p>
          <a:p>
            <a:pPr>
              <a:lnSpc>
                <a:spcPct val="90000"/>
              </a:lnSpc>
            </a:pPr>
            <a:r>
              <a:rPr lang="en-US" sz="1500" b="1" dirty="0"/>
              <a:t>Compatibility Testing: </a:t>
            </a:r>
            <a:r>
              <a:rPr lang="en-US" sz="1500" dirty="0"/>
              <a:t>To ensure that the application works as intended across different devices, operating systems, browsers, and hardware configurations.</a:t>
            </a:r>
          </a:p>
          <a:p>
            <a:pPr>
              <a:lnSpc>
                <a:spcPct val="90000"/>
              </a:lnSpc>
            </a:pPr>
            <a:r>
              <a:rPr lang="en-US" sz="1500" b="1" dirty="0"/>
              <a:t>Security Testing: </a:t>
            </a:r>
            <a:r>
              <a:rPr lang="en-US" sz="1500" dirty="0"/>
              <a:t>To identify vulnerabilities and weaknesses in the software to prevent unauthorized access, data breaches, and other security threats.</a:t>
            </a:r>
          </a:p>
          <a:p>
            <a:pPr>
              <a:lnSpc>
                <a:spcPct val="90000"/>
              </a:lnSpc>
            </a:pPr>
            <a:r>
              <a:rPr lang="en-US" sz="1500" b="1" dirty="0"/>
              <a:t>Accessibility Testing: </a:t>
            </a:r>
            <a:r>
              <a:rPr lang="en-US" sz="1500" dirty="0"/>
              <a:t>To ensure the software is usable for people with disabilities, such as those with visual or hearing impairments.</a:t>
            </a:r>
          </a:p>
        </p:txBody>
      </p:sp>
    </p:spTree>
    <p:extLst>
      <p:ext uri="{BB962C8B-B14F-4D97-AF65-F5344CB8AC3E}">
        <p14:creationId xmlns:p14="http://schemas.microsoft.com/office/powerpoint/2010/main" val="1420665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BB50B2CC-021E-0F2F-8724-84CE5E50B26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0B2960-2938-62AE-A2AA-AB7D36D3E797}"/>
              </a:ext>
            </a:extLst>
          </p:cNvPr>
          <p:cNvSpPr>
            <a:spLocks noGrp="1"/>
          </p:cNvSpPr>
          <p:nvPr>
            <p:ph type="title"/>
          </p:nvPr>
        </p:nvSpPr>
        <p:spPr>
          <a:xfrm>
            <a:off x="643466" y="643467"/>
            <a:ext cx="6242719" cy="1728044"/>
          </a:xfrm>
          <a:prstGeom prst="ellipse">
            <a:avLst/>
          </a:prstGeom>
          <a:noFill/>
          <a:ln>
            <a:solidFill>
              <a:schemeClr val="bg1"/>
            </a:solidFill>
          </a:ln>
        </p:spPr>
        <p:txBody>
          <a:bodyPr wrap="square">
            <a:normAutofit/>
          </a:bodyPr>
          <a:lstStyle/>
          <a:p>
            <a:r>
              <a:rPr lang="en-US">
                <a:solidFill>
                  <a:schemeClr val="bg1"/>
                </a:solidFill>
              </a:rPr>
              <a:t>Testing</a:t>
            </a:r>
            <a:br>
              <a:rPr lang="en-US">
                <a:solidFill>
                  <a:schemeClr val="bg1"/>
                </a:solidFill>
              </a:rPr>
            </a:br>
            <a:r>
              <a:rPr lang="en-US">
                <a:solidFill>
                  <a:schemeClr val="bg1"/>
                </a:solidFill>
              </a:rPr>
              <a:t>Methods</a:t>
            </a:r>
          </a:p>
        </p:txBody>
      </p:sp>
      <p:sp>
        <p:nvSpPr>
          <p:cNvPr id="17" name="Content Placeholder 2">
            <a:extLst>
              <a:ext uri="{FF2B5EF4-FFF2-40B4-BE49-F238E27FC236}">
                <a16:creationId xmlns:a16="http://schemas.microsoft.com/office/drawing/2014/main" id="{48956393-6E38-0E23-0A90-A35639D1F238}"/>
              </a:ext>
            </a:extLst>
          </p:cNvPr>
          <p:cNvSpPr>
            <a:spLocks noGrp="1"/>
          </p:cNvSpPr>
          <p:nvPr>
            <p:ph idx="1"/>
          </p:nvPr>
        </p:nvSpPr>
        <p:spPr>
          <a:xfrm>
            <a:off x="643467" y="2638044"/>
            <a:ext cx="6242715" cy="3415622"/>
          </a:xfrm>
        </p:spPr>
        <p:txBody>
          <a:bodyPr>
            <a:normAutofit/>
          </a:bodyPr>
          <a:lstStyle/>
          <a:p>
            <a:r>
              <a:rPr lang="en-US" b="1" dirty="0">
                <a:solidFill>
                  <a:schemeClr val="bg1"/>
                </a:solidFill>
              </a:rPr>
              <a:t>Black Box Testing </a:t>
            </a:r>
            <a:r>
              <a:rPr lang="en-US" dirty="0">
                <a:solidFill>
                  <a:schemeClr val="bg1"/>
                </a:solidFill>
              </a:rPr>
              <a:t>is done without knowledge of the system's internal code, structure, or implementation.</a:t>
            </a:r>
            <a:br>
              <a:rPr lang="en-US" dirty="0">
                <a:solidFill>
                  <a:schemeClr val="bg1"/>
                </a:solidFill>
              </a:rPr>
            </a:br>
            <a:endParaRPr lang="en-US" dirty="0">
              <a:solidFill>
                <a:schemeClr val="bg1"/>
              </a:solidFill>
            </a:endParaRPr>
          </a:p>
          <a:p>
            <a:r>
              <a:rPr lang="en-US" b="1" dirty="0">
                <a:solidFill>
                  <a:schemeClr val="bg1"/>
                </a:solidFill>
              </a:rPr>
              <a:t>White Box Testing </a:t>
            </a:r>
            <a:r>
              <a:rPr lang="en-US" dirty="0">
                <a:solidFill>
                  <a:schemeClr val="bg1"/>
                </a:solidFill>
              </a:rPr>
              <a:t>is performed with full knowledge of the internal code, structure, and implementation of the system.</a:t>
            </a:r>
            <a:br>
              <a:rPr lang="en-US" dirty="0">
                <a:solidFill>
                  <a:schemeClr val="bg1"/>
                </a:solidFill>
              </a:rPr>
            </a:br>
            <a:endParaRPr lang="en-US" dirty="0">
              <a:solidFill>
                <a:schemeClr val="bg1"/>
              </a:solidFill>
            </a:endParaRPr>
          </a:p>
          <a:p>
            <a:r>
              <a:rPr lang="en-US" b="1" dirty="0">
                <a:solidFill>
                  <a:schemeClr val="bg1"/>
                </a:solidFill>
              </a:rPr>
              <a:t>Grey Box Testing </a:t>
            </a:r>
            <a:r>
              <a:rPr lang="en-US" dirty="0">
                <a:solidFill>
                  <a:schemeClr val="bg1"/>
                </a:solidFill>
              </a:rPr>
              <a:t>is a combination of Black Box and White Box Testing; the tester has limited knowledge of the internal code.</a:t>
            </a:r>
          </a:p>
        </p:txBody>
      </p:sp>
      <p:pic>
        <p:nvPicPr>
          <p:cNvPr id="6" name="Picture 5" descr="A diagram of a white box&#10;&#10;Description automatically generated">
            <a:extLst>
              <a:ext uri="{FF2B5EF4-FFF2-40B4-BE49-F238E27FC236}">
                <a16:creationId xmlns:a16="http://schemas.microsoft.com/office/drawing/2014/main" id="{4B4A450E-F0BF-BBAB-4F4F-7706928E66A5}"/>
              </a:ext>
            </a:extLst>
          </p:cNvPr>
          <p:cNvPicPr>
            <a:picLocks noChangeAspect="1"/>
          </p:cNvPicPr>
          <p:nvPr/>
        </p:nvPicPr>
        <p:blipFill>
          <a:blip r:embed="rId2"/>
          <a:stretch>
            <a:fillRect/>
          </a:stretch>
        </p:blipFill>
        <p:spPr>
          <a:xfrm>
            <a:off x="7567296" y="3597165"/>
            <a:ext cx="4624704" cy="1109928"/>
          </a:xfrm>
          <a:prstGeom prst="rect">
            <a:avLst/>
          </a:prstGeom>
        </p:spPr>
      </p:pic>
      <p:pic>
        <p:nvPicPr>
          <p:cNvPr id="10" name="Picture 9" descr="A black cube with white text&#10;&#10;Description automatically generated">
            <a:extLst>
              <a:ext uri="{FF2B5EF4-FFF2-40B4-BE49-F238E27FC236}">
                <a16:creationId xmlns:a16="http://schemas.microsoft.com/office/drawing/2014/main" id="{A3B6A814-BE49-9AB6-C9C4-F84C0CB790F4}"/>
              </a:ext>
            </a:extLst>
          </p:cNvPr>
          <p:cNvPicPr>
            <a:picLocks noChangeAspect="1"/>
          </p:cNvPicPr>
          <p:nvPr/>
        </p:nvPicPr>
        <p:blipFill>
          <a:blip r:embed="rId3"/>
          <a:stretch>
            <a:fillRect/>
          </a:stretch>
        </p:blipFill>
        <p:spPr>
          <a:xfrm>
            <a:off x="7567296" y="2371511"/>
            <a:ext cx="4624703" cy="1052120"/>
          </a:xfrm>
          <a:prstGeom prst="rect">
            <a:avLst/>
          </a:prstGeom>
        </p:spPr>
      </p:pic>
    </p:spTree>
    <p:extLst>
      <p:ext uri="{BB962C8B-B14F-4D97-AF65-F5344CB8AC3E}">
        <p14:creationId xmlns:p14="http://schemas.microsoft.com/office/powerpoint/2010/main" val="2224618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F7E675-5B57-E804-BDDF-8F6AC8FADA3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EC9029-3F3F-CB3C-6408-AFD5DF48FDE4}"/>
              </a:ext>
            </a:extLst>
          </p:cNvPr>
          <p:cNvSpPr>
            <a:spLocks noGrp="1"/>
          </p:cNvSpPr>
          <p:nvPr>
            <p:ph type="title"/>
          </p:nvPr>
        </p:nvSpPr>
        <p:spPr>
          <a:xfrm>
            <a:off x="1600200" y="4269282"/>
            <a:ext cx="8991600" cy="1264762"/>
          </a:xfrm>
          <a:prstGeom prst="flowChartDocument">
            <a:avLst/>
          </a:prstGeom>
        </p:spPr>
        <p:txBody>
          <a:bodyPr vert="horz" lIns="274320" tIns="182880" rIns="274320" bIns="182880" rtlCol="0" anchor="ctr" anchorCtr="1">
            <a:normAutofit/>
          </a:bodyPr>
          <a:lstStyle/>
          <a:p>
            <a:r>
              <a:rPr lang="en-US" sz="2200" dirty="0"/>
              <a:t>Key Differences Between Black Box, White Box, and Grey Box Testing Methods</a:t>
            </a:r>
          </a:p>
        </p:txBody>
      </p:sp>
      <p:graphicFrame>
        <p:nvGraphicFramePr>
          <p:cNvPr id="4" name="Table 3">
            <a:extLst>
              <a:ext uri="{FF2B5EF4-FFF2-40B4-BE49-F238E27FC236}">
                <a16:creationId xmlns:a16="http://schemas.microsoft.com/office/drawing/2014/main" id="{865CBCA3-FB2B-3A2A-3903-EB0FD2A0B389}"/>
              </a:ext>
            </a:extLst>
          </p:cNvPr>
          <p:cNvGraphicFramePr>
            <a:graphicFrameLocks noGrp="1"/>
          </p:cNvGraphicFramePr>
          <p:nvPr>
            <p:extLst>
              <p:ext uri="{D42A27DB-BD31-4B8C-83A1-F6EECF244321}">
                <p14:modId xmlns:p14="http://schemas.microsoft.com/office/powerpoint/2010/main" val="2356340731"/>
              </p:ext>
            </p:extLst>
          </p:nvPr>
        </p:nvGraphicFramePr>
        <p:xfrm>
          <a:off x="635267" y="1043740"/>
          <a:ext cx="10921467" cy="2493985"/>
        </p:xfrm>
        <a:graphic>
          <a:graphicData uri="http://schemas.openxmlformats.org/drawingml/2006/table">
            <a:tbl>
              <a:tblPr/>
              <a:tblGrid>
                <a:gridCol w="1004117">
                  <a:extLst>
                    <a:ext uri="{9D8B030D-6E8A-4147-A177-3AD203B41FA5}">
                      <a16:colId xmlns:a16="http://schemas.microsoft.com/office/drawing/2014/main" val="478466999"/>
                    </a:ext>
                  </a:extLst>
                </a:gridCol>
                <a:gridCol w="3010912">
                  <a:extLst>
                    <a:ext uri="{9D8B030D-6E8A-4147-A177-3AD203B41FA5}">
                      <a16:colId xmlns:a16="http://schemas.microsoft.com/office/drawing/2014/main" val="3145744335"/>
                    </a:ext>
                  </a:extLst>
                </a:gridCol>
                <a:gridCol w="2732762">
                  <a:extLst>
                    <a:ext uri="{9D8B030D-6E8A-4147-A177-3AD203B41FA5}">
                      <a16:colId xmlns:a16="http://schemas.microsoft.com/office/drawing/2014/main" val="3561936354"/>
                    </a:ext>
                  </a:extLst>
                </a:gridCol>
                <a:gridCol w="1908616">
                  <a:extLst>
                    <a:ext uri="{9D8B030D-6E8A-4147-A177-3AD203B41FA5}">
                      <a16:colId xmlns:a16="http://schemas.microsoft.com/office/drawing/2014/main" val="506862412"/>
                    </a:ext>
                  </a:extLst>
                </a:gridCol>
                <a:gridCol w="2265060">
                  <a:extLst>
                    <a:ext uri="{9D8B030D-6E8A-4147-A177-3AD203B41FA5}">
                      <a16:colId xmlns:a16="http://schemas.microsoft.com/office/drawing/2014/main" val="4241065260"/>
                    </a:ext>
                  </a:extLst>
                </a:gridCol>
              </a:tblGrid>
              <a:tr h="277355">
                <a:tc>
                  <a:txBody>
                    <a:bodyPr/>
                    <a:lstStyle/>
                    <a:p>
                      <a:r>
                        <a:rPr lang="en-US" sz="1300" b="1" dirty="0"/>
                        <a:t>Methods</a:t>
                      </a:r>
                      <a:endParaRPr lang="en-US" sz="1300" dirty="0"/>
                    </a:p>
                  </a:txBody>
                  <a:tcPr marL="32088" marR="32088" marT="16044" marB="16044" anchor="ctr">
                    <a:lnL>
                      <a:noFill/>
                    </a:lnL>
                    <a:lnR>
                      <a:noFill/>
                    </a:lnR>
                    <a:lnT>
                      <a:noFill/>
                    </a:lnT>
                    <a:lnB>
                      <a:noFill/>
                    </a:lnB>
                    <a:noFill/>
                  </a:tcPr>
                </a:tc>
                <a:tc>
                  <a:txBody>
                    <a:bodyPr/>
                    <a:lstStyle/>
                    <a:p>
                      <a:r>
                        <a:rPr lang="en-US" sz="1300" b="1" dirty="0"/>
                        <a:t>Description</a:t>
                      </a:r>
                      <a:endParaRPr lang="en-US" sz="1300" dirty="0"/>
                    </a:p>
                  </a:txBody>
                  <a:tcPr marL="32088" marR="32088" marT="16044" marB="16044" anchor="ctr">
                    <a:lnL>
                      <a:noFill/>
                    </a:lnL>
                    <a:lnR>
                      <a:noFill/>
                    </a:lnR>
                    <a:lnT>
                      <a:noFill/>
                    </a:lnT>
                    <a:lnB>
                      <a:noFill/>
                    </a:lnB>
                    <a:noFill/>
                  </a:tcPr>
                </a:tc>
                <a:tc>
                  <a:txBody>
                    <a:bodyPr/>
                    <a:lstStyle/>
                    <a:p>
                      <a:r>
                        <a:rPr lang="en-US" sz="1300" b="1" dirty="0"/>
                        <a:t>Tester’s Knowledge</a:t>
                      </a:r>
                      <a:endParaRPr lang="en-US" sz="1300" dirty="0"/>
                    </a:p>
                  </a:txBody>
                  <a:tcPr marL="32088" marR="32088" marT="16044" marB="16044" anchor="ctr">
                    <a:lnL>
                      <a:noFill/>
                    </a:lnL>
                    <a:lnR>
                      <a:noFill/>
                    </a:lnR>
                    <a:lnT>
                      <a:noFill/>
                    </a:lnT>
                    <a:lnB>
                      <a:noFill/>
                    </a:lnB>
                    <a:noFill/>
                  </a:tcPr>
                </a:tc>
                <a:tc>
                  <a:txBody>
                    <a:bodyPr/>
                    <a:lstStyle/>
                    <a:p>
                      <a:r>
                        <a:rPr lang="en-US" sz="1300" b="1"/>
                        <a:t>Focus</a:t>
                      </a:r>
                      <a:endParaRPr lang="en-US" sz="1300"/>
                    </a:p>
                  </a:txBody>
                  <a:tcPr marL="32088" marR="32088" marT="16044" marB="16044" anchor="ctr">
                    <a:lnL>
                      <a:noFill/>
                    </a:lnL>
                    <a:lnR>
                      <a:noFill/>
                    </a:lnR>
                    <a:lnT>
                      <a:noFill/>
                    </a:lnT>
                    <a:lnB>
                      <a:noFill/>
                    </a:lnB>
                    <a:noFill/>
                  </a:tcPr>
                </a:tc>
                <a:tc>
                  <a:txBody>
                    <a:bodyPr/>
                    <a:lstStyle/>
                    <a:p>
                      <a:r>
                        <a:rPr lang="en-US" sz="1300" b="1"/>
                        <a:t>Example</a:t>
                      </a:r>
                      <a:endParaRPr lang="en-US" sz="1300"/>
                    </a:p>
                  </a:txBody>
                  <a:tcPr marL="32088" marR="32088" marT="16044" marB="16044" anchor="ctr">
                    <a:lnL>
                      <a:noFill/>
                    </a:lnL>
                    <a:lnR>
                      <a:noFill/>
                    </a:lnR>
                    <a:lnT>
                      <a:noFill/>
                    </a:lnT>
                    <a:lnB>
                      <a:noFill/>
                    </a:lnB>
                    <a:noFill/>
                  </a:tcPr>
                </a:tc>
                <a:extLst>
                  <a:ext uri="{0D108BD9-81ED-4DB2-BD59-A6C34878D82A}">
                    <a16:rowId xmlns:a16="http://schemas.microsoft.com/office/drawing/2014/main" val="1190132271"/>
                  </a:ext>
                </a:extLst>
              </a:tr>
              <a:tr h="672945">
                <a:tc>
                  <a:txBody>
                    <a:bodyPr/>
                    <a:lstStyle/>
                    <a:p>
                      <a:r>
                        <a:rPr lang="en-US" sz="1300" b="1"/>
                        <a:t>Black Box Testing</a:t>
                      </a:r>
                      <a:endParaRPr lang="en-US" sz="1300"/>
                    </a:p>
                  </a:txBody>
                  <a:tcPr marL="32088" marR="32088" marT="16044" marB="16044" anchor="ctr">
                    <a:lnL>
                      <a:noFill/>
                    </a:lnL>
                    <a:lnR>
                      <a:noFill/>
                    </a:lnR>
                    <a:lnT>
                      <a:noFill/>
                    </a:lnT>
                    <a:lnB>
                      <a:noFill/>
                    </a:lnB>
                    <a:noFill/>
                  </a:tcPr>
                </a:tc>
                <a:tc>
                  <a:txBody>
                    <a:bodyPr/>
                    <a:lstStyle/>
                    <a:p>
                      <a:r>
                        <a:rPr lang="en-US" sz="1300"/>
                        <a:t>Testing is done without any knowledge of the internal code, structure, or implementation of the system.</a:t>
                      </a:r>
                    </a:p>
                  </a:txBody>
                  <a:tcPr marL="32088" marR="32088" marT="16044" marB="16044" anchor="ctr">
                    <a:lnL>
                      <a:noFill/>
                    </a:lnL>
                    <a:lnR>
                      <a:noFill/>
                    </a:lnR>
                    <a:lnT>
                      <a:noFill/>
                    </a:lnT>
                    <a:lnB>
                      <a:noFill/>
                    </a:lnB>
                    <a:noFill/>
                  </a:tcPr>
                </a:tc>
                <a:tc>
                  <a:txBody>
                    <a:bodyPr/>
                    <a:lstStyle/>
                    <a:p>
                      <a:r>
                        <a:rPr lang="en-US" sz="1300"/>
                        <a:t>Tester only knows the input and expected output but does not know how the system processes the input.</a:t>
                      </a:r>
                      <a:endParaRPr lang="en-US" sz="1300" dirty="0"/>
                    </a:p>
                  </a:txBody>
                  <a:tcPr marL="32088" marR="32088" marT="16044" marB="16044" anchor="ctr">
                    <a:lnL>
                      <a:noFill/>
                    </a:lnL>
                    <a:lnR>
                      <a:noFill/>
                    </a:lnR>
                    <a:lnT>
                      <a:noFill/>
                    </a:lnT>
                    <a:lnB>
                      <a:noFill/>
                    </a:lnB>
                    <a:noFill/>
                  </a:tcPr>
                </a:tc>
                <a:tc>
                  <a:txBody>
                    <a:bodyPr/>
                    <a:lstStyle/>
                    <a:p>
                      <a:r>
                        <a:rPr lang="en-US" sz="1300"/>
                        <a:t>Functional requirements and external behavior of the application.</a:t>
                      </a:r>
                    </a:p>
                  </a:txBody>
                  <a:tcPr marL="32088" marR="32088" marT="16044" marB="16044" anchor="ctr">
                    <a:lnL>
                      <a:noFill/>
                    </a:lnL>
                    <a:lnR>
                      <a:noFill/>
                    </a:lnR>
                    <a:lnT>
                      <a:noFill/>
                    </a:lnT>
                    <a:lnB>
                      <a:noFill/>
                    </a:lnB>
                    <a:noFill/>
                  </a:tcPr>
                </a:tc>
                <a:tc>
                  <a:txBody>
                    <a:bodyPr/>
                    <a:lstStyle/>
                    <a:p>
                      <a:r>
                        <a:rPr lang="en-US" sz="1300"/>
                        <a:t>Testing a login form by entering valid and invalid user credentials.</a:t>
                      </a:r>
                    </a:p>
                  </a:txBody>
                  <a:tcPr marL="32088" marR="32088" marT="16044" marB="16044" anchor="ctr">
                    <a:lnL>
                      <a:noFill/>
                    </a:lnL>
                    <a:lnR>
                      <a:noFill/>
                    </a:lnR>
                    <a:lnT>
                      <a:noFill/>
                    </a:lnT>
                    <a:lnB>
                      <a:noFill/>
                    </a:lnB>
                    <a:noFill/>
                  </a:tcPr>
                </a:tc>
                <a:extLst>
                  <a:ext uri="{0D108BD9-81ED-4DB2-BD59-A6C34878D82A}">
                    <a16:rowId xmlns:a16="http://schemas.microsoft.com/office/drawing/2014/main" val="2251630572"/>
                  </a:ext>
                </a:extLst>
              </a:tr>
              <a:tr h="672945">
                <a:tc>
                  <a:txBody>
                    <a:bodyPr/>
                    <a:lstStyle/>
                    <a:p>
                      <a:r>
                        <a:rPr lang="en-US" sz="1300" b="1"/>
                        <a:t>White Box Testing</a:t>
                      </a:r>
                      <a:endParaRPr lang="en-US" sz="1300"/>
                    </a:p>
                  </a:txBody>
                  <a:tcPr marL="32088" marR="32088" marT="16044" marB="16044" anchor="ctr">
                    <a:lnL>
                      <a:noFill/>
                    </a:lnL>
                    <a:lnR>
                      <a:noFill/>
                    </a:lnR>
                    <a:lnT>
                      <a:noFill/>
                    </a:lnT>
                    <a:lnB>
                      <a:noFill/>
                    </a:lnB>
                    <a:noFill/>
                  </a:tcPr>
                </a:tc>
                <a:tc>
                  <a:txBody>
                    <a:bodyPr/>
                    <a:lstStyle/>
                    <a:p>
                      <a:r>
                        <a:rPr lang="en-US" sz="1300"/>
                        <a:t>Testing is performed with full knowledge of the internal code, structure, and implementation of the system.</a:t>
                      </a:r>
                    </a:p>
                  </a:txBody>
                  <a:tcPr marL="32088" marR="32088" marT="16044" marB="16044" anchor="ctr">
                    <a:lnL>
                      <a:noFill/>
                    </a:lnL>
                    <a:lnR>
                      <a:noFill/>
                    </a:lnR>
                    <a:lnT>
                      <a:noFill/>
                    </a:lnT>
                    <a:lnB>
                      <a:noFill/>
                    </a:lnB>
                    <a:noFill/>
                  </a:tcPr>
                </a:tc>
                <a:tc>
                  <a:txBody>
                    <a:bodyPr/>
                    <a:lstStyle/>
                    <a:p>
                      <a:r>
                        <a:rPr lang="en-US" sz="1300"/>
                        <a:t>Tester has access to the code and is aware of the internal workings and logic.</a:t>
                      </a:r>
                      <a:endParaRPr lang="en-US" sz="1300" dirty="0"/>
                    </a:p>
                  </a:txBody>
                  <a:tcPr marL="32088" marR="32088" marT="16044" marB="16044" anchor="ctr">
                    <a:lnL>
                      <a:noFill/>
                    </a:lnL>
                    <a:lnR>
                      <a:noFill/>
                    </a:lnR>
                    <a:lnT>
                      <a:noFill/>
                    </a:lnT>
                    <a:lnB>
                      <a:noFill/>
                    </a:lnB>
                    <a:noFill/>
                  </a:tcPr>
                </a:tc>
                <a:tc>
                  <a:txBody>
                    <a:bodyPr/>
                    <a:lstStyle/>
                    <a:p>
                      <a:r>
                        <a:rPr lang="en-US" sz="1300"/>
                        <a:t>Code structure, internal paths, and flow of logic.</a:t>
                      </a:r>
                    </a:p>
                  </a:txBody>
                  <a:tcPr marL="32088" marR="32088" marT="16044" marB="16044" anchor="ctr">
                    <a:lnL>
                      <a:noFill/>
                    </a:lnL>
                    <a:lnR>
                      <a:noFill/>
                    </a:lnR>
                    <a:lnT>
                      <a:noFill/>
                    </a:lnT>
                    <a:lnB>
                      <a:noFill/>
                    </a:lnB>
                    <a:noFill/>
                  </a:tcPr>
                </a:tc>
                <a:tc>
                  <a:txBody>
                    <a:bodyPr/>
                    <a:lstStyle/>
                    <a:p>
                      <a:r>
                        <a:rPr lang="en-US" sz="1300"/>
                        <a:t>Testing individual functions, loops, or statements in a program (e.g., unit testing).</a:t>
                      </a:r>
                    </a:p>
                  </a:txBody>
                  <a:tcPr marL="32088" marR="32088" marT="16044" marB="16044" anchor="ctr">
                    <a:lnL>
                      <a:noFill/>
                    </a:lnL>
                    <a:lnR>
                      <a:noFill/>
                    </a:lnR>
                    <a:lnT>
                      <a:noFill/>
                    </a:lnT>
                    <a:lnB>
                      <a:noFill/>
                    </a:lnB>
                    <a:noFill/>
                  </a:tcPr>
                </a:tc>
                <a:extLst>
                  <a:ext uri="{0D108BD9-81ED-4DB2-BD59-A6C34878D82A}">
                    <a16:rowId xmlns:a16="http://schemas.microsoft.com/office/drawing/2014/main" val="672965076"/>
                  </a:ext>
                </a:extLst>
              </a:tr>
              <a:tr h="870740">
                <a:tc>
                  <a:txBody>
                    <a:bodyPr/>
                    <a:lstStyle/>
                    <a:p>
                      <a:r>
                        <a:rPr lang="en-US" sz="1300" b="1"/>
                        <a:t>Grey Box Testing</a:t>
                      </a:r>
                      <a:endParaRPr lang="en-US" sz="1300"/>
                    </a:p>
                  </a:txBody>
                  <a:tcPr marL="32088" marR="32088" marT="16044" marB="16044" anchor="ctr">
                    <a:lnL>
                      <a:noFill/>
                    </a:lnL>
                    <a:lnR>
                      <a:noFill/>
                    </a:lnR>
                    <a:lnT>
                      <a:noFill/>
                    </a:lnT>
                    <a:lnB>
                      <a:noFill/>
                    </a:lnB>
                    <a:noFill/>
                  </a:tcPr>
                </a:tc>
                <a:tc>
                  <a:txBody>
                    <a:bodyPr/>
                    <a:lstStyle/>
                    <a:p>
                      <a:r>
                        <a:rPr lang="en-US" sz="1300"/>
                        <a:t>A combination of Black Box and White Box Testing; the tester has limited knowledge of the internal code.</a:t>
                      </a:r>
                    </a:p>
                  </a:txBody>
                  <a:tcPr marL="32088" marR="32088" marT="16044" marB="16044" anchor="ctr">
                    <a:lnL>
                      <a:noFill/>
                    </a:lnL>
                    <a:lnR>
                      <a:noFill/>
                    </a:lnR>
                    <a:lnT>
                      <a:noFill/>
                    </a:lnT>
                    <a:lnB>
                      <a:noFill/>
                    </a:lnB>
                    <a:noFill/>
                  </a:tcPr>
                </a:tc>
                <a:tc>
                  <a:txBody>
                    <a:bodyPr/>
                    <a:lstStyle/>
                    <a:p>
                      <a:r>
                        <a:rPr lang="en-US" sz="1300" dirty="0"/>
                        <a:t>Tester has some understanding of the internal code and uses that knowledge to design better test cases.</a:t>
                      </a:r>
                    </a:p>
                  </a:txBody>
                  <a:tcPr marL="32088" marR="32088" marT="16044" marB="16044" anchor="ctr">
                    <a:lnL>
                      <a:noFill/>
                    </a:lnL>
                    <a:lnR>
                      <a:noFill/>
                    </a:lnR>
                    <a:lnT>
                      <a:noFill/>
                    </a:lnT>
                    <a:lnB>
                      <a:noFill/>
                    </a:lnB>
                    <a:noFill/>
                  </a:tcPr>
                </a:tc>
                <a:tc>
                  <a:txBody>
                    <a:bodyPr/>
                    <a:lstStyle/>
                    <a:p>
                      <a:r>
                        <a:rPr lang="en-US" sz="1300"/>
                        <a:t>Functional behavior and some aspects of internal implementation.</a:t>
                      </a:r>
                    </a:p>
                  </a:txBody>
                  <a:tcPr marL="32088" marR="32088" marT="16044" marB="16044" anchor="ctr">
                    <a:lnL>
                      <a:noFill/>
                    </a:lnL>
                    <a:lnR>
                      <a:noFill/>
                    </a:lnR>
                    <a:lnT>
                      <a:noFill/>
                    </a:lnT>
                    <a:lnB>
                      <a:noFill/>
                    </a:lnB>
                    <a:noFill/>
                  </a:tcPr>
                </a:tc>
                <a:tc>
                  <a:txBody>
                    <a:bodyPr/>
                    <a:lstStyle/>
                    <a:p>
                      <a:r>
                        <a:rPr lang="en-US" sz="1300" dirty="0"/>
                        <a:t>Testing a web application by understanding how the database interacts with the front end.</a:t>
                      </a:r>
                    </a:p>
                  </a:txBody>
                  <a:tcPr marL="32088" marR="32088" marT="16044" marB="16044" anchor="ctr">
                    <a:lnL>
                      <a:noFill/>
                    </a:lnL>
                    <a:lnR>
                      <a:noFill/>
                    </a:lnR>
                    <a:lnT>
                      <a:noFill/>
                    </a:lnT>
                    <a:lnB>
                      <a:noFill/>
                    </a:lnB>
                    <a:noFill/>
                  </a:tcPr>
                </a:tc>
                <a:extLst>
                  <a:ext uri="{0D108BD9-81ED-4DB2-BD59-A6C34878D82A}">
                    <a16:rowId xmlns:a16="http://schemas.microsoft.com/office/drawing/2014/main" val="1406936422"/>
                  </a:ext>
                </a:extLst>
              </a:tr>
            </a:tbl>
          </a:graphicData>
        </a:graphic>
      </p:graphicFrame>
    </p:spTree>
    <p:extLst>
      <p:ext uri="{BB962C8B-B14F-4D97-AF65-F5344CB8AC3E}">
        <p14:creationId xmlns:p14="http://schemas.microsoft.com/office/powerpoint/2010/main" val="38448581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E5B86E7-E449-AD4E-D137-FB93A137495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44653"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791AC8-625B-79B7-37A5-2AD3A7A2E9FC}"/>
              </a:ext>
            </a:extLst>
          </p:cNvPr>
          <p:cNvSpPr>
            <a:spLocks noGrp="1"/>
          </p:cNvSpPr>
          <p:nvPr>
            <p:ph type="title"/>
          </p:nvPr>
        </p:nvSpPr>
        <p:spPr>
          <a:xfrm>
            <a:off x="643466" y="643467"/>
            <a:ext cx="6242719" cy="1728044"/>
          </a:xfrm>
          <a:prstGeom prst="ellipse">
            <a:avLst/>
          </a:prstGeom>
          <a:noFill/>
          <a:ln>
            <a:solidFill>
              <a:schemeClr val="bg1"/>
            </a:solidFill>
          </a:ln>
        </p:spPr>
        <p:txBody>
          <a:bodyPr wrap="square">
            <a:normAutofit/>
          </a:bodyPr>
          <a:lstStyle/>
          <a:p>
            <a:r>
              <a:rPr lang="en-US">
                <a:solidFill>
                  <a:schemeClr val="bg1"/>
                </a:solidFill>
              </a:rPr>
              <a:t>Testing</a:t>
            </a:r>
            <a:br>
              <a:rPr lang="en-US">
                <a:solidFill>
                  <a:schemeClr val="bg1"/>
                </a:solidFill>
              </a:rPr>
            </a:br>
            <a:r>
              <a:rPr lang="en-US">
                <a:solidFill>
                  <a:schemeClr val="bg1"/>
                </a:solidFill>
              </a:rPr>
              <a:t>LEVELS</a:t>
            </a:r>
          </a:p>
        </p:txBody>
      </p:sp>
      <p:sp>
        <p:nvSpPr>
          <p:cNvPr id="17" name="Content Placeholder 2">
            <a:extLst>
              <a:ext uri="{FF2B5EF4-FFF2-40B4-BE49-F238E27FC236}">
                <a16:creationId xmlns:a16="http://schemas.microsoft.com/office/drawing/2014/main" id="{138D1B2D-8F4D-2062-A580-A6A921E1EEFC}"/>
              </a:ext>
            </a:extLst>
          </p:cNvPr>
          <p:cNvSpPr>
            <a:spLocks noGrp="1"/>
          </p:cNvSpPr>
          <p:nvPr>
            <p:ph idx="1"/>
          </p:nvPr>
        </p:nvSpPr>
        <p:spPr>
          <a:xfrm>
            <a:off x="643467" y="2638044"/>
            <a:ext cx="6242715" cy="3415622"/>
          </a:xfrm>
        </p:spPr>
        <p:txBody>
          <a:bodyPr>
            <a:normAutofit/>
          </a:bodyPr>
          <a:lstStyle/>
          <a:p>
            <a:r>
              <a:rPr lang="en-US" b="1" dirty="0">
                <a:solidFill>
                  <a:schemeClr val="bg1"/>
                </a:solidFill>
              </a:rPr>
              <a:t>Unit Testing: </a:t>
            </a:r>
            <a:r>
              <a:rPr lang="en-US" dirty="0">
                <a:solidFill>
                  <a:schemeClr val="bg1"/>
                </a:solidFill>
              </a:rPr>
              <a:t>Testing individual components or functions of the software in isolation.</a:t>
            </a:r>
          </a:p>
          <a:p>
            <a:r>
              <a:rPr lang="en-US" b="1" dirty="0">
                <a:solidFill>
                  <a:schemeClr val="bg1"/>
                </a:solidFill>
              </a:rPr>
              <a:t>Integration Testing: </a:t>
            </a:r>
            <a:r>
              <a:rPr lang="en-US" dirty="0">
                <a:solidFill>
                  <a:schemeClr val="bg1"/>
                </a:solidFill>
              </a:rPr>
              <a:t>Testing the interactions and data flow between integrated units or modules.</a:t>
            </a:r>
          </a:p>
          <a:p>
            <a:r>
              <a:rPr lang="en-US" dirty="0">
                <a:solidFill>
                  <a:schemeClr val="bg1"/>
                </a:solidFill>
              </a:rPr>
              <a:t> </a:t>
            </a:r>
            <a:r>
              <a:rPr lang="en-US" b="1" dirty="0">
                <a:solidFill>
                  <a:schemeClr val="bg1"/>
                </a:solidFill>
              </a:rPr>
              <a:t>System Testing: </a:t>
            </a:r>
            <a:r>
              <a:rPr lang="en-US" dirty="0">
                <a:solidFill>
                  <a:schemeClr val="bg1"/>
                </a:solidFill>
              </a:rPr>
              <a:t>Testing the entire system to ensure that it is working as per the expectations</a:t>
            </a:r>
          </a:p>
          <a:p>
            <a:r>
              <a:rPr lang="en-US" b="1" dirty="0">
                <a:solidFill>
                  <a:schemeClr val="bg1"/>
                </a:solidFill>
              </a:rPr>
              <a:t>Acceptance Testing:</a:t>
            </a:r>
            <a:r>
              <a:rPr lang="en-US" dirty="0">
                <a:solidFill>
                  <a:schemeClr val="bg1"/>
                </a:solidFill>
              </a:rPr>
              <a:t> Testing is conducted to determine if the system meets the business requirements and is ready for the end-users.</a:t>
            </a:r>
          </a:p>
        </p:txBody>
      </p:sp>
      <p:pic>
        <p:nvPicPr>
          <p:cNvPr id="4" name="Picture 3" descr="A pyramid of different colors&#10;&#10;Description automatically generated with medium confidence">
            <a:extLst>
              <a:ext uri="{FF2B5EF4-FFF2-40B4-BE49-F238E27FC236}">
                <a16:creationId xmlns:a16="http://schemas.microsoft.com/office/drawing/2014/main" id="{EC15A7F7-9E3A-2242-2BCB-4A94EECEDB14}"/>
              </a:ext>
            </a:extLst>
          </p:cNvPr>
          <p:cNvPicPr>
            <a:picLocks noChangeAspect="1"/>
          </p:cNvPicPr>
          <p:nvPr/>
        </p:nvPicPr>
        <p:blipFill>
          <a:blip r:embed="rId2"/>
          <a:stretch>
            <a:fillRect/>
          </a:stretch>
        </p:blipFill>
        <p:spPr>
          <a:xfrm>
            <a:off x="8124168" y="2195950"/>
            <a:ext cx="3419524" cy="1804298"/>
          </a:xfrm>
          <a:prstGeom prst="rect">
            <a:avLst/>
          </a:prstGeom>
        </p:spPr>
      </p:pic>
      <p:pic>
        <p:nvPicPr>
          <p:cNvPr id="8" name="Picture 7" descr="A diagram of a bicycle and a system test&#10;&#10;Description automatically generated">
            <a:extLst>
              <a:ext uri="{FF2B5EF4-FFF2-40B4-BE49-F238E27FC236}">
                <a16:creationId xmlns:a16="http://schemas.microsoft.com/office/drawing/2014/main" id="{4557FAFB-160D-C717-F323-633CD3BCBAF5}"/>
              </a:ext>
            </a:extLst>
          </p:cNvPr>
          <p:cNvPicPr>
            <a:picLocks noChangeAspect="1"/>
          </p:cNvPicPr>
          <p:nvPr/>
        </p:nvPicPr>
        <p:blipFill>
          <a:blip r:embed="rId3"/>
          <a:stretch>
            <a:fillRect/>
          </a:stretch>
        </p:blipFill>
        <p:spPr>
          <a:xfrm>
            <a:off x="8124168" y="4191538"/>
            <a:ext cx="3419524" cy="1128442"/>
          </a:xfrm>
          <a:prstGeom prst="rect">
            <a:avLst/>
          </a:prstGeom>
        </p:spPr>
      </p:pic>
      <p:sp>
        <p:nvSpPr>
          <p:cNvPr id="9" name="TextBox 8">
            <a:extLst>
              <a:ext uri="{FF2B5EF4-FFF2-40B4-BE49-F238E27FC236}">
                <a16:creationId xmlns:a16="http://schemas.microsoft.com/office/drawing/2014/main" id="{5006F15A-3A8A-4D7C-F6B7-EC5D6126300A}"/>
              </a:ext>
            </a:extLst>
          </p:cNvPr>
          <p:cNvSpPr txBox="1"/>
          <p:nvPr/>
        </p:nvSpPr>
        <p:spPr>
          <a:xfrm>
            <a:off x="9134991" y="1604550"/>
            <a:ext cx="1397877" cy="400110"/>
          </a:xfrm>
          <a:prstGeom prst="rect">
            <a:avLst/>
          </a:prstGeom>
          <a:solidFill>
            <a:srgbClr val="4A5356"/>
          </a:solidFill>
          <a:ln>
            <a:solidFill>
              <a:schemeClr val="bg1"/>
            </a:solidFill>
          </a:ln>
        </p:spPr>
        <p:txBody>
          <a:bodyPr wrap="square" rtlCol="0">
            <a:spAutoFit/>
          </a:bodyPr>
          <a:lstStyle/>
          <a:p>
            <a:pPr algn="ctr"/>
            <a:r>
              <a:rPr lang="en-US" sz="2000" dirty="0">
                <a:solidFill>
                  <a:schemeClr val="bg1"/>
                </a:solidFill>
              </a:rPr>
              <a:t>EXAMPLES</a:t>
            </a:r>
          </a:p>
        </p:txBody>
      </p:sp>
    </p:spTree>
    <p:extLst>
      <p:ext uri="{BB962C8B-B14F-4D97-AF65-F5344CB8AC3E}">
        <p14:creationId xmlns:p14="http://schemas.microsoft.com/office/powerpoint/2010/main" val="3190600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1500" dirty="0"/>
              <a:t>Key Differences Between </a:t>
            </a:r>
            <a:r>
              <a:rPr lang="en-US" sz="1500" b="1" i="0" u="none" strike="noStrike" dirty="0">
                <a:effectLst/>
              </a:rPr>
              <a:t>Unit</a:t>
            </a:r>
            <a:r>
              <a:rPr lang="en-US" sz="1500" i="0" u="none" strike="noStrike" dirty="0">
                <a:effectLst/>
              </a:rPr>
              <a:t>,</a:t>
            </a:r>
            <a:r>
              <a:rPr lang="en-US" sz="1500" b="1" i="0" u="none" strike="noStrike" dirty="0">
                <a:effectLst/>
              </a:rPr>
              <a:t> Integration</a:t>
            </a:r>
            <a:r>
              <a:rPr lang="en-US" sz="1500" i="0" u="none" strike="noStrike" dirty="0">
                <a:effectLst/>
              </a:rPr>
              <a:t>,</a:t>
            </a:r>
            <a:r>
              <a:rPr lang="en-US" sz="1500" b="1" i="0" u="none" strike="noStrike" dirty="0">
                <a:effectLst/>
              </a:rPr>
              <a:t> System</a:t>
            </a:r>
            <a:r>
              <a:rPr lang="en-US" sz="1500" i="0" u="none" strike="noStrike" dirty="0">
                <a:effectLst/>
              </a:rPr>
              <a:t>, and</a:t>
            </a:r>
            <a:r>
              <a:rPr lang="en-US" sz="1500" b="1" i="0" u="none" strike="noStrike" dirty="0">
                <a:effectLst/>
              </a:rPr>
              <a:t> Acceptance </a:t>
            </a:r>
            <a:r>
              <a:rPr lang="en-US" sz="1500" i="0" u="none" strike="noStrike" dirty="0">
                <a:effectLst/>
              </a:rPr>
              <a:t>Testing</a:t>
            </a:r>
            <a:endParaRPr lang="en-US" sz="1500" dirty="0"/>
          </a:p>
        </p:txBody>
      </p:sp>
      <p:graphicFrame>
        <p:nvGraphicFramePr>
          <p:cNvPr id="4" name="Table 3">
            <a:extLst>
              <a:ext uri="{FF2B5EF4-FFF2-40B4-BE49-F238E27FC236}">
                <a16:creationId xmlns:a16="http://schemas.microsoft.com/office/drawing/2014/main" id="{DF219072-73B2-8198-3E91-AB825E166549}"/>
              </a:ext>
            </a:extLst>
          </p:cNvPr>
          <p:cNvGraphicFramePr>
            <a:graphicFrameLocks noGrp="1"/>
          </p:cNvGraphicFramePr>
          <p:nvPr>
            <p:extLst>
              <p:ext uri="{D42A27DB-BD31-4B8C-83A1-F6EECF244321}">
                <p14:modId xmlns:p14="http://schemas.microsoft.com/office/powerpoint/2010/main" val="2381838486"/>
              </p:ext>
            </p:extLst>
          </p:nvPr>
        </p:nvGraphicFramePr>
        <p:xfrm>
          <a:off x="5294376" y="1006904"/>
          <a:ext cx="6257545" cy="4529488"/>
        </p:xfrm>
        <a:graphic>
          <a:graphicData uri="http://schemas.openxmlformats.org/drawingml/2006/table">
            <a:tbl>
              <a:tblPr>
                <a:tableStyleId>{8799B23B-EC83-4686-B30A-512413B5E67A}</a:tableStyleId>
              </a:tblPr>
              <a:tblGrid>
                <a:gridCol w="1052785">
                  <a:extLst>
                    <a:ext uri="{9D8B030D-6E8A-4147-A177-3AD203B41FA5}">
                      <a16:colId xmlns:a16="http://schemas.microsoft.com/office/drawing/2014/main" val="4014591201"/>
                    </a:ext>
                  </a:extLst>
                </a:gridCol>
                <a:gridCol w="1485902">
                  <a:extLst>
                    <a:ext uri="{9D8B030D-6E8A-4147-A177-3AD203B41FA5}">
                      <a16:colId xmlns:a16="http://schemas.microsoft.com/office/drawing/2014/main" val="1209148604"/>
                    </a:ext>
                  </a:extLst>
                </a:gridCol>
                <a:gridCol w="1132857">
                  <a:extLst>
                    <a:ext uri="{9D8B030D-6E8A-4147-A177-3AD203B41FA5}">
                      <a16:colId xmlns:a16="http://schemas.microsoft.com/office/drawing/2014/main" val="2169184881"/>
                    </a:ext>
                  </a:extLst>
                </a:gridCol>
                <a:gridCol w="1058244">
                  <a:extLst>
                    <a:ext uri="{9D8B030D-6E8A-4147-A177-3AD203B41FA5}">
                      <a16:colId xmlns:a16="http://schemas.microsoft.com/office/drawing/2014/main" val="1274311879"/>
                    </a:ext>
                  </a:extLst>
                </a:gridCol>
                <a:gridCol w="1527757">
                  <a:extLst>
                    <a:ext uri="{9D8B030D-6E8A-4147-A177-3AD203B41FA5}">
                      <a16:colId xmlns:a16="http://schemas.microsoft.com/office/drawing/2014/main" val="2034944305"/>
                    </a:ext>
                  </a:extLst>
                </a:gridCol>
              </a:tblGrid>
              <a:tr h="276968">
                <a:tc>
                  <a:txBody>
                    <a:bodyPr/>
                    <a:lstStyle/>
                    <a:p>
                      <a:pPr algn="l" fontAlgn="ctr"/>
                      <a:r>
                        <a:rPr lang="en-US" sz="1100" b="1" u="none" strike="noStrike">
                          <a:effectLst/>
                        </a:rPr>
                        <a:t>Testing Level</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1" u="none" strike="noStrike">
                          <a:effectLst/>
                        </a:rPr>
                        <a:t>Description</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1" u="none" strike="noStrike">
                          <a:effectLst/>
                        </a:rPr>
                        <a:t>Purpose</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1" u="none" strike="noStrike">
                          <a:effectLst/>
                        </a:rPr>
                        <a:t>Scope</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1" u="none" strike="noStrike">
                          <a:effectLst/>
                        </a:rPr>
                        <a:t>Example</a:t>
                      </a:r>
                      <a:endParaRPr lang="en-US" sz="1100" b="0" i="0" u="none" strike="noStrike">
                        <a:effectLst/>
                        <a:latin typeface="Arial" panose="020B0604020202020204" pitchFamily="34" charset="0"/>
                      </a:endParaRPr>
                    </a:p>
                  </a:txBody>
                  <a:tcPr marL="60337" marR="60337" marT="30168" marB="30168" anchor="ctr"/>
                </a:tc>
                <a:extLst>
                  <a:ext uri="{0D108BD9-81ED-4DB2-BD59-A6C34878D82A}">
                    <a16:rowId xmlns:a16="http://schemas.microsoft.com/office/drawing/2014/main" val="3138878043"/>
                  </a:ext>
                </a:extLst>
              </a:tr>
              <a:tr h="801076">
                <a:tc>
                  <a:txBody>
                    <a:bodyPr/>
                    <a:lstStyle/>
                    <a:p>
                      <a:pPr algn="l" fontAlgn="ctr"/>
                      <a:r>
                        <a:rPr lang="en-US" sz="1100" b="1" u="none" strike="noStrike">
                          <a:effectLst/>
                        </a:rPr>
                        <a:t>Unit Testing</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individual components or functions of the software in isolation.</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To ensure that each unit of code works as expected.</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Narrow - focuses on a single function or module.</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a function that calculates the sum of two numbers.</a:t>
                      </a:r>
                      <a:endParaRPr lang="en-US" sz="1100" b="0" i="0" u="none" strike="noStrike">
                        <a:effectLst/>
                        <a:latin typeface="Arial" panose="020B0604020202020204" pitchFamily="34" charset="0"/>
                      </a:endParaRPr>
                    </a:p>
                  </a:txBody>
                  <a:tcPr marL="60337" marR="60337" marT="30168" marB="30168" anchor="ctr"/>
                </a:tc>
                <a:extLst>
                  <a:ext uri="{0D108BD9-81ED-4DB2-BD59-A6C34878D82A}">
                    <a16:rowId xmlns:a16="http://schemas.microsoft.com/office/drawing/2014/main" val="264479996"/>
                  </a:ext>
                </a:extLst>
              </a:tr>
              <a:tr h="975779">
                <a:tc>
                  <a:txBody>
                    <a:bodyPr/>
                    <a:lstStyle/>
                    <a:p>
                      <a:pPr algn="l" fontAlgn="ctr"/>
                      <a:r>
                        <a:rPr lang="en-US" sz="1100" b="1" u="none" strike="noStrike">
                          <a:effectLst/>
                        </a:rPr>
                        <a:t>Integration Testing</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the interactions and data flow between integrated units or modules.</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To verify that components work together as expected.</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Medium - covers integrated modules.</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an API that interacts with a database to ensure data is stored correctly.</a:t>
                      </a:r>
                      <a:endParaRPr lang="en-US" sz="1100" b="0" i="0" u="none" strike="noStrike">
                        <a:effectLst/>
                        <a:latin typeface="Arial" panose="020B0604020202020204" pitchFamily="34" charset="0"/>
                      </a:endParaRPr>
                    </a:p>
                  </a:txBody>
                  <a:tcPr marL="60337" marR="60337" marT="30168" marB="30168" anchor="ctr"/>
                </a:tc>
                <a:extLst>
                  <a:ext uri="{0D108BD9-81ED-4DB2-BD59-A6C34878D82A}">
                    <a16:rowId xmlns:a16="http://schemas.microsoft.com/office/drawing/2014/main" val="402595549"/>
                  </a:ext>
                </a:extLst>
              </a:tr>
              <a:tr h="1150481">
                <a:tc>
                  <a:txBody>
                    <a:bodyPr/>
                    <a:lstStyle/>
                    <a:p>
                      <a:pPr algn="l" fontAlgn="ctr"/>
                      <a:r>
                        <a:rPr lang="en-US" sz="1100" b="1" u="none" strike="noStrike">
                          <a:effectLst/>
                        </a:rPr>
                        <a:t>System Testing</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dirty="0">
                          <a:effectLst/>
                        </a:rPr>
                        <a:t>Testing the entire system as a whole to ensure that it meets the specified requirements.</a:t>
                      </a:r>
                      <a:endParaRPr lang="en-US" sz="1100" b="0" i="0" u="none" strike="noStrike" dirty="0">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To validate the end-to-end functionality of the complete system.</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Broad - covers the entire application.</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an e-commerce website’s complete purchase workflow, from product search to payment.</a:t>
                      </a:r>
                      <a:endParaRPr lang="en-US" sz="1100" b="0" i="0" u="none" strike="noStrike">
                        <a:effectLst/>
                        <a:latin typeface="Arial" panose="020B0604020202020204" pitchFamily="34" charset="0"/>
                      </a:endParaRPr>
                    </a:p>
                  </a:txBody>
                  <a:tcPr marL="60337" marR="60337" marT="30168" marB="30168" anchor="ctr"/>
                </a:tc>
                <a:extLst>
                  <a:ext uri="{0D108BD9-81ED-4DB2-BD59-A6C34878D82A}">
                    <a16:rowId xmlns:a16="http://schemas.microsoft.com/office/drawing/2014/main" val="3193050958"/>
                  </a:ext>
                </a:extLst>
              </a:tr>
              <a:tr h="1325184">
                <a:tc>
                  <a:txBody>
                    <a:bodyPr/>
                    <a:lstStyle/>
                    <a:p>
                      <a:pPr algn="l" fontAlgn="ctr"/>
                      <a:r>
                        <a:rPr lang="en-US" sz="1100" b="1" u="none" strike="noStrike">
                          <a:effectLst/>
                        </a:rPr>
                        <a:t>Acceptance Testing</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Testing conducted to determine if the system meets the business requirements and is ready for release to end-users.</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To validate the system's compliance with business requirements.</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a:effectLst/>
                        </a:rPr>
                        <a:t>Wide - involves testing real-world scenarios.</a:t>
                      </a:r>
                      <a:endParaRPr lang="en-US" sz="1100" b="0" i="0" u="none" strike="noStrike">
                        <a:effectLst/>
                        <a:latin typeface="Arial" panose="020B0604020202020204" pitchFamily="34" charset="0"/>
                      </a:endParaRPr>
                    </a:p>
                  </a:txBody>
                  <a:tcPr marL="60337" marR="60337" marT="30168" marB="30168" anchor="ctr"/>
                </a:tc>
                <a:tc>
                  <a:txBody>
                    <a:bodyPr/>
                    <a:lstStyle/>
                    <a:p>
                      <a:pPr algn="l" fontAlgn="ctr"/>
                      <a:r>
                        <a:rPr lang="en-US" sz="1100" b="0" u="none" strike="noStrike" dirty="0">
                          <a:effectLst/>
                        </a:rPr>
                        <a:t>Running user acceptance tests to ensure that a new feature works as expected for end-users.</a:t>
                      </a:r>
                      <a:endParaRPr lang="en-US" sz="1100" b="0" i="0" u="none" strike="noStrike" dirty="0">
                        <a:effectLst/>
                        <a:latin typeface="Arial" panose="020B0604020202020204" pitchFamily="34" charset="0"/>
                      </a:endParaRPr>
                    </a:p>
                  </a:txBody>
                  <a:tcPr marL="60337" marR="60337" marT="30168" marB="30168" anchor="ctr"/>
                </a:tc>
                <a:extLst>
                  <a:ext uri="{0D108BD9-81ED-4DB2-BD59-A6C34878D82A}">
                    <a16:rowId xmlns:a16="http://schemas.microsoft.com/office/drawing/2014/main" val="636085250"/>
                  </a:ext>
                </a:extLst>
              </a:tr>
            </a:tbl>
          </a:graphicData>
        </a:graphic>
      </p:graphicFrame>
    </p:spTree>
    <p:extLst>
      <p:ext uri="{BB962C8B-B14F-4D97-AF65-F5344CB8AC3E}">
        <p14:creationId xmlns:p14="http://schemas.microsoft.com/office/powerpoint/2010/main" val="1541763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231136" y="467418"/>
            <a:ext cx="7729728" cy="1188720"/>
          </a:xfrm>
          <a:solidFill>
            <a:srgbClr val="FFFFFF"/>
          </a:solidFill>
        </p:spPr>
        <p:txBody>
          <a:bodyPr>
            <a:normAutofit/>
          </a:bodyPr>
          <a:lstStyle/>
          <a:p>
            <a:r>
              <a:rPr lang="en-US" dirty="0"/>
              <a:t>Test design, techniques, Execution</a:t>
            </a:r>
          </a:p>
        </p:txBody>
      </p:sp>
      <p:sp>
        <p:nvSpPr>
          <p:cNvPr id="3" name="Content Placeholder 2"/>
          <p:cNvSpPr>
            <a:spLocks noGrp="1"/>
          </p:cNvSpPr>
          <p:nvPr>
            <p:ph idx="1"/>
          </p:nvPr>
        </p:nvSpPr>
        <p:spPr>
          <a:xfrm>
            <a:off x="1706062" y="2291262"/>
            <a:ext cx="8779512" cy="2879256"/>
          </a:xfrm>
        </p:spPr>
        <p:txBody>
          <a:bodyPr>
            <a:normAutofit/>
          </a:bodyPr>
          <a:lstStyle/>
          <a:p>
            <a:pPr marL="0" indent="0">
              <a:buNone/>
            </a:pPr>
            <a:r>
              <a:rPr lang="en-US" b="1" dirty="0"/>
              <a:t>Test Scenarios</a:t>
            </a:r>
            <a:r>
              <a:rPr lang="en-US" dirty="0"/>
              <a:t> are high-level descriptions of what needs to be tested. They represent a specific functionality or feature and help guide the testing process.</a:t>
            </a:r>
          </a:p>
          <a:p>
            <a:pPr marL="0" indent="0">
              <a:buNone/>
            </a:pPr>
            <a:r>
              <a:rPr lang="en-US" b="1" dirty="0"/>
              <a:t>Example</a:t>
            </a:r>
            <a:r>
              <a:rPr lang="en-US" dirty="0"/>
              <a:t>: For a login feature, test scenarios might include:</a:t>
            </a:r>
          </a:p>
          <a:p>
            <a:pPr>
              <a:buFont typeface="+mj-lt"/>
              <a:buAutoNum type="arabicPeriod"/>
            </a:pPr>
            <a:r>
              <a:rPr lang="en-US" b="1" dirty="0"/>
              <a:t>Successful Login</a:t>
            </a:r>
            <a:r>
              <a:rPr lang="en-US" dirty="0"/>
              <a:t>: User enters valid credentials and gains access.</a:t>
            </a:r>
          </a:p>
          <a:p>
            <a:pPr>
              <a:buFont typeface="+mj-lt"/>
              <a:buAutoNum type="arabicPeriod"/>
            </a:pPr>
            <a:r>
              <a:rPr lang="en-US" b="1" dirty="0"/>
              <a:t>Invalid Password</a:t>
            </a:r>
            <a:r>
              <a:rPr lang="en-US" dirty="0"/>
              <a:t>: User enters a valid username but an invalid password.</a:t>
            </a:r>
          </a:p>
          <a:p>
            <a:pPr>
              <a:buFont typeface="+mj-lt"/>
              <a:buAutoNum type="arabicPeriod"/>
            </a:pPr>
            <a:r>
              <a:rPr lang="en-US" b="1" dirty="0"/>
              <a:t>Username Not Found</a:t>
            </a:r>
            <a:r>
              <a:rPr lang="en-US" dirty="0"/>
              <a:t>: User tries to log in with a username that doesn't exist.</a:t>
            </a:r>
          </a:p>
          <a:p>
            <a:pPr>
              <a:buFont typeface="+mj-lt"/>
              <a:buAutoNum type="arabicPeriod"/>
            </a:pPr>
            <a:r>
              <a:rPr lang="en-US" b="1" dirty="0"/>
              <a:t>Password Recovery</a:t>
            </a:r>
            <a:r>
              <a:rPr lang="en-US" dirty="0"/>
              <a:t>: User requests a password reset.</a:t>
            </a:r>
          </a:p>
          <a:p>
            <a:pPr marL="0" indent="0">
              <a:buNone/>
            </a:pPr>
            <a:endParaRPr lang="en-US" dirty="0"/>
          </a:p>
          <a:p>
            <a:endParaRPr lang="en-US" dirty="0">
              <a:solidFill>
                <a:srgbClr val="404040"/>
              </a:solidFill>
            </a:endParaRPr>
          </a:p>
        </p:txBody>
      </p:sp>
    </p:spTree>
    <p:extLst>
      <p:ext uri="{BB962C8B-B14F-4D97-AF65-F5344CB8AC3E}">
        <p14:creationId xmlns:p14="http://schemas.microsoft.com/office/powerpoint/2010/main" val="1870094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33660C-5893-5275-F479-70B4B72A1C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B6B7AE5-FA3C-1844-9555-F7A648A49E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460AB7-4BAB-135E-BD61-7E9C2CE38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A93E04-1A22-5661-E436-718880003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65B93B-D265-6925-0602-F13581E208F8}"/>
              </a:ext>
            </a:extLst>
          </p:cNvPr>
          <p:cNvSpPr>
            <a:spLocks noGrp="1"/>
          </p:cNvSpPr>
          <p:nvPr>
            <p:ph type="title"/>
          </p:nvPr>
        </p:nvSpPr>
        <p:spPr>
          <a:xfrm>
            <a:off x="2231136" y="467418"/>
            <a:ext cx="7729728" cy="1188720"/>
          </a:xfrm>
          <a:solidFill>
            <a:srgbClr val="FFFFFF"/>
          </a:solidFill>
        </p:spPr>
        <p:txBody>
          <a:bodyPr>
            <a:normAutofit/>
          </a:bodyPr>
          <a:lstStyle/>
          <a:p>
            <a:r>
              <a:rPr lang="en-US" dirty="0"/>
              <a:t>Test design, techniques, Execution</a:t>
            </a:r>
          </a:p>
        </p:txBody>
      </p:sp>
      <p:sp>
        <p:nvSpPr>
          <p:cNvPr id="3" name="Content Placeholder 2">
            <a:extLst>
              <a:ext uri="{FF2B5EF4-FFF2-40B4-BE49-F238E27FC236}">
                <a16:creationId xmlns:a16="http://schemas.microsoft.com/office/drawing/2014/main" id="{6FDD437E-8DE8-33D6-3B28-40A8FCE6420A}"/>
              </a:ext>
            </a:extLst>
          </p:cNvPr>
          <p:cNvSpPr>
            <a:spLocks noGrp="1"/>
          </p:cNvSpPr>
          <p:nvPr>
            <p:ph idx="1"/>
          </p:nvPr>
        </p:nvSpPr>
        <p:spPr>
          <a:xfrm>
            <a:off x="1671145" y="2028497"/>
            <a:ext cx="8986345" cy="3499944"/>
          </a:xfrm>
        </p:spPr>
        <p:txBody>
          <a:bodyPr>
            <a:normAutofit fontScale="92500" lnSpcReduction="10000"/>
          </a:bodyPr>
          <a:lstStyle/>
          <a:p>
            <a:pPr marL="0" indent="0">
              <a:buNone/>
            </a:pPr>
            <a:r>
              <a:rPr lang="en-US" b="1" dirty="0"/>
              <a:t>Test Cases</a:t>
            </a:r>
            <a:r>
              <a:rPr lang="en-US" dirty="0"/>
              <a:t> are detailed, step-by-step instructions for testing a specific aspect of a scenario. They include all the necessary information to execute the test and verify the results.</a:t>
            </a:r>
          </a:p>
          <a:p>
            <a:pPr marL="0" indent="0">
              <a:buNone/>
            </a:pPr>
            <a:r>
              <a:rPr lang="en-US" b="1" dirty="0"/>
              <a:t>Structure</a:t>
            </a:r>
            <a:r>
              <a:rPr lang="en-US" dirty="0"/>
              <a:t>: A typical test case includes:</a:t>
            </a:r>
          </a:p>
          <a:p>
            <a:pPr>
              <a:buFont typeface="Arial" panose="020B0604020202020204" pitchFamily="34" charset="0"/>
              <a:buChar char="•"/>
            </a:pPr>
            <a:r>
              <a:rPr lang="en-US" b="1" dirty="0"/>
              <a:t>Test Case ID</a:t>
            </a:r>
            <a:r>
              <a:rPr lang="en-US" dirty="0"/>
              <a:t>: Unique identifier.</a:t>
            </a:r>
          </a:p>
          <a:p>
            <a:pPr>
              <a:buFont typeface="Arial" panose="020B0604020202020204" pitchFamily="34" charset="0"/>
              <a:buChar char="•"/>
            </a:pPr>
            <a:r>
              <a:rPr lang="en-US" b="1" dirty="0"/>
              <a:t>Test Case Description</a:t>
            </a:r>
            <a:r>
              <a:rPr lang="en-US" dirty="0"/>
              <a:t>: What the test case will verify.</a:t>
            </a:r>
          </a:p>
          <a:p>
            <a:pPr>
              <a:buFont typeface="Arial" panose="020B0604020202020204" pitchFamily="34" charset="0"/>
              <a:buChar char="•"/>
            </a:pPr>
            <a:r>
              <a:rPr lang="en-US" b="1" dirty="0"/>
              <a:t>Preconditions</a:t>
            </a:r>
            <a:r>
              <a:rPr lang="en-US" dirty="0"/>
              <a:t>: Any setup or prerequisites needed before executing the test.</a:t>
            </a:r>
          </a:p>
          <a:p>
            <a:pPr>
              <a:buFont typeface="Arial" panose="020B0604020202020204" pitchFamily="34" charset="0"/>
              <a:buChar char="•"/>
            </a:pPr>
            <a:r>
              <a:rPr lang="en-US" b="1" dirty="0"/>
              <a:t>Test Steps</a:t>
            </a:r>
            <a:r>
              <a:rPr lang="en-US" dirty="0"/>
              <a:t>: Detailed actions to perform.</a:t>
            </a:r>
          </a:p>
          <a:p>
            <a:pPr>
              <a:buFont typeface="Arial" panose="020B0604020202020204" pitchFamily="34" charset="0"/>
              <a:buChar char="•"/>
            </a:pPr>
            <a:r>
              <a:rPr lang="en-US" b="1" dirty="0"/>
              <a:t>Expected Result</a:t>
            </a:r>
            <a:r>
              <a:rPr lang="en-US" dirty="0"/>
              <a:t>: What the outcome should be.</a:t>
            </a:r>
          </a:p>
          <a:p>
            <a:pPr>
              <a:buFont typeface="Arial" panose="020B0604020202020204" pitchFamily="34" charset="0"/>
              <a:buChar char="•"/>
            </a:pPr>
            <a:r>
              <a:rPr lang="en-US" b="1" dirty="0"/>
              <a:t>Actual Result</a:t>
            </a:r>
            <a:r>
              <a:rPr lang="en-US" dirty="0"/>
              <a:t>: What happened during testing (filled after execution).</a:t>
            </a:r>
          </a:p>
          <a:p>
            <a:pPr>
              <a:buFont typeface="Arial" panose="020B0604020202020204" pitchFamily="34" charset="0"/>
              <a:buChar char="•"/>
            </a:pPr>
            <a:r>
              <a:rPr lang="en-US" b="1" dirty="0"/>
              <a:t>Status</a:t>
            </a:r>
            <a:r>
              <a:rPr lang="en-US" dirty="0"/>
              <a:t>: Pass/Fail based on the comparison of expected and actual results.</a:t>
            </a:r>
          </a:p>
          <a:p>
            <a:pPr marL="0" indent="0">
              <a:buNone/>
            </a:pPr>
            <a:endParaRPr lang="en-US" dirty="0"/>
          </a:p>
          <a:p>
            <a:endParaRPr lang="en-US" dirty="0">
              <a:solidFill>
                <a:srgbClr val="404040"/>
              </a:solidFill>
            </a:endParaRPr>
          </a:p>
        </p:txBody>
      </p:sp>
    </p:spTree>
    <p:extLst>
      <p:ext uri="{BB962C8B-B14F-4D97-AF65-F5344CB8AC3E}">
        <p14:creationId xmlns:p14="http://schemas.microsoft.com/office/powerpoint/2010/main" val="3048813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41BDA4-123E-8487-F4AA-C9F77C6FB0D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C685AB1-AFC0-398C-2CA9-97272FCCAC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E82E90F-8ADF-1295-361E-48407B2E62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5ECE636-39C7-E8CB-F4F9-28F8A07D0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DFC30D9-C6CF-504B-F530-5156F1A65750}"/>
              </a:ext>
            </a:extLst>
          </p:cNvPr>
          <p:cNvSpPr>
            <a:spLocks noGrp="1"/>
          </p:cNvSpPr>
          <p:nvPr>
            <p:ph type="title"/>
          </p:nvPr>
        </p:nvSpPr>
        <p:spPr>
          <a:xfrm>
            <a:off x="2231136" y="467418"/>
            <a:ext cx="7729728" cy="1188720"/>
          </a:xfrm>
          <a:solidFill>
            <a:srgbClr val="FFFFFF"/>
          </a:solidFill>
        </p:spPr>
        <p:txBody>
          <a:bodyPr>
            <a:normAutofit/>
          </a:bodyPr>
          <a:lstStyle/>
          <a:p>
            <a:r>
              <a:rPr lang="en-US" dirty="0"/>
              <a:t>Test design, techniques, Execution</a:t>
            </a:r>
          </a:p>
        </p:txBody>
      </p:sp>
      <p:sp>
        <p:nvSpPr>
          <p:cNvPr id="3" name="Content Placeholder 2">
            <a:extLst>
              <a:ext uri="{FF2B5EF4-FFF2-40B4-BE49-F238E27FC236}">
                <a16:creationId xmlns:a16="http://schemas.microsoft.com/office/drawing/2014/main" id="{F026572B-84F9-7AA4-194E-D92B97148E49}"/>
              </a:ext>
            </a:extLst>
          </p:cNvPr>
          <p:cNvSpPr>
            <a:spLocks noGrp="1"/>
          </p:cNvSpPr>
          <p:nvPr>
            <p:ph idx="1"/>
          </p:nvPr>
        </p:nvSpPr>
        <p:spPr>
          <a:xfrm>
            <a:off x="1671145" y="2028497"/>
            <a:ext cx="8986345" cy="3499944"/>
          </a:xfrm>
        </p:spPr>
        <p:txBody>
          <a:bodyPr>
            <a:normAutofit fontScale="85000" lnSpcReduction="20000"/>
          </a:bodyPr>
          <a:lstStyle/>
          <a:p>
            <a:pPr marL="0" indent="0">
              <a:buNone/>
            </a:pPr>
            <a:r>
              <a:rPr lang="en-US" b="1" dirty="0"/>
              <a:t>Example</a:t>
            </a:r>
            <a:r>
              <a:rPr lang="en-US" dirty="0"/>
              <a:t>: For the scenario "Successful Login," a corresponding test case might look like this:</a:t>
            </a:r>
          </a:p>
          <a:p>
            <a:pPr>
              <a:buFont typeface="Arial" panose="020B0604020202020204" pitchFamily="34" charset="0"/>
              <a:buChar char="•"/>
            </a:pPr>
            <a:r>
              <a:rPr lang="en-US" b="1" dirty="0"/>
              <a:t>Test Case ID</a:t>
            </a:r>
            <a:r>
              <a:rPr lang="en-US" dirty="0"/>
              <a:t>: TC001</a:t>
            </a:r>
          </a:p>
          <a:p>
            <a:pPr>
              <a:buFont typeface="Arial" panose="020B0604020202020204" pitchFamily="34" charset="0"/>
              <a:buChar char="•"/>
            </a:pPr>
            <a:r>
              <a:rPr lang="en-US" b="1" dirty="0"/>
              <a:t>Test Case Description</a:t>
            </a:r>
            <a:r>
              <a:rPr lang="en-US" dirty="0"/>
              <a:t>: Verify user can successfully log in with valid credentials.</a:t>
            </a:r>
          </a:p>
          <a:p>
            <a:pPr>
              <a:buFont typeface="Arial" panose="020B0604020202020204" pitchFamily="34" charset="0"/>
              <a:buChar char="•"/>
            </a:pPr>
            <a:r>
              <a:rPr lang="en-US" b="1" dirty="0"/>
              <a:t>Preconditions</a:t>
            </a:r>
            <a:r>
              <a:rPr lang="en-US" dirty="0"/>
              <a:t>: User is on the login page and has a registered account.</a:t>
            </a:r>
          </a:p>
          <a:p>
            <a:pPr>
              <a:buFont typeface="Arial" panose="020B0604020202020204" pitchFamily="34" charset="0"/>
              <a:buChar char="•"/>
            </a:pPr>
            <a:r>
              <a:rPr lang="en-US" b="1" dirty="0"/>
              <a:t>Test Steps</a:t>
            </a:r>
            <a:r>
              <a:rPr lang="en-US" dirty="0"/>
              <a:t>:</a:t>
            </a:r>
          </a:p>
          <a:p>
            <a:pPr marL="742950" lvl="1" indent="-285750">
              <a:buFont typeface="Arial" panose="020B0604020202020204" pitchFamily="34" charset="0"/>
              <a:buChar char="•"/>
            </a:pPr>
            <a:r>
              <a:rPr lang="en-US" dirty="0"/>
              <a:t>Enter a valid username in the username field.</a:t>
            </a:r>
          </a:p>
          <a:p>
            <a:pPr marL="742950" lvl="1" indent="-285750">
              <a:buFont typeface="Arial" panose="020B0604020202020204" pitchFamily="34" charset="0"/>
              <a:buChar char="•"/>
            </a:pPr>
            <a:r>
              <a:rPr lang="en-US" dirty="0"/>
              <a:t>Enter a valid password in the password field.</a:t>
            </a:r>
          </a:p>
          <a:p>
            <a:pPr marL="742950" lvl="1" indent="-285750">
              <a:buFont typeface="Arial" panose="020B0604020202020204" pitchFamily="34" charset="0"/>
              <a:buChar char="•"/>
            </a:pPr>
            <a:r>
              <a:rPr lang="en-US" dirty="0"/>
              <a:t>Click the "Login" button.</a:t>
            </a:r>
          </a:p>
          <a:p>
            <a:pPr>
              <a:buFont typeface="Arial" panose="020B0604020202020204" pitchFamily="34" charset="0"/>
              <a:buChar char="•"/>
            </a:pPr>
            <a:r>
              <a:rPr lang="en-US" b="1" dirty="0"/>
              <a:t>Expected Result</a:t>
            </a:r>
            <a:r>
              <a:rPr lang="en-US" dirty="0"/>
              <a:t>: User is redirected to the dashboard/homepage.</a:t>
            </a:r>
          </a:p>
          <a:p>
            <a:pPr>
              <a:buFont typeface="Arial" panose="020B0604020202020204" pitchFamily="34" charset="0"/>
              <a:buChar char="•"/>
            </a:pPr>
            <a:r>
              <a:rPr lang="en-US" b="1" dirty="0"/>
              <a:t>Actual Result</a:t>
            </a:r>
            <a:r>
              <a:rPr lang="en-US" dirty="0"/>
              <a:t>: (To be filled during testing)</a:t>
            </a:r>
          </a:p>
          <a:p>
            <a:pPr>
              <a:buFont typeface="Arial" panose="020B0604020202020204" pitchFamily="34" charset="0"/>
              <a:buChar char="•"/>
            </a:pPr>
            <a:r>
              <a:rPr lang="en-US" b="1" dirty="0"/>
              <a:t>Status</a:t>
            </a:r>
            <a:r>
              <a:rPr lang="en-US" dirty="0"/>
              <a:t>: (Pass/Fail)</a:t>
            </a:r>
          </a:p>
        </p:txBody>
      </p:sp>
    </p:spTree>
    <p:extLst>
      <p:ext uri="{BB962C8B-B14F-4D97-AF65-F5344CB8AC3E}">
        <p14:creationId xmlns:p14="http://schemas.microsoft.com/office/powerpoint/2010/main" val="416512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19D9D5-407E-B32A-B198-DD7091F36BB7}"/>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C4AC8C-7F99-CA1D-1D70-D03D117A31E9}"/>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dirty="0"/>
              <a:t>Bug🐞 Lifecycle</a:t>
            </a:r>
          </a:p>
        </p:txBody>
      </p:sp>
      <p:pic>
        <p:nvPicPr>
          <p:cNvPr id="3" name="Picture 2" descr="A diagram of a bug defect life cycle&#10;&#10;Description automatically generated">
            <a:extLst>
              <a:ext uri="{FF2B5EF4-FFF2-40B4-BE49-F238E27FC236}">
                <a16:creationId xmlns:a16="http://schemas.microsoft.com/office/drawing/2014/main" id="{77692565-816B-A5EA-A90D-C46D817A0F0F}"/>
              </a:ext>
            </a:extLst>
          </p:cNvPr>
          <p:cNvPicPr>
            <a:picLocks noChangeAspect="1"/>
          </p:cNvPicPr>
          <p:nvPr/>
        </p:nvPicPr>
        <p:blipFill>
          <a:blip r:embed="rId2"/>
          <a:stretch>
            <a:fillRect/>
          </a:stretch>
        </p:blipFill>
        <p:spPr>
          <a:xfrm>
            <a:off x="5737875" y="640080"/>
            <a:ext cx="5370545" cy="5263134"/>
          </a:xfrm>
          <a:prstGeom prst="rect">
            <a:avLst/>
          </a:prstGeom>
        </p:spPr>
      </p:pic>
    </p:spTree>
    <p:extLst>
      <p:ext uri="{BB962C8B-B14F-4D97-AF65-F5344CB8AC3E}">
        <p14:creationId xmlns:p14="http://schemas.microsoft.com/office/powerpoint/2010/main" val="292676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4673" y="2133600"/>
            <a:ext cx="3044952" cy="1898904"/>
          </a:xfrm>
        </p:spPr>
        <p:txBody>
          <a:bodyPr vert="horz" lIns="274320" tIns="182880" rIns="274320" bIns="182880" rtlCol="0" anchor="ctr" anchorCtr="1">
            <a:normAutofit/>
          </a:bodyPr>
          <a:lstStyle/>
          <a:p>
            <a:r>
              <a:rPr lang="en-US" dirty="0"/>
              <a:t>Bug🐞 Lifecycle</a:t>
            </a:r>
          </a:p>
        </p:txBody>
      </p:sp>
      <p:sp>
        <p:nvSpPr>
          <p:cNvPr id="41" name="Rectangle 40">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E4C0CFB8-B241-2B95-0605-783990338603}"/>
              </a:ext>
            </a:extLst>
          </p:cNvPr>
          <p:cNvGraphicFramePr>
            <a:graphicFrameLocks noGrp="1"/>
          </p:cNvGraphicFramePr>
          <p:nvPr>
            <p:extLst>
              <p:ext uri="{D42A27DB-BD31-4B8C-83A1-F6EECF244321}">
                <p14:modId xmlns:p14="http://schemas.microsoft.com/office/powerpoint/2010/main" val="3948730340"/>
              </p:ext>
            </p:extLst>
          </p:nvPr>
        </p:nvGraphicFramePr>
        <p:xfrm>
          <a:off x="5140452" y="1133221"/>
          <a:ext cx="6160822" cy="4276854"/>
        </p:xfrm>
        <a:graphic>
          <a:graphicData uri="http://schemas.openxmlformats.org/drawingml/2006/table">
            <a:tbl>
              <a:tblPr>
                <a:noFill/>
              </a:tblPr>
              <a:tblGrid>
                <a:gridCol w="1688977">
                  <a:extLst>
                    <a:ext uri="{9D8B030D-6E8A-4147-A177-3AD203B41FA5}">
                      <a16:colId xmlns:a16="http://schemas.microsoft.com/office/drawing/2014/main" val="918898231"/>
                    </a:ext>
                  </a:extLst>
                </a:gridCol>
                <a:gridCol w="4471845">
                  <a:extLst>
                    <a:ext uri="{9D8B030D-6E8A-4147-A177-3AD203B41FA5}">
                      <a16:colId xmlns:a16="http://schemas.microsoft.com/office/drawing/2014/main" val="1612315063"/>
                    </a:ext>
                  </a:extLst>
                </a:gridCol>
              </a:tblGrid>
              <a:tr h="332353">
                <a:tc>
                  <a:txBody>
                    <a:bodyPr/>
                    <a:lstStyle/>
                    <a:p>
                      <a:r>
                        <a:rPr lang="en-US" sz="1050" b="1" cap="none" spc="0">
                          <a:solidFill>
                            <a:schemeClr val="tx1"/>
                          </a:solidFill>
                        </a:rPr>
                        <a:t>Phase</a:t>
                      </a:r>
                      <a:endParaRPr lang="en-US" sz="1050" cap="none" spc="0">
                        <a:solidFill>
                          <a:schemeClr val="tx1"/>
                        </a:solidFill>
                      </a:endParaRPr>
                    </a:p>
                  </a:txBody>
                  <a:tcPr marL="0" marR="45121" marT="18048" marB="135362"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r>
                        <a:rPr lang="en-US" sz="1050" b="1" cap="none" spc="0" dirty="0">
                          <a:solidFill>
                            <a:schemeClr val="tx1"/>
                          </a:solidFill>
                        </a:rPr>
                        <a:t>Description</a:t>
                      </a:r>
                      <a:endParaRPr lang="en-US" sz="1050" cap="none" spc="0" dirty="0">
                        <a:solidFill>
                          <a:schemeClr val="tx1"/>
                        </a:solidFill>
                      </a:endParaRPr>
                    </a:p>
                  </a:txBody>
                  <a:tcPr marL="0" marR="45121" marT="18048" marB="135362"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823478096"/>
                  </a:ext>
                </a:extLst>
              </a:tr>
              <a:tr h="332353">
                <a:tc>
                  <a:txBody>
                    <a:bodyPr/>
                    <a:lstStyle/>
                    <a:p>
                      <a:r>
                        <a:rPr lang="en-US" sz="1050" b="1" cap="none" spc="0">
                          <a:solidFill>
                            <a:schemeClr val="tx1"/>
                          </a:solidFill>
                        </a:rPr>
                        <a:t>1. New</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A bug is identified and reported. It is in the "New" state until it is reviewed.</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182774384"/>
                  </a:ext>
                </a:extLst>
              </a:tr>
              <a:tr h="332353">
                <a:tc>
                  <a:txBody>
                    <a:bodyPr/>
                    <a:lstStyle/>
                    <a:p>
                      <a:r>
                        <a:rPr lang="en-US" sz="1050" b="1" cap="none" spc="0">
                          <a:solidFill>
                            <a:schemeClr val="tx1"/>
                          </a:solidFill>
                        </a:rPr>
                        <a:t>2. Assigned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The bug is assigned to a developer or team for further investigation.</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310667927"/>
                  </a:ext>
                </a:extLst>
              </a:tr>
              <a:tr h="332353">
                <a:tc>
                  <a:txBody>
                    <a:bodyPr/>
                    <a:lstStyle/>
                    <a:p>
                      <a:r>
                        <a:rPr lang="en-US" sz="1050" b="1" cap="none" spc="0">
                          <a:solidFill>
                            <a:schemeClr val="tx1"/>
                          </a:solidFill>
                        </a:rPr>
                        <a:t>3. Open</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The developer starts analyzing and working on fixing the bug.</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63895847"/>
                  </a:ext>
                </a:extLst>
              </a:tr>
              <a:tr h="476662">
                <a:tc>
                  <a:txBody>
                    <a:bodyPr/>
                    <a:lstStyle/>
                    <a:p>
                      <a:r>
                        <a:rPr lang="en-US" sz="1050" b="1" cap="none" spc="0">
                          <a:solidFill>
                            <a:schemeClr val="tx1"/>
                          </a:solidFill>
                        </a:rPr>
                        <a:t>4. Fixed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dirty="0">
                          <a:solidFill>
                            <a:schemeClr val="tx1"/>
                          </a:solidFill>
                        </a:rPr>
                        <a:t>The developer has made changes to fix the bug, and it is now marked as "Fixed."</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823817962"/>
                  </a:ext>
                </a:extLst>
              </a:tr>
              <a:tr h="332353">
                <a:tc>
                  <a:txBody>
                    <a:bodyPr/>
                    <a:lstStyle/>
                    <a:p>
                      <a:r>
                        <a:rPr lang="en-US" sz="1050" b="1" cap="none" spc="0">
                          <a:solidFill>
                            <a:schemeClr val="tx1"/>
                          </a:solidFill>
                        </a:rPr>
                        <a:t>5. Pending Retest</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The fix is deployed to a test environment, and the bug is ready for retesting.</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22304983"/>
                  </a:ext>
                </a:extLst>
              </a:tr>
              <a:tr h="332353">
                <a:tc>
                  <a:txBody>
                    <a:bodyPr/>
                    <a:lstStyle/>
                    <a:p>
                      <a:r>
                        <a:rPr lang="en-US" sz="1050" b="1" cap="none" spc="0">
                          <a:solidFill>
                            <a:schemeClr val="tx1"/>
                          </a:solidFill>
                        </a:rPr>
                        <a:t>6. Retesting</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dirty="0">
                          <a:solidFill>
                            <a:schemeClr val="tx1"/>
                          </a:solidFill>
                        </a:rPr>
                        <a:t>The QA team retests the bug to verify the fix.</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10656918"/>
                  </a:ext>
                </a:extLst>
              </a:tr>
              <a:tr h="332353">
                <a:tc>
                  <a:txBody>
                    <a:bodyPr/>
                    <a:lstStyle/>
                    <a:p>
                      <a:r>
                        <a:rPr lang="en-US" sz="1050" b="1" cap="none" spc="0">
                          <a:solidFill>
                            <a:schemeClr val="tx1"/>
                          </a:solidFill>
                        </a:rPr>
                        <a:t>7. Verified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If the bug is no longer reproducible, it is marked as "Verified."</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52547980"/>
                  </a:ext>
                </a:extLst>
              </a:tr>
              <a:tr h="332353">
                <a:tc>
                  <a:txBody>
                    <a:bodyPr/>
                    <a:lstStyle/>
                    <a:p>
                      <a:r>
                        <a:rPr lang="en-US" sz="1050" b="1" cap="none" spc="0">
                          <a:solidFill>
                            <a:schemeClr val="tx1"/>
                          </a:solidFill>
                        </a:rPr>
                        <a:t>8. Closed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The bug is confirmed as resolved and closed after verification.</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59853218"/>
                  </a:ext>
                </a:extLst>
              </a:tr>
              <a:tr h="476662">
                <a:tc>
                  <a:txBody>
                    <a:bodyPr/>
                    <a:lstStyle/>
                    <a:p>
                      <a:r>
                        <a:rPr lang="en-US" sz="1050" b="1" cap="none" spc="0">
                          <a:solidFill>
                            <a:schemeClr val="tx1"/>
                          </a:solidFill>
                        </a:rPr>
                        <a:t>Optional: Reopen</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If the bug persists or resurfaces, it is reopened and goes through the cycle again.</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85695230"/>
                  </a:ext>
                </a:extLst>
              </a:tr>
              <a:tr h="332353">
                <a:tc>
                  <a:txBody>
                    <a:bodyPr/>
                    <a:lstStyle/>
                    <a:p>
                      <a:r>
                        <a:rPr lang="en-US" sz="1050" b="1" cap="none" spc="0">
                          <a:solidFill>
                            <a:schemeClr val="tx1"/>
                          </a:solidFill>
                        </a:rPr>
                        <a:t>Optional: Deferred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a:solidFill>
                            <a:schemeClr val="tx1"/>
                          </a:solidFill>
                        </a:rPr>
                        <a:t>The bug is postponed due to low priority or other reasons, to be fixed later.</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267188516"/>
                  </a:ext>
                </a:extLst>
              </a:tr>
              <a:tr h="332353">
                <a:tc>
                  <a:txBody>
                    <a:bodyPr/>
                    <a:lstStyle/>
                    <a:p>
                      <a:r>
                        <a:rPr lang="en-US" sz="1050" b="1" cap="none" spc="0">
                          <a:solidFill>
                            <a:schemeClr val="tx1"/>
                          </a:solidFill>
                        </a:rPr>
                        <a:t>Optional: Rejected</a:t>
                      </a:r>
                      <a:endParaRPr lang="en-US" sz="1050" cap="none" spc="0">
                        <a:solidFill>
                          <a:schemeClr val="tx1"/>
                        </a:solidFill>
                      </a:endParaRP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50" cap="none" spc="0" dirty="0">
                          <a:solidFill>
                            <a:schemeClr val="tx1"/>
                          </a:solidFill>
                        </a:rPr>
                        <a:t>The bug is not valid or cannot be reproduced, and is marked as "Rejected."</a:t>
                      </a:r>
                    </a:p>
                  </a:txBody>
                  <a:tcPr marL="0" marR="45121" marT="18048" marB="135362"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590594459"/>
                  </a:ext>
                </a:extLst>
              </a:tr>
            </a:tbl>
          </a:graphicData>
        </a:graphic>
      </p:graphicFrame>
    </p:spTree>
    <p:extLst>
      <p:ext uri="{BB962C8B-B14F-4D97-AF65-F5344CB8AC3E}">
        <p14:creationId xmlns:p14="http://schemas.microsoft.com/office/powerpoint/2010/main" val="2906424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9FC228-3938-FE7F-BF46-B68B54EB5DCC}"/>
            </a:ext>
          </a:extLst>
        </p:cNvPr>
        <p:cNvGrpSpPr/>
        <p:nvPr/>
      </p:nvGrpSpPr>
      <p:grpSpPr>
        <a:xfrm>
          <a:off x="0" y="0"/>
          <a:ext cx="0" cy="0"/>
          <a:chOff x="0" y="0"/>
          <a:chExt cx="0" cy="0"/>
        </a:xfrm>
      </p:grpSpPr>
      <p:sp>
        <p:nvSpPr>
          <p:cNvPr id="103" name="Rectangle 102">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8" name="Rectangle 57">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BAED40-1E0E-8A0B-3AB3-BC9B0201E11A}"/>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vert="horz" lIns="182880" tIns="182880" rIns="182880" bIns="182880" rtlCol="0" anchor="ctr" anchorCtr="1">
            <a:normAutofit/>
          </a:bodyPr>
          <a:lstStyle/>
          <a:p>
            <a:r>
              <a:rPr lang="en-US" sz="3000" kern="1200" cap="all" spc="200" baseline="0">
                <a:solidFill>
                  <a:srgbClr val="FFFFFF"/>
                </a:solidFill>
                <a:latin typeface="+mj-lt"/>
                <a:ea typeface="+mj-ea"/>
                <a:cs typeface="+mj-cs"/>
              </a:rPr>
              <a:t>Bug Lifecycle</a:t>
            </a:r>
          </a:p>
        </p:txBody>
      </p:sp>
      <p:sp>
        <p:nvSpPr>
          <p:cNvPr id="104" name="TextBox 103">
            <a:extLst>
              <a:ext uri="{FF2B5EF4-FFF2-40B4-BE49-F238E27FC236}">
                <a16:creationId xmlns:a16="http://schemas.microsoft.com/office/drawing/2014/main" id="{9A86B3F0-9391-CF38-AECE-BB833A28964A}"/>
              </a:ext>
            </a:extLst>
          </p:cNvPr>
          <p:cNvSpPr txBox="1"/>
          <p:nvPr/>
        </p:nvSpPr>
        <p:spPr>
          <a:xfrm>
            <a:off x="5342020" y="1443036"/>
            <a:ext cx="6670308" cy="3971930"/>
          </a:xfrm>
          <a:prstGeom prst="rect">
            <a:avLst/>
          </a:prstGeom>
        </p:spPr>
        <p:txBody>
          <a:bodyPr vert="horz" lIns="91440" tIns="45720" rIns="91440" bIns="45720" rtlCol="0" anchor="ctr">
            <a:normAutofit/>
          </a:bodyPr>
          <a:lstStyle/>
          <a:p>
            <a:pPr defTabSz="914400">
              <a:lnSpc>
                <a:spcPct val="90000"/>
              </a:lnSpc>
              <a:spcBef>
                <a:spcPts val="1000"/>
              </a:spcBef>
              <a:buClr>
                <a:schemeClr val="accent2"/>
              </a:buClr>
            </a:pPr>
            <a:r>
              <a:rPr lang="en-US" b="1" dirty="0">
                <a:solidFill>
                  <a:schemeClr val="tx1">
                    <a:lumMod val="85000"/>
                    <a:lumOff val="15000"/>
                  </a:schemeClr>
                </a:solidFill>
              </a:rPr>
              <a:t>Report the Bug with the Following Details</a:t>
            </a:r>
            <a:r>
              <a:rPr lang="en-US" dirty="0">
                <a:solidFill>
                  <a:schemeClr val="tx1">
                    <a:lumMod val="85000"/>
                    <a:lumOff val="15000"/>
                  </a:schemeClr>
                </a:solidFill>
              </a:rPr>
              <a:t>:</a:t>
            </a:r>
            <a:endParaRPr lang="en-US" sz="1100" dirty="0">
              <a:solidFill>
                <a:schemeClr val="tx1">
                  <a:lumMod val="85000"/>
                  <a:lumOff val="15000"/>
                </a:schemeClr>
              </a:solidFill>
            </a:endParaRP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Title/Summary</a:t>
            </a:r>
            <a:r>
              <a:rPr lang="en-US" sz="1100" dirty="0">
                <a:solidFill>
                  <a:schemeClr val="tx1">
                    <a:lumMod val="85000"/>
                    <a:lumOff val="15000"/>
                  </a:schemeClr>
                </a:solidFill>
              </a:rPr>
              <a:t>: A brief and clear title summarizing the issue (e.g., "Login page fails for valid credentials").</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Description</a:t>
            </a:r>
            <a:r>
              <a:rPr lang="en-US" sz="1100" dirty="0">
                <a:solidFill>
                  <a:schemeClr val="tx1">
                    <a:lumMod val="85000"/>
                    <a:lumOff val="15000"/>
                  </a:schemeClr>
                </a:solidFill>
              </a:rPr>
              <a:t>: A detailed explanation of the issue.</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Steps to Reproduce</a:t>
            </a:r>
            <a:r>
              <a:rPr lang="en-US" sz="1100" dirty="0">
                <a:solidFill>
                  <a:schemeClr val="tx1">
                    <a:lumMod val="85000"/>
                    <a:lumOff val="15000"/>
                  </a:schemeClr>
                </a:solidFill>
              </a:rPr>
              <a:t>: A step-by-step guide on how to reproduce the issue.</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Expected Result</a:t>
            </a:r>
            <a:r>
              <a:rPr lang="en-US" sz="1100" dirty="0">
                <a:solidFill>
                  <a:schemeClr val="tx1">
                    <a:lumMod val="85000"/>
                    <a:lumOff val="15000"/>
                  </a:schemeClr>
                </a:solidFill>
              </a:rPr>
              <a:t>: What the application should do if working correctly.</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Actual Result</a:t>
            </a:r>
            <a:r>
              <a:rPr lang="en-US" sz="1100" dirty="0">
                <a:solidFill>
                  <a:schemeClr val="tx1">
                    <a:lumMod val="85000"/>
                    <a:lumOff val="15000"/>
                  </a:schemeClr>
                </a:solidFill>
              </a:rPr>
              <a:t>: What actually happened when the issue occurred.</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Severity and Priority</a:t>
            </a:r>
            <a:r>
              <a:rPr lang="en-US" sz="1100" dirty="0">
                <a:solidFill>
                  <a:schemeClr val="tx1">
                    <a:lumMod val="85000"/>
                    <a:lumOff val="15000"/>
                  </a:schemeClr>
                </a:solidFill>
              </a:rPr>
              <a:t>: Assign the bug's impact level (e.g., critical, high, medium, low).</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Environment Details</a:t>
            </a:r>
            <a:r>
              <a:rPr lang="en-US" sz="1100" dirty="0">
                <a:solidFill>
                  <a:schemeClr val="tx1">
                    <a:lumMod val="85000"/>
                    <a:lumOff val="15000"/>
                  </a:schemeClr>
                </a:solidFill>
              </a:rPr>
              <a:t>: Specify the operating system, browser, device, or app version.</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Screenshots/Videos</a:t>
            </a:r>
            <a:r>
              <a:rPr lang="en-US" sz="1100" dirty="0">
                <a:solidFill>
                  <a:schemeClr val="tx1">
                    <a:lumMod val="85000"/>
                    <a:lumOff val="15000"/>
                  </a:schemeClr>
                </a:solidFill>
              </a:rPr>
              <a:t>: Attach visual evidence to help developers understand the problem.</a:t>
            </a:r>
          </a:p>
          <a:p>
            <a:pPr indent="-228600" defTabSz="914400">
              <a:lnSpc>
                <a:spcPct val="90000"/>
              </a:lnSpc>
              <a:spcBef>
                <a:spcPts val="1000"/>
              </a:spcBef>
              <a:buClr>
                <a:schemeClr val="accent2"/>
              </a:buClr>
              <a:buFont typeface="Arial" panose="020B0604020202020204" pitchFamily="34" charset="0"/>
              <a:buChar char="•"/>
            </a:pPr>
            <a:r>
              <a:rPr lang="en-US" sz="1100" b="1" dirty="0">
                <a:solidFill>
                  <a:schemeClr val="tx1">
                    <a:lumMod val="85000"/>
                    <a:lumOff val="15000"/>
                  </a:schemeClr>
                </a:solidFill>
              </a:rPr>
              <a:t>Logs</a:t>
            </a:r>
            <a:r>
              <a:rPr lang="en-US" sz="1100" dirty="0">
                <a:solidFill>
                  <a:schemeClr val="tx1">
                    <a:lumMod val="85000"/>
                    <a:lumOff val="15000"/>
                  </a:schemeClr>
                </a:solidFill>
              </a:rPr>
              <a:t>: Include console or error logs, if applicable.</a:t>
            </a:r>
          </a:p>
          <a:p>
            <a:pPr indent="-228600" defTabSz="914400">
              <a:lnSpc>
                <a:spcPct val="90000"/>
              </a:lnSpc>
              <a:spcBef>
                <a:spcPts val="1000"/>
              </a:spcBef>
              <a:buClr>
                <a:schemeClr val="accent2"/>
              </a:buClr>
              <a:buFont typeface="Arial" panose="020B0604020202020204" pitchFamily="34" charset="0"/>
              <a:buChar char="•"/>
            </a:pPr>
            <a:endParaRPr lang="en-US" sz="1100" dirty="0">
              <a:solidFill>
                <a:schemeClr val="tx1">
                  <a:lumMod val="85000"/>
                  <a:lumOff val="15000"/>
                </a:schemeClr>
              </a:solidFill>
            </a:endParaRPr>
          </a:p>
        </p:txBody>
      </p:sp>
    </p:spTree>
    <p:extLst>
      <p:ext uri="{BB962C8B-B14F-4D97-AF65-F5344CB8AC3E}">
        <p14:creationId xmlns:p14="http://schemas.microsoft.com/office/powerpoint/2010/main" val="109205601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50935</TotalTime>
  <Words>3968</Words>
  <Application>Microsoft Macintosh PowerPoint</Application>
  <PresentationFormat>Widescreen</PresentationFormat>
  <Paragraphs>573</Paragraphs>
  <Slides>38</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Copperplate</vt:lpstr>
      <vt:lpstr>docs-Roboto</vt:lpstr>
      <vt:lpstr>Gill Sans MT</vt:lpstr>
      <vt:lpstr>Roboto</vt:lpstr>
      <vt:lpstr>Source Sans Pro</vt:lpstr>
      <vt:lpstr>Parcel</vt:lpstr>
      <vt:lpstr>Software Testing</vt:lpstr>
      <vt:lpstr>Contents</vt:lpstr>
      <vt:lpstr>Introduction to SQA</vt:lpstr>
      <vt:lpstr>Introduction to SQA</vt:lpstr>
      <vt:lpstr>Introduction to SQA</vt:lpstr>
      <vt:lpstr>Introduction to SQA</vt:lpstr>
      <vt:lpstr>Introduction to SQA</vt:lpstr>
      <vt:lpstr>Software Development Lifecycle (SDLC)</vt:lpstr>
      <vt:lpstr>Software Development Lifecycle (SDLC) AS QA</vt:lpstr>
      <vt:lpstr>Software Development Lifecycle (SDLC) AS QA</vt:lpstr>
      <vt:lpstr>Software Development Lifecycle (SDLC) AS QA</vt:lpstr>
      <vt:lpstr>Software Development Lifecycle (SDLC) AS QA</vt:lpstr>
      <vt:lpstr>Software Testing Lifecycle (STLC)</vt:lpstr>
      <vt:lpstr>Software Testing Lifecycle (STLC)</vt:lpstr>
      <vt:lpstr>SDLC Models</vt:lpstr>
      <vt:lpstr>Waterfall Model</vt:lpstr>
      <vt:lpstr>V-Shaped Model</vt:lpstr>
      <vt:lpstr>Iterative Model</vt:lpstr>
      <vt:lpstr>Spiral Model</vt:lpstr>
      <vt:lpstr>Agile Model</vt:lpstr>
      <vt:lpstr>Comparison of SDLC Models</vt:lpstr>
      <vt:lpstr>Types of software testing</vt:lpstr>
      <vt:lpstr>Types of software testing</vt:lpstr>
      <vt:lpstr>Key Differences Between Functional and Non-Functional Testing</vt:lpstr>
      <vt:lpstr>Functional Testing</vt:lpstr>
      <vt:lpstr>Key Differences Between Smoke, Sanity, Regression, and Retesting</vt:lpstr>
      <vt:lpstr>Non-Functional Testing</vt:lpstr>
      <vt:lpstr>Non-Functional Testing</vt:lpstr>
      <vt:lpstr>Testing Methods</vt:lpstr>
      <vt:lpstr>Key Differences Between Black Box, White Box, and Grey Box Testing Methods</vt:lpstr>
      <vt:lpstr>Testing LEVELS</vt:lpstr>
      <vt:lpstr>Key Differences Between Unit, Integration, System, and Acceptance Testing</vt:lpstr>
      <vt:lpstr>Test design, techniques, Execution</vt:lpstr>
      <vt:lpstr>Test design, techniques, Execution</vt:lpstr>
      <vt:lpstr>Test design, techniques, Execution</vt:lpstr>
      <vt:lpstr>Bug🐞 Lifecycle</vt:lpstr>
      <vt:lpstr>Bug🐞 Lifecycle</vt:lpstr>
      <vt:lpstr>Bug Lifecycle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Shariq Naeem</dc:creator>
  <cp:lastModifiedBy>Shariq Naeem</cp:lastModifiedBy>
  <cp:revision>2</cp:revision>
  <dcterms:created xsi:type="dcterms:W3CDTF">2024-09-28T07:50:50Z</dcterms:created>
  <dcterms:modified xsi:type="dcterms:W3CDTF">2024-11-09T14:25:44Z</dcterms:modified>
</cp:coreProperties>
</file>
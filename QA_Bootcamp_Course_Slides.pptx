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3"/>
  </p:notesMasterIdLst>
  <p:sldIdLst>
    <p:sldId id="256" r:id="rId2"/>
    <p:sldId id="257" r:id="rId3"/>
    <p:sldId id="268" r:id="rId4"/>
    <p:sldId id="269" r:id="rId5"/>
    <p:sldId id="270" r:id="rId6"/>
    <p:sldId id="383" r:id="rId7"/>
    <p:sldId id="384" r:id="rId8"/>
    <p:sldId id="328" r:id="rId9"/>
    <p:sldId id="329" r:id="rId10"/>
    <p:sldId id="333" r:id="rId11"/>
    <p:sldId id="330" r:id="rId12"/>
    <p:sldId id="332" r:id="rId13"/>
    <p:sldId id="385" r:id="rId14"/>
    <p:sldId id="386" r:id="rId15"/>
    <p:sldId id="387" r:id="rId16"/>
    <p:sldId id="388" r:id="rId17"/>
    <p:sldId id="389" r:id="rId18"/>
    <p:sldId id="272" r:id="rId19"/>
    <p:sldId id="273" r:id="rId20"/>
    <p:sldId id="259" r:id="rId21"/>
    <p:sldId id="390" r:id="rId22"/>
    <p:sldId id="391" r:id="rId23"/>
    <p:sldId id="392" r:id="rId24"/>
    <p:sldId id="393" r:id="rId25"/>
    <p:sldId id="394" r:id="rId26"/>
    <p:sldId id="395" r:id="rId27"/>
    <p:sldId id="396" r:id="rId28"/>
    <p:sldId id="397" r:id="rId29"/>
    <p:sldId id="398" r:id="rId30"/>
    <p:sldId id="402" r:id="rId31"/>
    <p:sldId id="403" r:id="rId32"/>
    <p:sldId id="404" r:id="rId33"/>
    <p:sldId id="405" r:id="rId34"/>
    <p:sldId id="406" r:id="rId35"/>
    <p:sldId id="407" r:id="rId36"/>
    <p:sldId id="408" r:id="rId37"/>
    <p:sldId id="409" r:id="rId38"/>
    <p:sldId id="413" r:id="rId39"/>
    <p:sldId id="414" r:id="rId40"/>
    <p:sldId id="410" r:id="rId41"/>
    <p:sldId id="411" r:id="rId42"/>
    <p:sldId id="412" r:id="rId43"/>
    <p:sldId id="419" r:id="rId44"/>
    <p:sldId id="420" r:id="rId45"/>
    <p:sldId id="421" r:id="rId46"/>
    <p:sldId id="422" r:id="rId47"/>
    <p:sldId id="423" r:id="rId48"/>
    <p:sldId id="424" r:id="rId49"/>
    <p:sldId id="426" r:id="rId50"/>
    <p:sldId id="427" r:id="rId51"/>
    <p:sldId id="428" r:id="rId52"/>
    <p:sldId id="425" r:id="rId53"/>
    <p:sldId id="429" r:id="rId54"/>
    <p:sldId id="415" r:id="rId55"/>
    <p:sldId id="461" r:id="rId56"/>
    <p:sldId id="450" r:id="rId57"/>
    <p:sldId id="431" r:id="rId58"/>
    <p:sldId id="432" r:id="rId59"/>
    <p:sldId id="430" r:id="rId60"/>
    <p:sldId id="451" r:id="rId61"/>
    <p:sldId id="452" r:id="rId62"/>
    <p:sldId id="453" r:id="rId63"/>
    <p:sldId id="416" r:id="rId64"/>
    <p:sldId id="454" r:id="rId65"/>
    <p:sldId id="417" r:id="rId66"/>
    <p:sldId id="455" r:id="rId67"/>
    <p:sldId id="456" r:id="rId68"/>
    <p:sldId id="457" r:id="rId69"/>
    <p:sldId id="458" r:id="rId70"/>
    <p:sldId id="459" r:id="rId71"/>
    <p:sldId id="460" r:id="rId72"/>
    <p:sldId id="436" r:id="rId73"/>
    <p:sldId id="462" r:id="rId74"/>
    <p:sldId id="438" r:id="rId75"/>
    <p:sldId id="439" r:id="rId76"/>
    <p:sldId id="440" r:id="rId77"/>
    <p:sldId id="399" r:id="rId78"/>
    <p:sldId id="400" r:id="rId79"/>
    <p:sldId id="401" r:id="rId80"/>
    <p:sldId id="433" r:id="rId81"/>
    <p:sldId id="434" r:id="rId82"/>
    <p:sldId id="435" r:id="rId83"/>
    <p:sldId id="441" r:id="rId84"/>
    <p:sldId id="449" r:id="rId85"/>
    <p:sldId id="442" r:id="rId86"/>
    <p:sldId id="443" r:id="rId87"/>
    <p:sldId id="444" r:id="rId88"/>
    <p:sldId id="445" r:id="rId89"/>
    <p:sldId id="446" r:id="rId90"/>
    <p:sldId id="447" r:id="rId91"/>
    <p:sldId id="448"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D3EF9E-66CE-42C5-8CF2-97AD1EE28C71}" v="1" dt="2025-01-13T10:50:39.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9"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98"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Mujtaba" userId="4aaf0cd5-7615-4825-9f4f-74fb4e3eed40" providerId="ADAL" clId="{60D3EF9E-66CE-42C5-8CF2-97AD1EE28C71}"/>
    <pc:docChg chg="modSld">
      <pc:chgData name="Ahmed Mujtaba" userId="4aaf0cd5-7615-4825-9f4f-74fb4e3eed40" providerId="ADAL" clId="{60D3EF9E-66CE-42C5-8CF2-97AD1EE28C71}" dt="2025-01-13T10:52:57.807" v="1" actId="20577"/>
      <pc:docMkLst>
        <pc:docMk/>
      </pc:docMkLst>
      <pc:sldChg chg="modSp mod">
        <pc:chgData name="Ahmed Mujtaba" userId="4aaf0cd5-7615-4825-9f4f-74fb4e3eed40" providerId="ADAL" clId="{60D3EF9E-66CE-42C5-8CF2-97AD1EE28C71}" dt="2025-01-13T10:52:57.807" v="1" actId="20577"/>
        <pc:sldMkLst>
          <pc:docMk/>
          <pc:sldMk cId="3752079267" sldId="406"/>
        </pc:sldMkLst>
        <pc:spChg chg="mod">
          <ac:chgData name="Ahmed Mujtaba" userId="4aaf0cd5-7615-4825-9f4f-74fb4e3eed40" providerId="ADAL" clId="{60D3EF9E-66CE-42C5-8CF2-97AD1EE28C71}" dt="2025-01-13T10:52:57.807" v="1" actId="20577"/>
          <ac:spMkLst>
            <pc:docMk/>
            <pc:sldMk cId="3752079267" sldId="406"/>
            <ac:spMk id="2" creationId="{84A46986-42BD-2B2F-E05C-2EE733F33390}"/>
          </ac:spMkLst>
        </pc:spChg>
        <pc:picChg chg="mod">
          <ac:chgData name="Ahmed Mujtaba" userId="4aaf0cd5-7615-4825-9f4f-74fb4e3eed40" providerId="ADAL" clId="{60D3EF9E-66CE-42C5-8CF2-97AD1EE28C71}" dt="2025-01-13T10:50:39.993" v="0" actId="1076"/>
          <ac:picMkLst>
            <pc:docMk/>
            <pc:sldMk cId="3752079267" sldId="406"/>
            <ac:picMk id="1026" creationId="{D86C59F1-ADBE-3E49-6EC8-993D3137B42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28184-273E-40F0-B9A0-8CC8807DE4CA}"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168069-58E1-4E00-A593-C70D72A1EAA4}" type="slidenum">
              <a:rPr lang="en-US" smtClean="0"/>
              <a:t>‹#›</a:t>
            </a:fld>
            <a:endParaRPr lang="en-US"/>
          </a:p>
        </p:txBody>
      </p:sp>
    </p:spTree>
    <p:extLst>
      <p:ext uri="{BB962C8B-B14F-4D97-AF65-F5344CB8AC3E}">
        <p14:creationId xmlns:p14="http://schemas.microsoft.com/office/powerpoint/2010/main" val="4021748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B91549-43BF-425A-AF25-75262019208C}" type="slidenum">
              <a:rPr lang="en-US" smtClean="0"/>
              <a:t>7</a:t>
            </a:fld>
            <a:endParaRPr lang="en-US" dirty="0"/>
          </a:p>
        </p:txBody>
      </p:sp>
    </p:spTree>
    <p:extLst>
      <p:ext uri="{BB962C8B-B14F-4D97-AF65-F5344CB8AC3E}">
        <p14:creationId xmlns:p14="http://schemas.microsoft.com/office/powerpoint/2010/main" val="1131171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B91549-43BF-425A-AF25-75262019208C}" type="slidenum">
              <a:rPr lang="en-US" smtClean="0"/>
              <a:t>8</a:t>
            </a:fld>
            <a:endParaRPr lang="en-US" dirty="0"/>
          </a:p>
        </p:txBody>
      </p:sp>
    </p:spTree>
    <p:extLst>
      <p:ext uri="{BB962C8B-B14F-4D97-AF65-F5344CB8AC3E}">
        <p14:creationId xmlns:p14="http://schemas.microsoft.com/office/powerpoint/2010/main" val="574061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B91549-43BF-425A-AF25-75262019208C}" type="slidenum">
              <a:rPr lang="en-US" smtClean="0"/>
              <a:t>9</a:t>
            </a:fld>
            <a:endParaRPr lang="en-US" dirty="0"/>
          </a:p>
        </p:txBody>
      </p:sp>
    </p:spTree>
    <p:extLst>
      <p:ext uri="{BB962C8B-B14F-4D97-AF65-F5344CB8AC3E}">
        <p14:creationId xmlns:p14="http://schemas.microsoft.com/office/powerpoint/2010/main" val="3817418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B91549-43BF-425A-AF25-75262019208C}" type="slidenum">
              <a:rPr lang="en-US" smtClean="0"/>
              <a:t>10</a:t>
            </a:fld>
            <a:endParaRPr lang="en-US" dirty="0"/>
          </a:p>
        </p:txBody>
      </p:sp>
    </p:spTree>
    <p:extLst>
      <p:ext uri="{BB962C8B-B14F-4D97-AF65-F5344CB8AC3E}">
        <p14:creationId xmlns:p14="http://schemas.microsoft.com/office/powerpoint/2010/main" val="3347325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B91549-43BF-425A-AF25-75262019208C}" type="slidenum">
              <a:rPr lang="en-US" smtClean="0"/>
              <a:t>12</a:t>
            </a:fld>
            <a:endParaRPr lang="en-US" dirty="0"/>
          </a:p>
        </p:txBody>
      </p:sp>
    </p:spTree>
    <p:extLst>
      <p:ext uri="{BB962C8B-B14F-4D97-AF65-F5344CB8AC3E}">
        <p14:creationId xmlns:p14="http://schemas.microsoft.com/office/powerpoint/2010/main" val="923123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3E57B-AF83-C158-C00D-A09476746D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54DE74-1682-04D9-FE7B-B10ABE8D39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407D2D-1D93-F870-E8E5-37C3C40EBB0B}"/>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5" name="Footer Placeholder 4">
            <a:extLst>
              <a:ext uri="{FF2B5EF4-FFF2-40B4-BE49-F238E27FC236}">
                <a16:creationId xmlns:a16="http://schemas.microsoft.com/office/drawing/2014/main" id="{5F31727C-F16C-C4E9-72A4-8EA39BC44C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832867-80AC-46F7-328F-270C1DF0FCB2}"/>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2856215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22744-3D75-2FC3-A5AC-D268BAEF7A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EF47AF-0D1B-C1D5-470E-B6783D3467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2964F0-4BE1-F279-DCF8-1EF20D456677}"/>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5" name="Footer Placeholder 4">
            <a:extLst>
              <a:ext uri="{FF2B5EF4-FFF2-40B4-BE49-F238E27FC236}">
                <a16:creationId xmlns:a16="http://schemas.microsoft.com/office/drawing/2014/main" id="{F07106D9-581A-1E9A-A302-7A642C1D64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F2C95E-82D2-D639-B8CE-B712FCCD09B1}"/>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359599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49554-C014-0702-4BDD-6F6E09ED68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C9EC37-3D0E-97F3-5687-E73462196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B0B646-3BDD-EF52-B605-6C45824A1BBB}"/>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5" name="Footer Placeholder 4">
            <a:extLst>
              <a:ext uri="{FF2B5EF4-FFF2-40B4-BE49-F238E27FC236}">
                <a16:creationId xmlns:a16="http://schemas.microsoft.com/office/drawing/2014/main" id="{56DEDEE5-BC7D-FC35-2472-49B90FFFD0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47DA0-39BB-BF7C-8387-B5403FCD3664}"/>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130232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2CBA5-EADB-2EED-1F2B-E9C9494D6E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3A97DA-1DF7-8095-3DDF-4728534B73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4A2FC9-36EB-BB84-9005-9D04B6001E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6F0E85-FAAE-971A-837C-EC9A233AC1E5}"/>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6" name="Footer Placeholder 5">
            <a:extLst>
              <a:ext uri="{FF2B5EF4-FFF2-40B4-BE49-F238E27FC236}">
                <a16:creationId xmlns:a16="http://schemas.microsoft.com/office/drawing/2014/main" id="{C32067B7-F98B-DB48-998B-7C6BCBC48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32854-A5E8-C6BD-C67C-3FEE7A96C4C7}"/>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329324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C0A60-C723-16BC-9654-59E6E0BFE5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7C41C2-2C28-B039-992F-31533274B2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6E7C0-7336-0B36-7CF6-C04401362B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162987-1502-0CD5-280D-D5A555B22F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621796-0214-D064-0332-F5290D10C0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DE6C03-F3AC-8437-4147-DCFA1309333B}"/>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8" name="Footer Placeholder 7">
            <a:extLst>
              <a:ext uri="{FF2B5EF4-FFF2-40B4-BE49-F238E27FC236}">
                <a16:creationId xmlns:a16="http://schemas.microsoft.com/office/drawing/2014/main" id="{0C3913B7-1DBE-372E-EDAF-5DAEAC5EA8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266B72-3257-A906-3F2D-0B82B5E0A6AC}"/>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4191793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FA1BE-7D43-2446-DABB-53A719370A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F2205B-4AB7-952B-E7A7-432F0E26987E}"/>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4" name="Footer Placeholder 3">
            <a:extLst>
              <a:ext uri="{FF2B5EF4-FFF2-40B4-BE49-F238E27FC236}">
                <a16:creationId xmlns:a16="http://schemas.microsoft.com/office/drawing/2014/main" id="{CAE9D6DD-41FF-7C6B-E1DB-C95466D136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3D5CBA-6084-4F9A-608C-2E4C964B1699}"/>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2702681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850349-7C07-AAED-FAF7-859DBC27A59C}"/>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3" name="Footer Placeholder 2">
            <a:extLst>
              <a:ext uri="{FF2B5EF4-FFF2-40B4-BE49-F238E27FC236}">
                <a16:creationId xmlns:a16="http://schemas.microsoft.com/office/drawing/2014/main" id="{4179A80C-FA5F-33AE-C653-494F38AD03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4FE05D-88A9-B4A6-DB9D-A41D55A9FAAF}"/>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139032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EDBC5-5768-0270-FDC4-98C95CB60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BD0666-DFD3-5FFE-1B16-33A327CCF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EC0738-E801-7103-4F5D-1DFBEFA24A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D5E7FE-6E88-0DB7-0B14-3994A4F1B4BF}"/>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6" name="Footer Placeholder 5">
            <a:extLst>
              <a:ext uri="{FF2B5EF4-FFF2-40B4-BE49-F238E27FC236}">
                <a16:creationId xmlns:a16="http://schemas.microsoft.com/office/drawing/2014/main" id="{2D333641-ADBA-AA44-936D-47E1B494AC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66AAC9-E627-58D7-E247-FCBAD57A116D}"/>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215179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EA89-F240-4E5A-D018-511E4F588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B9DF1C-2A4A-30FB-09EB-C4601AB85A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42A2D-0E52-2AA6-6FDE-2C73836624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25A06E-ACBA-C613-11C5-7A3417C94795}"/>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6" name="Footer Placeholder 5">
            <a:extLst>
              <a:ext uri="{FF2B5EF4-FFF2-40B4-BE49-F238E27FC236}">
                <a16:creationId xmlns:a16="http://schemas.microsoft.com/office/drawing/2014/main" id="{6B64CE16-CED1-0783-5917-61F9F26BD8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17F972-C8AE-2060-529F-C27E9996C42D}"/>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1098995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A3B2F-53D3-CDC1-CA5D-435A2337C7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DE95CD-C094-E576-B588-6B93718A4A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BDCB89-6212-8660-DE05-10DF4BE0867B}"/>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5" name="Footer Placeholder 4">
            <a:extLst>
              <a:ext uri="{FF2B5EF4-FFF2-40B4-BE49-F238E27FC236}">
                <a16:creationId xmlns:a16="http://schemas.microsoft.com/office/drawing/2014/main" id="{5AD8E1F2-BB0D-54A0-ED8F-81D027A60B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F99E60-C78C-F2EB-58F8-49CD1EA68253}"/>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3727991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7C73B5-6179-2F09-8329-6ED7F6888A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83CF5E-A670-1E68-F6E1-30A8223074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1F391-CC69-9C09-BC52-0454D1E2FA8D}"/>
              </a:ext>
            </a:extLst>
          </p:cNvPr>
          <p:cNvSpPr>
            <a:spLocks noGrp="1"/>
          </p:cNvSpPr>
          <p:nvPr>
            <p:ph type="dt" sz="half" idx="10"/>
          </p:nvPr>
        </p:nvSpPr>
        <p:spPr/>
        <p:txBody>
          <a:bodyPr/>
          <a:lstStyle/>
          <a:p>
            <a:fld id="{21D6206D-8366-4639-AF87-26FB598CDB34}" type="datetimeFigureOut">
              <a:rPr lang="en-US" smtClean="0"/>
              <a:t>1/13/2025</a:t>
            </a:fld>
            <a:endParaRPr lang="en-US"/>
          </a:p>
        </p:txBody>
      </p:sp>
      <p:sp>
        <p:nvSpPr>
          <p:cNvPr id="5" name="Footer Placeholder 4">
            <a:extLst>
              <a:ext uri="{FF2B5EF4-FFF2-40B4-BE49-F238E27FC236}">
                <a16:creationId xmlns:a16="http://schemas.microsoft.com/office/drawing/2014/main" id="{147BBA94-DA39-79C8-35E1-125D281A8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F9B45-4220-9E28-D5B6-8843BE08617B}"/>
              </a:ext>
            </a:extLst>
          </p:cNvPr>
          <p:cNvSpPr>
            <a:spLocks noGrp="1"/>
          </p:cNvSpPr>
          <p:nvPr>
            <p:ph type="sldNum" sz="quarter" idx="12"/>
          </p:nvPr>
        </p:nvSpPr>
        <p:spPr/>
        <p:txBody>
          <a:bodyPr/>
          <a:lstStyle/>
          <a:p>
            <a:fld id="{C5926889-7D05-4297-AA36-39A999EAF5D9}" type="slidenum">
              <a:rPr lang="en-US" smtClean="0"/>
              <a:t>‹#›</a:t>
            </a:fld>
            <a:endParaRPr lang="en-US"/>
          </a:p>
        </p:txBody>
      </p:sp>
    </p:spTree>
    <p:extLst>
      <p:ext uri="{BB962C8B-B14F-4D97-AF65-F5344CB8AC3E}">
        <p14:creationId xmlns:p14="http://schemas.microsoft.com/office/powerpoint/2010/main" val="4027702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331113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2344474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2277812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3275547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3020446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405227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3505521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71531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275723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15990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650222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4190999"/>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1E4A86-2703-4937-ABF7-D8FBDB5C3D3E}" type="datetime1">
              <a:rPr lang="en-US" smtClean="0"/>
              <a:t>1/13/2025</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dirty="0"/>
          </a:p>
        </p:txBody>
      </p:sp>
    </p:spTree>
    <p:extLst>
      <p:ext uri="{BB962C8B-B14F-4D97-AF65-F5344CB8AC3E}">
        <p14:creationId xmlns:p14="http://schemas.microsoft.com/office/powerpoint/2010/main" val="14507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BF182-B336-B7BC-2498-DD1B509D32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17C04E-DB9D-DEAC-3360-E24C94DF10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6CF412-8818-BE4C-9BA0-940CABD50F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6206D-8366-4639-AF87-26FB598CDB34}" type="datetimeFigureOut">
              <a:rPr lang="en-US" smtClean="0"/>
              <a:t>1/13/2025</a:t>
            </a:fld>
            <a:endParaRPr lang="en-US"/>
          </a:p>
        </p:txBody>
      </p:sp>
      <p:sp>
        <p:nvSpPr>
          <p:cNvPr id="5" name="Footer Placeholder 4">
            <a:extLst>
              <a:ext uri="{FF2B5EF4-FFF2-40B4-BE49-F238E27FC236}">
                <a16:creationId xmlns:a16="http://schemas.microsoft.com/office/drawing/2014/main" id="{D4EF8D44-3849-B0A6-3C32-BB4AC72F9D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7DF2C6-7B8C-6120-E4C3-29FFE89AAB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926889-7D05-4297-AA36-39A999EAF5D9}" type="slidenum">
              <a:rPr lang="en-US" smtClean="0"/>
              <a:t>‹#›</a:t>
            </a:fld>
            <a:endParaRPr lang="en-US"/>
          </a:p>
        </p:txBody>
      </p:sp>
    </p:spTree>
    <p:extLst>
      <p:ext uri="{BB962C8B-B14F-4D97-AF65-F5344CB8AC3E}">
        <p14:creationId xmlns:p14="http://schemas.microsoft.com/office/powerpoint/2010/main" val="40481884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hatis.techtarget.com/definition/script" TargetMode="External"/><Relationship Id="rId2" Type="http://schemas.openxmlformats.org/officeDocument/2006/relationships/hyperlink" Target="https://searchnetworking.techtarget.com/definition/hardware" TargetMode="Externa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Software_maintenance" TargetMode="External"/><Relationship Id="rId3" Type="http://schemas.openxmlformats.org/officeDocument/2006/relationships/hyperlink" Target="https://en.wikipedia.org/wiki/Software_documentation" TargetMode="External"/><Relationship Id="rId7" Type="http://schemas.openxmlformats.org/officeDocument/2006/relationships/hyperlink" Target="https://en.wikipedia.org/wiki/Software_framework" TargetMode="External"/><Relationship Id="rId2" Type="http://schemas.openxmlformats.org/officeDocument/2006/relationships/hyperlink" Target="https://en.wikipedia.org/wiki/Computer_programming" TargetMode="External"/><Relationship Id="rId1" Type="http://schemas.openxmlformats.org/officeDocument/2006/relationships/slideLayout" Target="../slideLayouts/slideLayout13.xml"/><Relationship Id="rId6" Type="http://schemas.openxmlformats.org/officeDocument/2006/relationships/hyperlink" Target="https://en.wikipedia.org/wiki/Application_software" TargetMode="External"/><Relationship Id="rId11" Type="http://schemas.openxmlformats.org/officeDocument/2006/relationships/image" Target="../media/image2.png"/><Relationship Id="rId5" Type="http://schemas.openxmlformats.org/officeDocument/2006/relationships/hyperlink" Target="https://en.wikipedia.org/wiki/Software_bugs" TargetMode="External"/><Relationship Id="rId10" Type="http://schemas.openxmlformats.org/officeDocument/2006/relationships/hyperlink" Target="https://en.wikipedia.org/wiki/Software_development_process" TargetMode="External"/><Relationship Id="rId4" Type="http://schemas.openxmlformats.org/officeDocument/2006/relationships/hyperlink" Target="https://en.wikipedia.org/wiki/Software_testing" TargetMode="External"/><Relationship Id="rId9" Type="http://schemas.openxmlformats.org/officeDocument/2006/relationships/hyperlink" Target="https://en.wikipedia.org/wiki/Source_code"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F7D4A-3B35-8ABF-DFB4-02F6FF586627}"/>
              </a:ext>
            </a:extLst>
          </p:cNvPr>
          <p:cNvSpPr>
            <a:spLocks noGrp="1"/>
          </p:cNvSpPr>
          <p:nvPr>
            <p:ph type="ctrTitle"/>
          </p:nvPr>
        </p:nvSpPr>
        <p:spPr>
          <a:xfrm>
            <a:off x="1543050" y="1171575"/>
            <a:ext cx="9124950" cy="2338388"/>
          </a:xfrm>
          <a:solidFill>
            <a:schemeClr val="bg1"/>
          </a:solidFill>
        </p:spPr>
        <p:txBody>
          <a:bodyPr/>
          <a:lstStyle/>
          <a:p>
            <a:r>
              <a:rPr lang="en-US" dirty="0"/>
              <a:t>QA Bootcamp</a:t>
            </a:r>
          </a:p>
        </p:txBody>
      </p:sp>
      <p:sp>
        <p:nvSpPr>
          <p:cNvPr id="3" name="Subtitle 2">
            <a:extLst>
              <a:ext uri="{FF2B5EF4-FFF2-40B4-BE49-F238E27FC236}">
                <a16:creationId xmlns:a16="http://schemas.microsoft.com/office/drawing/2014/main" id="{6D89364F-5FDC-29B1-E908-8D40725ACEEF}"/>
              </a:ext>
            </a:extLst>
          </p:cNvPr>
          <p:cNvSpPr>
            <a:spLocks noGrp="1"/>
          </p:cNvSpPr>
          <p:nvPr>
            <p:ph type="subTitle" idx="1"/>
          </p:nvPr>
        </p:nvSpPr>
        <p:spPr/>
        <p:txBody>
          <a:bodyPr/>
          <a:lstStyle/>
          <a:p>
            <a:r>
              <a:rPr lang="en-US" dirty="0"/>
              <a:t>By Ramzan Malik</a:t>
            </a:r>
          </a:p>
        </p:txBody>
      </p:sp>
    </p:spTree>
    <p:extLst>
      <p:ext uri="{BB962C8B-B14F-4D97-AF65-F5344CB8AC3E}">
        <p14:creationId xmlns:p14="http://schemas.microsoft.com/office/powerpoint/2010/main" val="542402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C8313-F702-7C90-E7BC-C8B061FF2F3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462BAE-8FBD-7FD9-3111-2F6833E3544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88928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10971372" cy="1066800"/>
          </a:xfrm>
        </p:spPr>
        <p:txBody>
          <a:bodyPr/>
          <a:lstStyle/>
          <a:p>
            <a:r>
              <a:rPr lang="en-US" dirty="0"/>
              <a:t>What is a Software?</a:t>
            </a:r>
          </a:p>
        </p:txBody>
      </p:sp>
      <p:sp>
        <p:nvSpPr>
          <p:cNvPr id="3" name="Content Placeholder 2"/>
          <p:cNvSpPr>
            <a:spLocks noGrp="1"/>
          </p:cNvSpPr>
          <p:nvPr>
            <p:ph idx="13"/>
          </p:nvPr>
        </p:nvSpPr>
        <p:spPr>
          <a:xfrm>
            <a:off x="533400" y="1600200"/>
            <a:ext cx="10287000" cy="2590800"/>
          </a:xfrm>
        </p:spPr>
        <p:txBody>
          <a:bodyPr/>
          <a:lstStyle/>
          <a:p>
            <a:r>
              <a:rPr lang="en-US" dirty="0"/>
              <a:t>Software is a set of instructions, data or programs used to operate computers and execute specific tasks. Opposite of </a:t>
            </a:r>
            <a:r>
              <a:rPr lang="en-US" u="sng" dirty="0">
                <a:hlinkClick r:id="rId2"/>
              </a:rPr>
              <a:t>hardware</a:t>
            </a:r>
            <a:r>
              <a:rPr lang="en-US" dirty="0"/>
              <a:t>, which describes the physical aspects of a computer, software is a generic term used to refer to applications, </a:t>
            </a:r>
            <a:r>
              <a:rPr lang="en-US" u="sng" dirty="0">
                <a:hlinkClick r:id="rId3"/>
              </a:rPr>
              <a:t>scripts</a:t>
            </a:r>
            <a:r>
              <a:rPr lang="en-US" dirty="0"/>
              <a:t> and programs that run on a device. Software can be thought of as the variable part of a computer, and hardware the invariable part.</a:t>
            </a:r>
          </a:p>
        </p:txBody>
      </p:sp>
      <p:pic>
        <p:nvPicPr>
          <p:cNvPr id="4" name="Picture 3"/>
          <p:cNvPicPr>
            <a:picLocks noChangeAspect="1"/>
          </p:cNvPicPr>
          <p:nvPr/>
        </p:nvPicPr>
        <p:blipFill>
          <a:blip r:embed="rId4"/>
          <a:stretch>
            <a:fillRect/>
          </a:stretch>
        </p:blipFill>
        <p:spPr>
          <a:xfrm>
            <a:off x="2733675" y="4495801"/>
            <a:ext cx="5886450" cy="1381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63350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10971372" cy="1066800"/>
          </a:xfrm>
        </p:spPr>
        <p:txBody>
          <a:bodyPr/>
          <a:lstStyle/>
          <a:p>
            <a:r>
              <a:rPr lang="en-US" dirty="0"/>
              <a:t>What is a Software development?</a:t>
            </a:r>
          </a:p>
        </p:txBody>
      </p:sp>
      <p:sp>
        <p:nvSpPr>
          <p:cNvPr id="3" name="Content Placeholder 2"/>
          <p:cNvSpPr>
            <a:spLocks noGrp="1"/>
          </p:cNvSpPr>
          <p:nvPr>
            <p:ph idx="13"/>
          </p:nvPr>
        </p:nvSpPr>
        <p:spPr>
          <a:xfrm>
            <a:off x="762000" y="1638300"/>
            <a:ext cx="10287000" cy="2590800"/>
          </a:xfrm>
        </p:spPr>
        <p:txBody>
          <a:bodyPr>
            <a:normAutofit fontScale="92500" lnSpcReduction="20000"/>
          </a:bodyPr>
          <a:lstStyle/>
          <a:p>
            <a:r>
              <a:rPr lang="en-US" b="1" dirty="0"/>
              <a:t>Software development</a:t>
            </a:r>
            <a:r>
              <a:rPr lang="en-US" dirty="0"/>
              <a:t> is the process of conceiving, specifying, designing, </a:t>
            </a:r>
            <a:r>
              <a:rPr lang="en-US" dirty="0">
                <a:hlinkClick r:id="rId2" tooltip="Computer programming"/>
              </a:rPr>
              <a:t>programming</a:t>
            </a:r>
            <a:r>
              <a:rPr lang="en-US" dirty="0"/>
              <a:t>, </a:t>
            </a:r>
            <a:r>
              <a:rPr lang="en-US" dirty="0">
                <a:hlinkClick r:id="rId3" tooltip="Software documentation"/>
              </a:rPr>
              <a:t>documenting</a:t>
            </a:r>
            <a:r>
              <a:rPr lang="en-US" dirty="0"/>
              <a:t>, </a:t>
            </a:r>
            <a:r>
              <a:rPr lang="en-US" dirty="0">
                <a:hlinkClick r:id="rId4" tooltip="Software testing"/>
              </a:rPr>
              <a:t>testing</a:t>
            </a:r>
            <a:r>
              <a:rPr lang="en-US" dirty="0"/>
              <a:t>, and </a:t>
            </a:r>
            <a:r>
              <a:rPr lang="en-US" dirty="0">
                <a:hlinkClick r:id="rId5" tooltip="Software bugs"/>
              </a:rPr>
              <a:t>bug fixing</a:t>
            </a:r>
            <a:r>
              <a:rPr lang="en-US" dirty="0"/>
              <a:t> involved in creating and maintaining </a:t>
            </a:r>
            <a:r>
              <a:rPr lang="en-US" dirty="0">
                <a:hlinkClick r:id="rId6" tooltip="Application software"/>
              </a:rPr>
              <a:t>applications</a:t>
            </a:r>
            <a:r>
              <a:rPr lang="en-US" dirty="0"/>
              <a:t>, </a:t>
            </a:r>
            <a:r>
              <a:rPr lang="en-US" dirty="0">
                <a:hlinkClick r:id="rId7" tooltip="Software framework"/>
              </a:rPr>
              <a:t>frameworks</a:t>
            </a:r>
            <a:r>
              <a:rPr lang="en-US" dirty="0"/>
              <a:t>, or other software components. Software development is a process of writing and </a:t>
            </a:r>
            <a:r>
              <a:rPr lang="en-US" dirty="0">
                <a:hlinkClick r:id="rId8" tooltip="Software maintenance"/>
              </a:rPr>
              <a:t>maintaining</a:t>
            </a:r>
            <a:r>
              <a:rPr lang="en-US" dirty="0"/>
              <a:t> the </a:t>
            </a:r>
            <a:r>
              <a:rPr lang="en-US" dirty="0">
                <a:hlinkClick r:id="rId9" tooltip="Source code"/>
              </a:rPr>
              <a:t>source code</a:t>
            </a:r>
            <a:r>
              <a:rPr lang="en-US" dirty="0"/>
              <a:t>, but in a broader sense, it includes all that is involved between the conception of the desired software through to the final manifestation of the software, sometimes in a planned and </a:t>
            </a:r>
            <a:r>
              <a:rPr lang="en-US" dirty="0">
                <a:hlinkClick r:id="rId10" tooltip="Software development process"/>
              </a:rPr>
              <a:t>structured</a:t>
            </a:r>
            <a:r>
              <a:rPr lang="en-US" dirty="0"/>
              <a:t> process.</a:t>
            </a:r>
          </a:p>
        </p:txBody>
      </p:sp>
      <p:pic>
        <p:nvPicPr>
          <p:cNvPr id="5" name="Picture 4"/>
          <p:cNvPicPr>
            <a:picLocks noChangeAspect="1"/>
          </p:cNvPicPr>
          <p:nvPr/>
        </p:nvPicPr>
        <p:blipFill>
          <a:blip r:embed="rId11"/>
          <a:stretch>
            <a:fillRect/>
          </a:stretch>
        </p:blipFill>
        <p:spPr>
          <a:xfrm>
            <a:off x="2057401" y="4267200"/>
            <a:ext cx="7458075" cy="1752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74340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389" y="228600"/>
            <a:ext cx="10971372" cy="1066800"/>
          </a:xfrm>
        </p:spPr>
        <p:txBody>
          <a:bodyPr/>
          <a:lstStyle/>
          <a:p>
            <a:r>
              <a:rPr lang="en-US" dirty="0"/>
              <a:t>Software Development Process</a:t>
            </a:r>
          </a:p>
        </p:txBody>
      </p:sp>
      <p:pic>
        <p:nvPicPr>
          <p:cNvPr id="1026" name="Picture 2" descr="https://miro.medium.com/max/830/0*InpPQjbBxh90m2Z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315" y="1600200"/>
            <a:ext cx="10315521" cy="4648200"/>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p:cNvSpPr/>
          <p:nvPr/>
        </p:nvSpPr>
        <p:spPr>
          <a:xfrm>
            <a:off x="3571874" y="4267200"/>
            <a:ext cx="1600200" cy="1676400"/>
          </a:xfrm>
          <a:prstGeom prst="ellipse">
            <a:avLst/>
          </a:prstGeom>
          <a:solidFill>
            <a:srgbClr val="7030A0">
              <a:alpha val="55000"/>
            </a:srgbClr>
          </a:solidFill>
          <a:ln>
            <a:solidFill>
              <a:srgbClr val="FFC000"/>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5" name="Oval 4"/>
          <p:cNvSpPr/>
          <p:nvPr/>
        </p:nvSpPr>
        <p:spPr>
          <a:xfrm>
            <a:off x="5172074" y="1600200"/>
            <a:ext cx="2828926" cy="4419600"/>
          </a:xfrm>
          <a:prstGeom prst="ellipse">
            <a:avLst/>
          </a:prstGeom>
          <a:solidFill>
            <a:srgbClr val="FFFF00">
              <a:alpha val="56000"/>
            </a:srgbClr>
          </a:solidFill>
          <a:ln>
            <a:solidFill>
              <a:srgbClr val="00B0F0"/>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cxnSp>
        <p:nvCxnSpPr>
          <p:cNvPr id="7" name="Straight Arrow Connector 6"/>
          <p:cNvCxnSpPr/>
          <p:nvPr/>
        </p:nvCxnSpPr>
        <p:spPr>
          <a:xfrm flipV="1">
            <a:off x="6629400" y="1752600"/>
            <a:ext cx="1600200" cy="1524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 name="Rounded Rectangle 7"/>
          <p:cNvSpPr/>
          <p:nvPr/>
        </p:nvSpPr>
        <p:spPr>
          <a:xfrm>
            <a:off x="8229600" y="1312025"/>
            <a:ext cx="2819400" cy="1409700"/>
          </a:xfrm>
          <a:prstGeom prst="round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700" dirty="0"/>
              <a:t>While development team work on implementation, SQA Eng. works on test case development, test planning.  </a:t>
            </a:r>
          </a:p>
        </p:txBody>
      </p:sp>
      <p:cxnSp>
        <p:nvCxnSpPr>
          <p:cNvPr id="10" name="Straight Arrow Connector 9"/>
          <p:cNvCxnSpPr>
            <a:stCxn id="4" idx="2"/>
          </p:cNvCxnSpPr>
          <p:nvPr/>
        </p:nvCxnSpPr>
        <p:spPr>
          <a:xfrm flipH="1">
            <a:off x="2886074" y="5105400"/>
            <a:ext cx="685800" cy="4572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Rounded Rectangle 11"/>
          <p:cNvSpPr/>
          <p:nvPr/>
        </p:nvSpPr>
        <p:spPr>
          <a:xfrm>
            <a:off x="228600" y="4847013"/>
            <a:ext cx="2819400" cy="1409700"/>
          </a:xfrm>
          <a:prstGeom prst="round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700" dirty="0"/>
              <a:t>In this phase SQA Eng. executes test cases. Create bug reports for failed test cases.  Re-testing </a:t>
            </a:r>
            <a:r>
              <a:rPr lang="en-US" sz="1700"/>
              <a:t>&amp; Regression.</a:t>
            </a:r>
            <a:endParaRPr lang="en-US" sz="1700" dirty="0"/>
          </a:p>
        </p:txBody>
      </p:sp>
    </p:spTree>
    <p:extLst>
      <p:ext uri="{BB962C8B-B14F-4D97-AF65-F5344CB8AC3E}">
        <p14:creationId xmlns:p14="http://schemas.microsoft.com/office/powerpoint/2010/main" val="3511139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randombar(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geeksforgeeks.org/wp-content/uploads/20190712133705/Capture9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1219201"/>
            <a:ext cx="3348037" cy="50727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45109" y="685800"/>
            <a:ext cx="3934219" cy="369332"/>
          </a:xfrm>
          <a:prstGeom prst="rect">
            <a:avLst/>
          </a:prstGeom>
          <a:noFill/>
          <a:ln>
            <a:solidFill>
              <a:schemeClr val="bg2"/>
            </a:solidFill>
          </a:ln>
        </p:spPr>
        <p:txBody>
          <a:bodyPr wrap="none" rtlCol="0" anchor="ctr" anchorCtr="1">
            <a:spAutoFit/>
          </a:bodyPr>
          <a:lstStyle/>
          <a:p>
            <a:r>
              <a:rPr lang="en-US" dirty="0"/>
              <a:t>Software Development Life Cycle (SDLC)</a:t>
            </a:r>
          </a:p>
        </p:txBody>
      </p:sp>
      <p:pic>
        <p:nvPicPr>
          <p:cNvPr id="1028" name="Picture 4" descr="https://media.geeksforgeeks.org/wp-content/uploads/20190712133813/Capture1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1055133"/>
            <a:ext cx="3161930" cy="50727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453378" y="689956"/>
            <a:ext cx="3342775" cy="369332"/>
          </a:xfrm>
          <a:prstGeom prst="rect">
            <a:avLst/>
          </a:prstGeom>
          <a:noFill/>
          <a:ln>
            <a:solidFill>
              <a:schemeClr val="bg2"/>
            </a:solidFill>
          </a:ln>
        </p:spPr>
        <p:txBody>
          <a:bodyPr wrap="none" rtlCol="0" anchor="ctr" anchorCtr="1">
            <a:spAutoFit/>
          </a:bodyPr>
          <a:lstStyle/>
          <a:p>
            <a:r>
              <a:rPr lang="en-US" dirty="0"/>
              <a:t>Software Testing Life Cycle (STLC) </a:t>
            </a:r>
          </a:p>
        </p:txBody>
      </p:sp>
    </p:spTree>
    <p:extLst>
      <p:ext uri="{BB962C8B-B14F-4D97-AF65-F5344CB8AC3E}">
        <p14:creationId xmlns:p14="http://schemas.microsoft.com/office/powerpoint/2010/main" val="21611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219200" y="3206319"/>
            <a:ext cx="6858000" cy="546625"/>
          </a:xfrm>
          <a:prstGeom prst="rect">
            <a:avLst/>
          </a:prstGeom>
          <a:noFill/>
          <a:ln>
            <a:solidFill>
              <a:schemeClr val="bg2"/>
            </a:solidFill>
          </a:ln>
        </p:spPr>
        <p:txBody>
          <a:bodyPr wrap="square" rtlCol="0" anchor="ctr" anchorCtr="1">
            <a:spAutoFit/>
          </a:bodyPr>
          <a:lstStyle/>
          <a:p>
            <a:pPr>
              <a:lnSpc>
                <a:spcPct val="80000"/>
              </a:lnSpc>
              <a:spcBef>
                <a:spcPct val="0"/>
              </a:spcBef>
            </a:pPr>
            <a:r>
              <a:rPr lang="en-US" sz="3600" dirty="0">
                <a:solidFill>
                  <a:schemeClr val="tx2"/>
                </a:solidFill>
                <a:latin typeface="+mj-lt"/>
                <a:ea typeface="+mj-ea"/>
                <a:cs typeface="+mj-cs"/>
              </a:rPr>
              <a:t>What is Quality?</a:t>
            </a:r>
          </a:p>
        </p:txBody>
      </p:sp>
      <p:pic>
        <p:nvPicPr>
          <p:cNvPr id="12" name="Picture 11"/>
          <p:cNvPicPr>
            <a:picLocks noChangeAspect="1"/>
          </p:cNvPicPr>
          <p:nvPr/>
        </p:nvPicPr>
        <p:blipFill>
          <a:blip r:embed="rId3"/>
          <a:stretch>
            <a:fillRect/>
          </a:stretch>
        </p:blipFill>
        <p:spPr>
          <a:xfrm>
            <a:off x="8001000" y="2498556"/>
            <a:ext cx="2457450" cy="19621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9348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0" y="3810001"/>
            <a:ext cx="10058400" cy="2554545"/>
          </a:xfrm>
          <a:prstGeom prst="rect">
            <a:avLst/>
          </a:prstGeom>
          <a:noFill/>
        </p:spPr>
        <p:txBody>
          <a:bodyPr wrap="square" rtlCol="0">
            <a:spAutoFit/>
          </a:bodyPr>
          <a:lstStyle/>
          <a:p>
            <a:r>
              <a:rPr lang="en-US" sz="3200" b="1" dirty="0"/>
              <a:t>Quality</a:t>
            </a:r>
            <a:r>
              <a:rPr lang="en-US" sz="3200" dirty="0"/>
              <a:t> is doing the right things right!</a:t>
            </a:r>
            <a:br>
              <a:rPr lang="en-US" sz="3200" dirty="0"/>
            </a:br>
            <a:br>
              <a:rPr lang="en-US" sz="3200" dirty="0"/>
            </a:br>
            <a:r>
              <a:rPr lang="en-US" sz="3200" dirty="0"/>
              <a:t>How good or bad something is!</a:t>
            </a:r>
            <a:br>
              <a:rPr lang="en-US" sz="3200" dirty="0"/>
            </a:br>
            <a:br>
              <a:rPr lang="en-US" sz="3200" dirty="0"/>
            </a:br>
            <a:r>
              <a:rPr lang="en-US" sz="3200" b="1" dirty="0"/>
              <a:t>Quality</a:t>
            </a:r>
            <a:r>
              <a:rPr lang="en-US" sz="3200" dirty="0"/>
              <a:t> is conformance to requirements.</a:t>
            </a:r>
          </a:p>
        </p:txBody>
      </p:sp>
      <p:sp>
        <p:nvSpPr>
          <p:cNvPr id="10" name="TextBox 9"/>
          <p:cNvSpPr txBox="1"/>
          <p:nvPr/>
        </p:nvSpPr>
        <p:spPr>
          <a:xfrm>
            <a:off x="1524000" y="1940235"/>
            <a:ext cx="5715000" cy="546625"/>
          </a:xfrm>
          <a:prstGeom prst="rect">
            <a:avLst/>
          </a:prstGeom>
          <a:noFill/>
          <a:ln>
            <a:solidFill>
              <a:schemeClr val="bg2"/>
            </a:solidFill>
          </a:ln>
        </p:spPr>
        <p:txBody>
          <a:bodyPr wrap="square" rtlCol="0" anchor="ctr" anchorCtr="1">
            <a:spAutoFit/>
          </a:bodyPr>
          <a:lstStyle/>
          <a:p>
            <a:pPr>
              <a:lnSpc>
                <a:spcPct val="80000"/>
              </a:lnSpc>
              <a:spcBef>
                <a:spcPct val="0"/>
              </a:spcBef>
            </a:pPr>
            <a:r>
              <a:rPr lang="en-US" sz="3600" dirty="0">
                <a:solidFill>
                  <a:schemeClr val="tx2"/>
                </a:solidFill>
                <a:latin typeface="+mj-lt"/>
                <a:ea typeface="+mj-ea"/>
                <a:cs typeface="+mj-cs"/>
              </a:rPr>
              <a:t>What is Quality?</a:t>
            </a:r>
          </a:p>
        </p:txBody>
      </p:sp>
      <p:pic>
        <p:nvPicPr>
          <p:cNvPr id="12" name="Picture 11"/>
          <p:cNvPicPr>
            <a:picLocks noChangeAspect="1"/>
          </p:cNvPicPr>
          <p:nvPr/>
        </p:nvPicPr>
        <p:blipFill>
          <a:blip r:embed="rId3"/>
          <a:stretch>
            <a:fillRect/>
          </a:stretch>
        </p:blipFill>
        <p:spPr>
          <a:xfrm>
            <a:off x="7543800" y="1232472"/>
            <a:ext cx="2457450" cy="19621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70286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47800" y="1447801"/>
            <a:ext cx="10058400" cy="3170099"/>
          </a:xfrm>
          <a:prstGeom prst="rect">
            <a:avLst/>
          </a:prstGeom>
          <a:noFill/>
        </p:spPr>
        <p:txBody>
          <a:bodyPr wrap="square" rtlCol="0">
            <a:spAutoFit/>
          </a:bodyPr>
          <a:lstStyle/>
          <a:p>
            <a:r>
              <a:rPr lang="en-US" sz="2800" b="1" dirty="0"/>
              <a:t>Quality</a:t>
            </a:r>
            <a:r>
              <a:rPr lang="en-US" sz="2800" dirty="0"/>
              <a:t> is degree of customer satisfaction.</a:t>
            </a:r>
          </a:p>
          <a:p>
            <a:endParaRPr lang="en-US" sz="2800" dirty="0"/>
          </a:p>
          <a:p>
            <a:r>
              <a:rPr lang="en-US" sz="2800" dirty="0"/>
              <a:t>Concept of </a:t>
            </a:r>
            <a:r>
              <a:rPr lang="en-US" sz="2800" b="1" dirty="0"/>
              <a:t>Quality</a:t>
            </a:r>
            <a:r>
              <a:rPr lang="en-US" sz="2800" dirty="0"/>
              <a:t> start with identification of customers quality requirements and must only end when finished product/service is placed in hand of the customer who remain </a:t>
            </a:r>
            <a:r>
              <a:rPr lang="en-US" sz="2800" b="1" dirty="0"/>
              <a:t>Satisfied</a:t>
            </a:r>
            <a:r>
              <a:rPr lang="en-US" sz="2800" dirty="0"/>
              <a:t> throughout the relationship.</a:t>
            </a:r>
            <a:endParaRPr lang="en-US" sz="3200" dirty="0"/>
          </a:p>
          <a:p>
            <a:endParaRPr lang="en-US" sz="3200" dirty="0"/>
          </a:p>
        </p:txBody>
      </p:sp>
      <p:sp>
        <p:nvSpPr>
          <p:cNvPr id="10" name="TextBox 9"/>
          <p:cNvSpPr txBox="1"/>
          <p:nvPr/>
        </p:nvSpPr>
        <p:spPr>
          <a:xfrm>
            <a:off x="1447800" y="152401"/>
            <a:ext cx="5715000" cy="646331"/>
          </a:xfrm>
          <a:prstGeom prst="rect">
            <a:avLst/>
          </a:prstGeom>
          <a:noFill/>
          <a:ln>
            <a:solidFill>
              <a:schemeClr val="bg2"/>
            </a:solidFill>
          </a:ln>
        </p:spPr>
        <p:txBody>
          <a:bodyPr wrap="square" rtlCol="0" anchor="ctr" anchorCtr="1">
            <a:spAutoFit/>
          </a:bodyPr>
          <a:lstStyle/>
          <a:p>
            <a:r>
              <a:rPr lang="en-US" sz="3600" dirty="0">
                <a:solidFill>
                  <a:schemeClr val="tx2"/>
                </a:solidFill>
                <a:latin typeface="+mj-lt"/>
                <a:ea typeface="+mj-ea"/>
                <a:cs typeface="+mj-cs"/>
              </a:rPr>
              <a:t>What is Quality?</a:t>
            </a:r>
          </a:p>
        </p:txBody>
      </p:sp>
      <p:pic>
        <p:nvPicPr>
          <p:cNvPr id="1026" name="Picture 2" descr="How to Achieve Client Delight [With Examp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343401"/>
            <a:ext cx="5562600" cy="21532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73409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47800" y="1447801"/>
            <a:ext cx="10058400" cy="2739211"/>
          </a:xfrm>
          <a:prstGeom prst="rect">
            <a:avLst/>
          </a:prstGeom>
          <a:noFill/>
        </p:spPr>
        <p:txBody>
          <a:bodyPr wrap="square" rtlCol="0">
            <a:spAutoFit/>
          </a:bodyPr>
          <a:lstStyle/>
          <a:p>
            <a:r>
              <a:rPr lang="en-US" sz="2800" b="1" dirty="0"/>
              <a:t>Assurance</a:t>
            </a:r>
            <a:r>
              <a:rPr lang="en-US" sz="2800" dirty="0"/>
              <a:t> is nothing but a positive declaration on a product or service, which gives confidence. It is certainty of a product or a service, which it will work well. It provides a guarantee that the product will work without any problems as per the expectations or requirements.</a:t>
            </a:r>
          </a:p>
          <a:p>
            <a:endParaRPr lang="en-US" sz="3200" dirty="0"/>
          </a:p>
        </p:txBody>
      </p:sp>
      <p:sp>
        <p:nvSpPr>
          <p:cNvPr id="10" name="TextBox 9"/>
          <p:cNvSpPr txBox="1"/>
          <p:nvPr/>
        </p:nvSpPr>
        <p:spPr>
          <a:xfrm>
            <a:off x="1447800" y="228601"/>
            <a:ext cx="5715000" cy="646331"/>
          </a:xfrm>
          <a:prstGeom prst="rect">
            <a:avLst/>
          </a:prstGeom>
          <a:noFill/>
          <a:ln>
            <a:solidFill>
              <a:schemeClr val="bg2"/>
            </a:solidFill>
          </a:ln>
        </p:spPr>
        <p:txBody>
          <a:bodyPr wrap="square" rtlCol="0" anchor="ctr" anchorCtr="1">
            <a:spAutoFit/>
          </a:bodyPr>
          <a:lstStyle/>
          <a:p>
            <a:r>
              <a:rPr lang="en-US" sz="3600" dirty="0">
                <a:solidFill>
                  <a:schemeClr val="tx2"/>
                </a:solidFill>
                <a:latin typeface="+mj-lt"/>
                <a:ea typeface="+mj-ea"/>
                <a:cs typeface="+mj-cs"/>
              </a:rPr>
              <a:t>What is Assurance?</a:t>
            </a:r>
          </a:p>
        </p:txBody>
      </p:sp>
      <p:pic>
        <p:nvPicPr>
          <p:cNvPr id="2050" name="Picture 2" descr="https://www.pingusenglish.pk/wp-content/uploads/2020/09/1_mFi5Bkub4C4hrVI3B1-how.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4038601"/>
            <a:ext cx="5181600" cy="24038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587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200" y="457200"/>
            <a:ext cx="7239000" cy="523220"/>
          </a:xfrm>
          <a:prstGeom prst="rect">
            <a:avLst/>
          </a:prstGeom>
          <a:noFill/>
          <a:ln>
            <a:solidFill>
              <a:schemeClr val="bg2"/>
            </a:solidFill>
          </a:ln>
        </p:spPr>
        <p:txBody>
          <a:bodyPr wrap="square" rtlCol="0" anchor="ctr" anchorCtr="1">
            <a:spAutoFit/>
          </a:bodyPr>
          <a:lstStyle/>
          <a:p>
            <a:r>
              <a:rPr lang="en-US" sz="2800" b="1" dirty="0"/>
              <a:t>Software Testing / Quality Assurance?</a:t>
            </a:r>
          </a:p>
        </p:txBody>
      </p:sp>
      <p:pic>
        <p:nvPicPr>
          <p:cNvPr id="2" name="Picture 1"/>
          <p:cNvPicPr>
            <a:picLocks noChangeAspect="1"/>
          </p:cNvPicPr>
          <p:nvPr/>
        </p:nvPicPr>
        <p:blipFill>
          <a:blip r:embed="rId2"/>
          <a:stretch>
            <a:fillRect/>
          </a:stretch>
        </p:blipFill>
        <p:spPr>
          <a:xfrm>
            <a:off x="457200" y="1447800"/>
            <a:ext cx="10881752" cy="4953000"/>
          </a:xfrm>
          <a:prstGeom prst="rect">
            <a:avLst/>
          </a:prstGeom>
        </p:spPr>
      </p:pic>
    </p:spTree>
    <p:extLst>
      <p:ext uri="{BB962C8B-B14F-4D97-AF65-F5344CB8AC3E}">
        <p14:creationId xmlns:p14="http://schemas.microsoft.com/office/powerpoint/2010/main" val="377385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47800" y="1219201"/>
            <a:ext cx="10058400" cy="4478149"/>
          </a:xfrm>
          <a:prstGeom prst="rect">
            <a:avLst/>
          </a:prstGeom>
          <a:noFill/>
        </p:spPr>
        <p:txBody>
          <a:bodyPr wrap="square" rtlCol="0">
            <a:spAutoFit/>
          </a:bodyPr>
          <a:lstStyle/>
          <a:p>
            <a:pPr algn="l">
              <a:buFont typeface="+mj-lt"/>
              <a:buAutoNum type="arabicPeriod"/>
            </a:pPr>
            <a:r>
              <a:rPr lang="en-US" sz="1500" b="1" i="0" dirty="0">
                <a:solidFill>
                  <a:srgbClr val="D1D5DB"/>
                </a:solidFill>
                <a:effectLst/>
                <a:latin typeface="Söhne"/>
              </a:rPr>
              <a:t>Proactive Approach:</a:t>
            </a:r>
            <a:endParaRPr lang="en-US" sz="1500" b="0" i="0" dirty="0">
              <a:solidFill>
                <a:srgbClr val="D1D5DB"/>
              </a:solidFill>
              <a:effectLst/>
              <a:latin typeface="Söhne"/>
            </a:endParaRPr>
          </a:p>
          <a:p>
            <a:pPr marL="742950" lvl="1" indent="-285750" algn="l">
              <a:buFont typeface="+mj-lt"/>
              <a:buAutoNum type="arabicPeriod"/>
            </a:pPr>
            <a:r>
              <a:rPr lang="en-US" sz="1500" b="0" i="0" dirty="0">
                <a:solidFill>
                  <a:srgbClr val="D1D5DB"/>
                </a:solidFill>
                <a:effectLst/>
                <a:latin typeface="Söhne"/>
              </a:rPr>
              <a:t>QA is primarily a proactive approach to quality management. It focuses on preventing defects and quality issues before they occur in the software development process.</a:t>
            </a:r>
          </a:p>
          <a:p>
            <a:pPr marL="742950" lvl="1" indent="-285750" algn="l">
              <a:buFont typeface="+mj-lt"/>
              <a:buAutoNum type="arabicPeriod"/>
            </a:pPr>
            <a:r>
              <a:rPr lang="en-US" sz="1500" b="0" i="0" dirty="0">
                <a:solidFill>
                  <a:srgbClr val="D1D5DB"/>
                </a:solidFill>
                <a:effectLst/>
                <a:latin typeface="Söhne"/>
              </a:rPr>
              <a:t>QA activities are initiated at the beginning of the project and continue throughout its lifecycle.</a:t>
            </a:r>
          </a:p>
          <a:p>
            <a:pPr lvl="1" algn="l"/>
            <a:endParaRPr lang="en-US" sz="1500" b="0" i="0" dirty="0">
              <a:solidFill>
                <a:srgbClr val="D1D5DB"/>
              </a:solidFill>
              <a:effectLst/>
              <a:latin typeface="Söhne"/>
            </a:endParaRPr>
          </a:p>
          <a:p>
            <a:pPr algn="l">
              <a:buFont typeface="+mj-lt"/>
              <a:buAutoNum type="arabicPeriod"/>
            </a:pPr>
            <a:r>
              <a:rPr lang="en-US" sz="1500" b="1" i="0" dirty="0">
                <a:solidFill>
                  <a:srgbClr val="D1D5DB"/>
                </a:solidFill>
                <a:effectLst/>
                <a:latin typeface="Söhne"/>
              </a:rPr>
              <a:t>Process-Oriented:</a:t>
            </a:r>
            <a:endParaRPr lang="en-US" sz="1500" b="0" i="0" dirty="0">
              <a:solidFill>
                <a:srgbClr val="D1D5DB"/>
              </a:solidFill>
              <a:effectLst/>
              <a:latin typeface="Söhne"/>
            </a:endParaRPr>
          </a:p>
          <a:p>
            <a:pPr marL="742950" lvl="1" indent="-285750" algn="l">
              <a:buFont typeface="+mj-lt"/>
              <a:buAutoNum type="arabicPeriod"/>
            </a:pPr>
            <a:r>
              <a:rPr lang="en-US" sz="1500" b="0" i="0" dirty="0">
                <a:solidFill>
                  <a:srgbClr val="D1D5DB"/>
                </a:solidFill>
                <a:effectLst/>
                <a:latin typeface="Söhne"/>
              </a:rPr>
              <a:t>QA is process-oriented and involves defining, implementing, and continually improving processes, standards, and best practices.</a:t>
            </a:r>
          </a:p>
          <a:p>
            <a:pPr marL="742950" lvl="1" indent="-285750" algn="l">
              <a:buFont typeface="+mj-lt"/>
              <a:buAutoNum type="arabicPeriod"/>
            </a:pPr>
            <a:r>
              <a:rPr lang="en-US" sz="1500" b="0" i="0" dirty="0">
                <a:solidFill>
                  <a:srgbClr val="D1D5DB"/>
                </a:solidFill>
                <a:effectLst/>
                <a:latin typeface="Söhne"/>
              </a:rPr>
              <a:t>It aims to create a framework within which high-quality products can be consistently produced.</a:t>
            </a:r>
          </a:p>
          <a:p>
            <a:pPr lvl="1" algn="l"/>
            <a:endParaRPr lang="en-US" sz="1500" b="0" i="0" dirty="0">
              <a:solidFill>
                <a:srgbClr val="D1D5DB"/>
              </a:solidFill>
              <a:effectLst/>
              <a:latin typeface="Söhne"/>
            </a:endParaRPr>
          </a:p>
          <a:p>
            <a:pPr algn="l">
              <a:buFont typeface="+mj-lt"/>
              <a:buAutoNum type="arabicPeriod"/>
            </a:pPr>
            <a:r>
              <a:rPr lang="en-US" sz="1500" b="1" i="0" dirty="0">
                <a:solidFill>
                  <a:srgbClr val="D1D5DB"/>
                </a:solidFill>
                <a:effectLst/>
                <a:latin typeface="Söhne"/>
              </a:rPr>
              <a:t>Preventive Measures:</a:t>
            </a:r>
            <a:endParaRPr lang="en-US" sz="1500" b="0" i="0" dirty="0">
              <a:solidFill>
                <a:srgbClr val="D1D5DB"/>
              </a:solidFill>
              <a:effectLst/>
              <a:latin typeface="Söhne"/>
            </a:endParaRPr>
          </a:p>
          <a:p>
            <a:pPr marL="742950" lvl="1" indent="-285750" algn="l">
              <a:buFont typeface="+mj-lt"/>
              <a:buAutoNum type="arabicPeriod"/>
            </a:pPr>
            <a:r>
              <a:rPr lang="en-US" sz="1500" b="0" i="0" dirty="0">
                <a:solidFill>
                  <a:srgbClr val="D1D5DB"/>
                </a:solidFill>
                <a:effectLst/>
                <a:latin typeface="Söhne"/>
              </a:rPr>
              <a:t>QA involves identifying potential issues, risks, and bottlenecks in the development process and taking measures to address them before they lead to defects.</a:t>
            </a:r>
          </a:p>
          <a:p>
            <a:pPr marL="742950" lvl="1" indent="-285750" algn="l">
              <a:buFont typeface="+mj-lt"/>
              <a:buAutoNum type="arabicPeriod"/>
            </a:pPr>
            <a:r>
              <a:rPr lang="en-US" sz="1500" b="0" i="0" dirty="0">
                <a:solidFill>
                  <a:srgbClr val="D1D5DB"/>
                </a:solidFill>
                <a:effectLst/>
                <a:latin typeface="Söhne"/>
              </a:rPr>
              <a:t>It often includes activities like process audits, process design, and training to enhance the skills of team members.</a:t>
            </a:r>
          </a:p>
          <a:p>
            <a:pPr lvl="1" algn="l"/>
            <a:endParaRPr lang="en-US" sz="1500" b="0" i="0" dirty="0">
              <a:solidFill>
                <a:srgbClr val="D1D5DB"/>
              </a:solidFill>
              <a:effectLst/>
              <a:latin typeface="Söhne"/>
            </a:endParaRPr>
          </a:p>
          <a:p>
            <a:pPr algn="l">
              <a:buFont typeface="+mj-lt"/>
              <a:buAutoNum type="arabicPeriod"/>
            </a:pPr>
            <a:r>
              <a:rPr lang="en-US" sz="1500" b="1" i="0" dirty="0">
                <a:solidFill>
                  <a:srgbClr val="D1D5DB"/>
                </a:solidFill>
                <a:effectLst/>
                <a:latin typeface="Söhne"/>
              </a:rPr>
              <a:t>Focus on Continuous Improvement:</a:t>
            </a:r>
            <a:endParaRPr lang="en-US" sz="1500" b="0" i="0" dirty="0">
              <a:solidFill>
                <a:srgbClr val="D1D5DB"/>
              </a:solidFill>
              <a:effectLst/>
              <a:latin typeface="Söhne"/>
            </a:endParaRPr>
          </a:p>
          <a:p>
            <a:pPr marL="742950" lvl="1" indent="-285750" algn="l">
              <a:buFont typeface="+mj-lt"/>
              <a:buAutoNum type="arabicPeriod"/>
            </a:pPr>
            <a:r>
              <a:rPr lang="en-US" sz="1500" b="0" i="0" dirty="0">
                <a:solidFill>
                  <a:srgbClr val="D1D5DB"/>
                </a:solidFill>
                <a:effectLst/>
                <a:latin typeface="Söhne"/>
              </a:rPr>
              <a:t>QA promotes a culture of continuous improvement, where feedback from previous projects is used to refine processes and prevent recurring issues.</a:t>
            </a:r>
          </a:p>
          <a:p>
            <a:pPr marL="742950" lvl="1" indent="-285750" algn="l">
              <a:buFont typeface="+mj-lt"/>
              <a:buAutoNum type="arabicPeriod"/>
            </a:pPr>
            <a:r>
              <a:rPr lang="en-US" sz="1500" b="0" i="0" dirty="0">
                <a:solidFill>
                  <a:srgbClr val="D1D5DB"/>
                </a:solidFill>
                <a:effectLst/>
                <a:latin typeface="Söhne"/>
              </a:rPr>
              <a:t>It aims to optimize the development process for efficiency and effectiveness.</a:t>
            </a:r>
          </a:p>
        </p:txBody>
      </p:sp>
      <p:sp>
        <p:nvSpPr>
          <p:cNvPr id="10" name="TextBox 9"/>
          <p:cNvSpPr txBox="1"/>
          <p:nvPr/>
        </p:nvSpPr>
        <p:spPr>
          <a:xfrm>
            <a:off x="1447800" y="152401"/>
            <a:ext cx="9144000" cy="646331"/>
          </a:xfrm>
          <a:prstGeom prst="rect">
            <a:avLst/>
          </a:prstGeom>
          <a:noFill/>
          <a:ln>
            <a:solidFill>
              <a:schemeClr val="bg2"/>
            </a:solidFill>
          </a:ln>
        </p:spPr>
        <p:txBody>
          <a:bodyPr wrap="square" rtlCol="0" anchor="ctr" anchorCtr="1">
            <a:spAutoFit/>
          </a:bodyPr>
          <a:lstStyle/>
          <a:p>
            <a:r>
              <a:rPr lang="en-US" sz="3600" b="1" dirty="0">
                <a:solidFill>
                  <a:schemeClr val="tx2"/>
                </a:solidFill>
                <a:latin typeface="Garamond" panose="02020404030301010803" pitchFamily="18" charset="0"/>
                <a:ea typeface="+mj-ea"/>
                <a:cs typeface="+mj-cs"/>
              </a:rPr>
              <a:t>Quality Assurance - </a:t>
            </a:r>
            <a:r>
              <a:rPr lang="en-US" sz="3600" b="1" i="0" dirty="0">
                <a:effectLst/>
                <a:latin typeface="Garamond" panose="02020404030301010803" pitchFamily="18" charset="0"/>
              </a:rPr>
              <a:t>Doing the Right Things:</a:t>
            </a:r>
            <a:endParaRPr lang="en-US" sz="3600" b="1" dirty="0">
              <a:solidFill>
                <a:schemeClr val="tx2"/>
              </a:solidFill>
              <a:latin typeface="Garamond" panose="02020404030301010803" pitchFamily="18" charset="0"/>
              <a:ea typeface="+mj-ea"/>
              <a:cs typeface="+mj-cs"/>
            </a:endParaRPr>
          </a:p>
        </p:txBody>
      </p:sp>
      <p:pic>
        <p:nvPicPr>
          <p:cNvPr id="3074" name="Picture 2" descr="https://miro.medium.com/max/5692/1*DsUiCRPDcCjJ3_n-bvq8cQ.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3475" y="5295899"/>
            <a:ext cx="1202957" cy="1409700"/>
          </a:xfrm>
          <a:prstGeom prst="roundRect">
            <a:avLst>
              <a:gd name="adj" fmla="val 2693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55635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1D278-D7D3-6429-A415-E8A3E0EB0D88}"/>
              </a:ext>
            </a:extLst>
          </p:cNvPr>
          <p:cNvSpPr>
            <a:spLocks noGrp="1"/>
          </p:cNvSpPr>
          <p:nvPr>
            <p:ph type="title"/>
          </p:nvPr>
        </p:nvSpPr>
        <p:spPr/>
        <p:txBody>
          <a:bodyPr>
            <a:normAutofit fontScale="90000"/>
          </a:bodyPr>
          <a:lstStyle/>
          <a:p>
            <a:r>
              <a:rPr lang="en-US" b="1" i="0" dirty="0">
                <a:solidFill>
                  <a:srgbClr val="D1D5DB"/>
                </a:solidFill>
                <a:effectLst/>
                <a:latin typeface="Söhne"/>
              </a:rPr>
              <a:t>Quality Control (QC) - </a:t>
            </a:r>
            <a:r>
              <a:rPr lang="en-US" b="1" i="0" dirty="0">
                <a:effectLst/>
                <a:latin typeface="Söhne"/>
              </a:rPr>
              <a:t>Doing the Things Right:</a:t>
            </a:r>
            <a:br>
              <a:rPr lang="en-US" b="0" i="0" dirty="0">
                <a:solidFill>
                  <a:srgbClr val="D1D5DB"/>
                </a:solidFill>
                <a:effectLst/>
                <a:latin typeface="Söhne"/>
              </a:rPr>
            </a:br>
            <a:endParaRPr lang="en-US" dirty="0"/>
          </a:p>
        </p:txBody>
      </p:sp>
      <p:sp>
        <p:nvSpPr>
          <p:cNvPr id="3" name="Content Placeholder 2">
            <a:extLst>
              <a:ext uri="{FF2B5EF4-FFF2-40B4-BE49-F238E27FC236}">
                <a16:creationId xmlns:a16="http://schemas.microsoft.com/office/drawing/2014/main" id="{34D60B25-D830-1A03-A662-511192BD1E05}"/>
              </a:ext>
            </a:extLst>
          </p:cNvPr>
          <p:cNvSpPr>
            <a:spLocks noGrp="1"/>
          </p:cNvSpPr>
          <p:nvPr>
            <p:ph idx="1"/>
          </p:nvPr>
        </p:nvSpPr>
        <p:spPr/>
        <p:txBody>
          <a:bodyPr>
            <a:normAutofit lnSpcReduction="10000"/>
          </a:bodyPr>
          <a:lstStyle/>
          <a:p>
            <a:pPr algn="l">
              <a:buFont typeface="+mj-lt"/>
              <a:buAutoNum type="arabicPeriod"/>
            </a:pPr>
            <a:r>
              <a:rPr lang="en-US" sz="1500" b="1" i="0" dirty="0">
                <a:solidFill>
                  <a:srgbClr val="D1D5DB"/>
                </a:solidFill>
                <a:effectLst/>
                <a:latin typeface="Söhne"/>
              </a:rPr>
              <a:t>Reactive Approach:</a:t>
            </a:r>
            <a:endParaRPr lang="en-US" sz="1500" b="0" i="0" dirty="0">
              <a:solidFill>
                <a:srgbClr val="D1D5DB"/>
              </a:solidFill>
              <a:effectLst/>
              <a:latin typeface="Söhne"/>
            </a:endParaRPr>
          </a:p>
          <a:p>
            <a:pPr marL="742950" lvl="1" indent="-285750" algn="l">
              <a:buFont typeface="+mj-lt"/>
              <a:buAutoNum type="arabicPeriod"/>
            </a:pPr>
            <a:r>
              <a:rPr lang="en-US" sz="1500" b="0" i="0" dirty="0">
                <a:solidFill>
                  <a:srgbClr val="D1D5DB"/>
                </a:solidFill>
                <a:effectLst/>
                <a:latin typeface="Söhne"/>
              </a:rPr>
              <a:t>QC is primarily a reactive approach to quality management. It focuses on identifying and correcting defects and quality issues after they have occurred in the software product.</a:t>
            </a:r>
          </a:p>
          <a:p>
            <a:pPr marL="742950" lvl="1" indent="-285750" algn="l">
              <a:buFont typeface="+mj-lt"/>
              <a:buAutoNum type="arabicPeriod"/>
            </a:pPr>
            <a:r>
              <a:rPr lang="en-US" sz="1500" b="0" i="0" dirty="0">
                <a:solidFill>
                  <a:srgbClr val="D1D5DB"/>
                </a:solidFill>
                <a:effectLst/>
                <a:latin typeface="Söhne"/>
              </a:rPr>
              <a:t>QC activities typically occur during or after the development phase.</a:t>
            </a:r>
          </a:p>
          <a:p>
            <a:pPr marL="457200" lvl="1" indent="0" algn="l">
              <a:buNone/>
            </a:pPr>
            <a:endParaRPr lang="en-US" sz="1500" b="0" i="0" dirty="0">
              <a:solidFill>
                <a:srgbClr val="D1D5DB"/>
              </a:solidFill>
              <a:effectLst/>
              <a:latin typeface="Söhne"/>
            </a:endParaRPr>
          </a:p>
          <a:p>
            <a:pPr algn="l">
              <a:buFont typeface="+mj-lt"/>
              <a:buAutoNum type="arabicPeriod"/>
            </a:pPr>
            <a:r>
              <a:rPr lang="en-US" sz="1500" b="1" i="0" dirty="0">
                <a:solidFill>
                  <a:srgbClr val="D1D5DB"/>
                </a:solidFill>
                <a:effectLst/>
                <a:latin typeface="Söhne"/>
              </a:rPr>
              <a:t>Product-Oriented:</a:t>
            </a:r>
            <a:endParaRPr lang="en-US" sz="1500" b="0" i="0" dirty="0">
              <a:solidFill>
                <a:srgbClr val="D1D5DB"/>
              </a:solidFill>
              <a:effectLst/>
              <a:latin typeface="Söhne"/>
            </a:endParaRPr>
          </a:p>
          <a:p>
            <a:pPr marL="742950" lvl="1" indent="-285750" algn="l">
              <a:buFont typeface="+mj-lt"/>
              <a:buAutoNum type="arabicPeriod"/>
            </a:pPr>
            <a:r>
              <a:rPr lang="en-US" sz="1500" b="0" i="0" dirty="0">
                <a:solidFill>
                  <a:srgbClr val="D1D5DB"/>
                </a:solidFill>
                <a:effectLst/>
                <a:latin typeface="Söhne"/>
              </a:rPr>
              <a:t>QC is product-oriented and involves activities like testing, code reviews, inspections, and dynamic analysis to assess the quality of the software product itself.</a:t>
            </a:r>
          </a:p>
          <a:p>
            <a:pPr marL="457200" lvl="1" indent="0" algn="l">
              <a:buNone/>
            </a:pPr>
            <a:endParaRPr lang="en-US" sz="1500" b="0" i="0" dirty="0">
              <a:solidFill>
                <a:srgbClr val="D1D5DB"/>
              </a:solidFill>
              <a:effectLst/>
              <a:latin typeface="Söhne"/>
            </a:endParaRPr>
          </a:p>
          <a:p>
            <a:pPr algn="l">
              <a:buFont typeface="+mj-lt"/>
              <a:buAutoNum type="arabicPeriod"/>
            </a:pPr>
            <a:r>
              <a:rPr lang="en-US" sz="1500" b="1" i="0" dirty="0">
                <a:solidFill>
                  <a:srgbClr val="D1D5DB"/>
                </a:solidFill>
                <a:effectLst/>
                <a:latin typeface="Söhne"/>
              </a:rPr>
              <a:t>Defect Identification:</a:t>
            </a:r>
            <a:endParaRPr lang="en-US" sz="1500" b="0" i="0" dirty="0">
              <a:solidFill>
                <a:srgbClr val="D1D5DB"/>
              </a:solidFill>
              <a:effectLst/>
              <a:latin typeface="Söhne"/>
            </a:endParaRPr>
          </a:p>
          <a:p>
            <a:pPr marL="742950" lvl="1" indent="-285750" algn="l">
              <a:buFont typeface="+mj-lt"/>
              <a:buAutoNum type="arabicPeriod"/>
            </a:pPr>
            <a:r>
              <a:rPr lang="en-US" sz="1500" b="0" i="0" dirty="0">
                <a:solidFill>
                  <a:srgbClr val="D1D5DB"/>
                </a:solidFill>
                <a:effectLst/>
                <a:latin typeface="Söhne"/>
              </a:rPr>
              <a:t>QC activities are designed to identify and report defects, deviations from requirements, and issues in the software.</a:t>
            </a:r>
          </a:p>
          <a:p>
            <a:pPr marL="742950" lvl="1" indent="-285750" algn="l">
              <a:buFont typeface="+mj-lt"/>
              <a:buAutoNum type="arabicPeriod"/>
            </a:pPr>
            <a:r>
              <a:rPr lang="en-US" sz="1500" b="0" i="0" dirty="0">
                <a:solidFill>
                  <a:srgbClr val="D1D5DB"/>
                </a:solidFill>
                <a:effectLst/>
                <a:latin typeface="Söhne"/>
              </a:rPr>
              <a:t>It includes activities like test execution, bug tracking, and defect management.</a:t>
            </a:r>
          </a:p>
          <a:p>
            <a:pPr marL="457200" lvl="1" indent="0" algn="l">
              <a:buNone/>
            </a:pPr>
            <a:endParaRPr lang="en-US" sz="1500" b="0" i="0" dirty="0">
              <a:solidFill>
                <a:srgbClr val="D1D5DB"/>
              </a:solidFill>
              <a:effectLst/>
              <a:latin typeface="Söhne"/>
            </a:endParaRPr>
          </a:p>
          <a:p>
            <a:pPr algn="l">
              <a:buFont typeface="+mj-lt"/>
              <a:buAutoNum type="arabicPeriod"/>
            </a:pPr>
            <a:r>
              <a:rPr lang="en-US" sz="1500" b="1" i="0" dirty="0">
                <a:solidFill>
                  <a:srgbClr val="D1D5DB"/>
                </a:solidFill>
                <a:effectLst/>
                <a:latin typeface="Söhne"/>
              </a:rPr>
              <a:t>Validation and Verification:</a:t>
            </a:r>
            <a:endParaRPr lang="en-US" sz="1500" b="0" i="0" dirty="0">
              <a:solidFill>
                <a:srgbClr val="D1D5DB"/>
              </a:solidFill>
              <a:effectLst/>
              <a:latin typeface="Söhne"/>
            </a:endParaRPr>
          </a:p>
          <a:p>
            <a:pPr marL="742950" lvl="1" indent="-285750" algn="l">
              <a:buFont typeface="+mj-lt"/>
              <a:buAutoNum type="arabicPeriod"/>
            </a:pPr>
            <a:r>
              <a:rPr lang="en-US" sz="1500" b="0" i="0" dirty="0">
                <a:solidFill>
                  <a:srgbClr val="D1D5DB"/>
                </a:solidFill>
                <a:effectLst/>
                <a:latin typeface="Söhne"/>
              </a:rPr>
              <a:t>QC includes the validation and verification of the software to ensure that it meets the specified requirements and quality standards.</a:t>
            </a:r>
          </a:p>
          <a:p>
            <a:pPr marL="742950" lvl="1" indent="-285750" algn="l">
              <a:buFont typeface="+mj-lt"/>
              <a:buAutoNum type="arabicPeriod"/>
            </a:pPr>
            <a:r>
              <a:rPr lang="en-US" sz="1500" b="0" i="0" dirty="0">
                <a:solidFill>
                  <a:srgbClr val="D1D5DB"/>
                </a:solidFill>
                <a:effectLst/>
                <a:latin typeface="Söhne"/>
              </a:rPr>
              <a:t>It helps ensure that the end product aligns with user expectations.</a:t>
            </a:r>
          </a:p>
          <a:p>
            <a:endParaRPr lang="en-US" sz="1500" dirty="0"/>
          </a:p>
        </p:txBody>
      </p:sp>
    </p:spTree>
    <p:extLst>
      <p:ext uri="{BB962C8B-B14F-4D97-AF65-F5344CB8AC3E}">
        <p14:creationId xmlns:p14="http://schemas.microsoft.com/office/powerpoint/2010/main" val="213701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5B5D-5FBF-8FA6-022C-F05F9CA33B88}"/>
              </a:ext>
            </a:extLst>
          </p:cNvPr>
          <p:cNvSpPr>
            <a:spLocks noGrp="1"/>
          </p:cNvSpPr>
          <p:nvPr>
            <p:ph type="title"/>
          </p:nvPr>
        </p:nvSpPr>
        <p:spPr/>
        <p:txBody>
          <a:bodyPr>
            <a:normAutofit fontScale="90000"/>
          </a:bodyPr>
          <a:lstStyle/>
          <a:p>
            <a:br>
              <a:rPr lang="en-US" b="1" dirty="0">
                <a:solidFill>
                  <a:srgbClr val="D1D5DB"/>
                </a:solidFill>
                <a:latin typeface="Söhne"/>
              </a:rPr>
            </a:br>
            <a:r>
              <a:rPr lang="en-US" b="1" i="0" dirty="0">
                <a:solidFill>
                  <a:srgbClr val="D1D5DB"/>
                </a:solidFill>
                <a:effectLst/>
                <a:latin typeface="Söhne"/>
              </a:rPr>
              <a:t>Verification vs. Validation:</a:t>
            </a:r>
            <a:br>
              <a:rPr lang="en-US" b="0" i="0" dirty="0">
                <a:solidFill>
                  <a:srgbClr val="D1D5DB"/>
                </a:solidFill>
                <a:effectLst/>
                <a:latin typeface="Söhne"/>
              </a:rPr>
            </a:br>
            <a:br>
              <a:rPr lang="en-US" b="0" i="0" dirty="0">
                <a:solidFill>
                  <a:srgbClr val="D1D5DB"/>
                </a:solidFill>
                <a:effectLst/>
                <a:latin typeface="Söhne"/>
              </a:rPr>
            </a:br>
            <a:endParaRPr lang="en-US" dirty="0"/>
          </a:p>
        </p:txBody>
      </p:sp>
      <p:sp>
        <p:nvSpPr>
          <p:cNvPr id="3" name="Content Placeholder 2">
            <a:extLst>
              <a:ext uri="{FF2B5EF4-FFF2-40B4-BE49-F238E27FC236}">
                <a16:creationId xmlns:a16="http://schemas.microsoft.com/office/drawing/2014/main" id="{AAEE8108-BE02-89D8-8976-A3FE4BA73F05}"/>
              </a:ext>
            </a:extLst>
          </p:cNvPr>
          <p:cNvSpPr>
            <a:spLocks noGrp="1"/>
          </p:cNvSpPr>
          <p:nvPr>
            <p:ph idx="1"/>
          </p:nvPr>
        </p:nvSpPr>
        <p:spPr/>
        <p:txBody>
          <a:bodyPr>
            <a:normAutofit/>
          </a:bodyPr>
          <a:lstStyle/>
          <a:p>
            <a:pPr algn="l">
              <a:buFont typeface="Arial" panose="020B0604020202020204" pitchFamily="34" charset="0"/>
              <a:buChar char="•"/>
            </a:pPr>
            <a:r>
              <a:rPr lang="en-US" sz="2000" b="0" i="0" dirty="0">
                <a:solidFill>
                  <a:srgbClr val="D1D5DB"/>
                </a:solidFill>
                <a:effectLst/>
                <a:latin typeface="Söhne"/>
              </a:rPr>
              <a:t>Verification ensures that the software is built correctly according to specifications. It involves activities like code reviews, static analysis, and unit testing.</a:t>
            </a:r>
          </a:p>
          <a:p>
            <a:pPr algn="l">
              <a:buFont typeface="Arial" panose="020B0604020202020204" pitchFamily="34" charset="0"/>
              <a:buChar char="•"/>
            </a:pPr>
            <a:r>
              <a:rPr lang="en-US" sz="2000" b="0" i="0" dirty="0">
                <a:solidFill>
                  <a:srgbClr val="D1D5DB"/>
                </a:solidFill>
                <a:effectLst/>
                <a:latin typeface="Söhne"/>
              </a:rPr>
              <a:t>Validation ensures that the right product is built to meet user needs. It includes activities like system testing, user acceptance testing, and requirements validation.</a:t>
            </a:r>
          </a:p>
          <a:p>
            <a:pPr algn="l"/>
            <a:r>
              <a:rPr lang="en-US" sz="2000" b="1" i="0" dirty="0">
                <a:solidFill>
                  <a:srgbClr val="D1D5DB"/>
                </a:solidFill>
                <a:effectLst/>
                <a:latin typeface="Söhne"/>
              </a:rPr>
              <a:t>Example Scenario:</a:t>
            </a:r>
            <a:r>
              <a:rPr lang="en-US" sz="2000" b="0" i="0" dirty="0">
                <a:solidFill>
                  <a:srgbClr val="D1D5DB"/>
                </a:solidFill>
                <a:effectLst/>
                <a:latin typeface="Söhne"/>
              </a:rPr>
              <a:t> You're developing an e-commerce website. Verification would involve checking that the code for processing payments adheres to coding standards and is free of syntax errors. Validation would involve testing the payment process to ensure it accurately processes payments and meets user expectations.</a:t>
            </a:r>
          </a:p>
          <a:p>
            <a:endParaRPr lang="en-US" sz="3600" dirty="0"/>
          </a:p>
        </p:txBody>
      </p:sp>
    </p:spTree>
    <p:extLst>
      <p:ext uri="{BB962C8B-B14F-4D97-AF65-F5344CB8AC3E}">
        <p14:creationId xmlns:p14="http://schemas.microsoft.com/office/powerpoint/2010/main" val="3915115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33ABF-0120-4E5A-7CEF-CED811BE5D7A}"/>
              </a:ext>
            </a:extLst>
          </p:cNvPr>
          <p:cNvSpPr>
            <a:spLocks noGrp="1"/>
          </p:cNvSpPr>
          <p:nvPr>
            <p:ph type="title"/>
          </p:nvPr>
        </p:nvSpPr>
        <p:spPr/>
        <p:txBody>
          <a:bodyPr>
            <a:normAutofit fontScale="90000"/>
          </a:bodyPr>
          <a:lstStyle/>
          <a:p>
            <a:br>
              <a:rPr lang="en-US" b="1" dirty="0">
                <a:solidFill>
                  <a:srgbClr val="D1D5DB"/>
                </a:solidFill>
                <a:latin typeface="Söhne"/>
              </a:rPr>
            </a:br>
            <a:r>
              <a:rPr lang="en-US" b="1" i="0" dirty="0">
                <a:solidFill>
                  <a:srgbClr val="D1D5DB"/>
                </a:solidFill>
                <a:effectLst/>
                <a:latin typeface="Söhne"/>
              </a:rPr>
              <a:t>Use Cases, Test Cases, and Test Scenarios:</a:t>
            </a:r>
            <a:br>
              <a:rPr lang="en-US" b="0" i="0" dirty="0">
                <a:solidFill>
                  <a:srgbClr val="D1D5DB"/>
                </a:solidFill>
                <a:effectLst/>
                <a:latin typeface="Söhne"/>
              </a:rPr>
            </a:br>
            <a:br>
              <a:rPr lang="en-US" b="0" i="0" dirty="0">
                <a:solidFill>
                  <a:srgbClr val="D1D5DB"/>
                </a:solidFill>
                <a:effectLst/>
                <a:latin typeface="Söhne"/>
              </a:rPr>
            </a:br>
            <a:endParaRPr lang="en-US" dirty="0"/>
          </a:p>
        </p:txBody>
      </p:sp>
      <p:sp>
        <p:nvSpPr>
          <p:cNvPr id="3" name="Content Placeholder 2">
            <a:extLst>
              <a:ext uri="{FF2B5EF4-FFF2-40B4-BE49-F238E27FC236}">
                <a16:creationId xmlns:a16="http://schemas.microsoft.com/office/drawing/2014/main" id="{F76AD131-CE6E-1F1C-7DB8-CB3A200EE07B}"/>
              </a:ext>
            </a:extLst>
          </p:cNvPr>
          <p:cNvSpPr>
            <a:spLocks noGrp="1"/>
          </p:cNvSpPr>
          <p:nvPr>
            <p:ph idx="1"/>
          </p:nvPr>
        </p:nvSpPr>
        <p:spPr/>
        <p:txBody>
          <a:bodyPr/>
          <a:lstStyle/>
          <a:p>
            <a:pPr algn="l">
              <a:buFont typeface="Arial" panose="020B0604020202020204" pitchFamily="34" charset="0"/>
              <a:buChar char="•"/>
            </a:pPr>
            <a:r>
              <a:rPr lang="en-US" b="0" i="0" dirty="0">
                <a:solidFill>
                  <a:srgbClr val="D1D5DB"/>
                </a:solidFill>
                <a:effectLst/>
                <a:latin typeface="Söhne"/>
              </a:rPr>
              <a:t>Use cases are detailed descriptions of how users interact with the software to accomplish specific tasks.</a:t>
            </a:r>
          </a:p>
          <a:p>
            <a:endParaRPr lang="en-US" dirty="0"/>
          </a:p>
        </p:txBody>
      </p:sp>
      <p:pic>
        <p:nvPicPr>
          <p:cNvPr id="7" name="Picture 6">
            <a:extLst>
              <a:ext uri="{FF2B5EF4-FFF2-40B4-BE49-F238E27FC236}">
                <a16:creationId xmlns:a16="http://schemas.microsoft.com/office/drawing/2014/main" id="{1397303B-6F55-AED5-C5F6-7F5D57CB833D}"/>
              </a:ext>
            </a:extLst>
          </p:cNvPr>
          <p:cNvPicPr>
            <a:picLocks noChangeAspect="1"/>
          </p:cNvPicPr>
          <p:nvPr/>
        </p:nvPicPr>
        <p:blipFill>
          <a:blip r:embed="rId2"/>
          <a:stretch>
            <a:fillRect/>
          </a:stretch>
        </p:blipFill>
        <p:spPr>
          <a:xfrm>
            <a:off x="5572125" y="3274487"/>
            <a:ext cx="6323090" cy="2461621"/>
          </a:xfrm>
          <a:prstGeom prst="rect">
            <a:avLst/>
          </a:prstGeom>
        </p:spPr>
      </p:pic>
    </p:spTree>
    <p:extLst>
      <p:ext uri="{BB962C8B-B14F-4D97-AF65-F5344CB8AC3E}">
        <p14:creationId xmlns:p14="http://schemas.microsoft.com/office/powerpoint/2010/main" val="229319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8825E-72CB-3CE8-C8EA-F9789CECC762}"/>
              </a:ext>
            </a:extLst>
          </p:cNvPr>
          <p:cNvSpPr>
            <a:spLocks noGrp="1"/>
          </p:cNvSpPr>
          <p:nvPr>
            <p:ph type="title"/>
          </p:nvPr>
        </p:nvSpPr>
        <p:spPr/>
        <p:txBody>
          <a:bodyPr/>
          <a:lstStyle/>
          <a:p>
            <a:r>
              <a:rPr lang="en-US" b="1" i="0" dirty="0">
                <a:effectLst/>
                <a:latin typeface="arial" panose="020B0604020202020204" pitchFamily="34" charset="0"/>
              </a:rPr>
              <a:t>Properties of Use Cases</a:t>
            </a:r>
            <a:br>
              <a:rPr lang="en-US" b="1" i="0" dirty="0">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7E808C7A-BE97-15DE-AD90-FC898B7437B2}"/>
              </a:ext>
            </a:extLst>
          </p:cNvPr>
          <p:cNvSpPr>
            <a:spLocks noGrp="1"/>
          </p:cNvSpPr>
          <p:nvPr>
            <p:ph idx="1"/>
          </p:nvPr>
        </p:nvSpPr>
        <p:spPr>
          <a:xfrm>
            <a:off x="933450" y="1253331"/>
            <a:ext cx="10515600" cy="4351338"/>
          </a:xfrm>
        </p:spPr>
        <p:txBody>
          <a:bodyPr>
            <a:noAutofit/>
          </a:bodyPr>
          <a:lstStyle/>
          <a:p>
            <a:pPr algn="l"/>
            <a:r>
              <a:rPr lang="en-US" sz="1500" b="1" i="0" dirty="0">
                <a:effectLst/>
                <a:latin typeface="arial" panose="020B0604020202020204" pitchFamily="34" charset="0"/>
              </a:rPr>
              <a:t>Name : </a:t>
            </a:r>
            <a:r>
              <a:rPr lang="en-US" sz="1500" b="0" i="0" dirty="0">
                <a:effectLst/>
                <a:latin typeface="arial" panose="020B0604020202020204" pitchFamily="34" charset="0"/>
              </a:rPr>
              <a:t>Each use case should have a name that clearly describes the main goal of the use case. The name may have to be several words long to be understood. Typically the name is a verb phrase, for example: Withdraw Cash.</a:t>
            </a:r>
          </a:p>
          <a:p>
            <a:pPr algn="l"/>
            <a:br>
              <a:rPr lang="en-US" sz="1500" b="0" i="0" dirty="0">
                <a:effectLst/>
                <a:latin typeface="arial" panose="020B0604020202020204" pitchFamily="34" charset="0"/>
              </a:rPr>
            </a:br>
            <a:r>
              <a:rPr lang="en-US" sz="1500" b="1" i="0" dirty="0">
                <a:effectLst/>
                <a:latin typeface="arial" panose="020B0604020202020204" pitchFamily="34" charset="0"/>
              </a:rPr>
              <a:t>Note:</a:t>
            </a:r>
            <a:r>
              <a:rPr lang="en-US" sz="1500" b="0" i="0" dirty="0">
                <a:effectLst/>
                <a:latin typeface="arial" panose="020B0604020202020204" pitchFamily="34" charset="0"/>
              </a:rPr>
              <a:t> No two use cases can have the same name.</a:t>
            </a:r>
          </a:p>
          <a:p>
            <a:pPr algn="l"/>
            <a:endParaRPr lang="en-US" sz="1500" b="0" i="0" dirty="0">
              <a:effectLst/>
              <a:latin typeface="arial" panose="020B0604020202020204" pitchFamily="34" charset="0"/>
            </a:endParaRPr>
          </a:p>
          <a:p>
            <a:pPr algn="l"/>
            <a:r>
              <a:rPr lang="en-US" sz="1500" b="1" i="0" dirty="0">
                <a:effectLst/>
                <a:latin typeface="arial" panose="020B0604020202020204" pitchFamily="34" charset="0"/>
              </a:rPr>
              <a:t>Brief Description : </a:t>
            </a:r>
            <a:r>
              <a:rPr lang="en-US" sz="1500" b="0" i="0" dirty="0">
                <a:effectLst/>
                <a:latin typeface="arial" panose="020B0604020202020204" pitchFamily="34" charset="0"/>
              </a:rPr>
              <a:t>The brief description of the use case should reflect its purpose.</a:t>
            </a:r>
          </a:p>
          <a:p>
            <a:pPr marL="0" indent="0" algn="l">
              <a:buNone/>
            </a:pPr>
            <a:endParaRPr lang="en-US" sz="1500" b="0" i="0" dirty="0">
              <a:effectLst/>
              <a:latin typeface="arial" panose="020B0604020202020204" pitchFamily="34" charset="0"/>
            </a:endParaRPr>
          </a:p>
          <a:p>
            <a:pPr algn="l"/>
            <a:r>
              <a:rPr lang="en-US" sz="1500" b="1" i="0" dirty="0">
                <a:effectLst/>
                <a:latin typeface="arial" panose="020B0604020202020204" pitchFamily="34" charset="0"/>
              </a:rPr>
              <a:t>Flow of Events – Contents: </a:t>
            </a:r>
            <a:r>
              <a:rPr lang="en-US" sz="1500" b="0" i="0" dirty="0">
                <a:effectLst/>
                <a:latin typeface="arial" panose="020B0604020202020204" pitchFamily="34" charset="0"/>
              </a:rPr>
              <a:t>The </a:t>
            </a:r>
            <a:r>
              <a:rPr lang="en-US" sz="1500" b="1" i="0" dirty="0">
                <a:effectLst/>
                <a:latin typeface="arial" panose="020B0604020202020204" pitchFamily="34" charset="0"/>
              </a:rPr>
              <a:t>flow of events</a:t>
            </a:r>
            <a:r>
              <a:rPr lang="en-US" sz="1500" b="0" i="0" dirty="0">
                <a:effectLst/>
                <a:latin typeface="arial" panose="020B0604020202020204" pitchFamily="34" charset="0"/>
              </a:rPr>
              <a:t> should describe the interactions between the actor(s) and the system clearly enough for an outsider to easily understand. The flow of events should represent </a:t>
            </a:r>
            <a:r>
              <a:rPr lang="en-US" sz="1500" b="0" i="1" dirty="0">
                <a:effectLst/>
                <a:latin typeface="arial" panose="020B0604020202020204" pitchFamily="34" charset="0"/>
              </a:rPr>
              <a:t>what</a:t>
            </a:r>
            <a:r>
              <a:rPr lang="en-US" sz="1500" b="0" i="0" dirty="0">
                <a:effectLst/>
                <a:latin typeface="arial" panose="020B0604020202020204" pitchFamily="34" charset="0"/>
              </a:rPr>
              <a:t> the system does, not </a:t>
            </a:r>
            <a:r>
              <a:rPr lang="en-US" sz="1500" b="0" i="1" dirty="0">
                <a:effectLst/>
                <a:latin typeface="arial" panose="020B0604020202020204" pitchFamily="34" charset="0"/>
              </a:rPr>
              <a:t>how</a:t>
            </a:r>
            <a:r>
              <a:rPr lang="en-US" sz="1500" b="0" i="0" dirty="0">
                <a:effectLst/>
                <a:latin typeface="arial" panose="020B0604020202020204" pitchFamily="34" charset="0"/>
              </a:rPr>
              <a:t> the system is design to perform the required behavior.</a:t>
            </a:r>
          </a:p>
          <a:p>
            <a:pPr algn="l"/>
            <a:r>
              <a:rPr lang="en-US" sz="1500" b="0" i="0" dirty="0">
                <a:effectLst/>
                <a:latin typeface="arial" panose="020B0604020202020204" pitchFamily="34" charset="0"/>
              </a:rPr>
              <a:t>Follow these guidelines for the contents of the flow of events:</a:t>
            </a:r>
          </a:p>
          <a:p>
            <a:pPr algn="l">
              <a:buFont typeface="Arial" panose="020B0604020202020204" pitchFamily="34" charset="0"/>
              <a:buChar char="•"/>
            </a:pPr>
            <a:r>
              <a:rPr lang="en-US" sz="1500" b="0" i="0" dirty="0">
                <a:effectLst/>
                <a:latin typeface="arial" panose="020B0604020202020204" pitchFamily="34" charset="0"/>
              </a:rPr>
              <a:t>Describe how the use case starts and ends.</a:t>
            </a:r>
          </a:p>
          <a:p>
            <a:pPr algn="l">
              <a:buFont typeface="Arial" panose="020B0604020202020204" pitchFamily="34" charset="0"/>
              <a:buChar char="•"/>
            </a:pPr>
            <a:r>
              <a:rPr lang="en-US" sz="1500" b="0" i="0" dirty="0">
                <a:effectLst/>
                <a:latin typeface="arial" panose="020B0604020202020204" pitchFamily="34" charset="0"/>
              </a:rPr>
              <a:t>Describe what data is exchanged between the actor and the use case.</a:t>
            </a:r>
          </a:p>
          <a:p>
            <a:pPr algn="l">
              <a:buFont typeface="Arial" panose="020B0604020202020204" pitchFamily="34" charset="0"/>
              <a:buChar char="•"/>
            </a:pPr>
            <a:r>
              <a:rPr lang="en-US" sz="1500" b="0" i="0" dirty="0">
                <a:effectLst/>
                <a:latin typeface="arial" panose="020B0604020202020204" pitchFamily="34" charset="0"/>
              </a:rPr>
              <a:t>Describe the flow of events, not only the functionality. To enforce this, start every action with "When the actor ... ".</a:t>
            </a:r>
          </a:p>
          <a:p>
            <a:pPr algn="l">
              <a:buFont typeface="Arial" panose="020B0604020202020204" pitchFamily="34" charset="0"/>
              <a:buChar char="•"/>
            </a:pPr>
            <a:r>
              <a:rPr lang="en-US" sz="1500" b="0" i="0" dirty="0">
                <a:effectLst/>
                <a:latin typeface="arial" panose="020B0604020202020204" pitchFamily="34" charset="0"/>
              </a:rPr>
              <a:t>Avoid vague terminology.</a:t>
            </a:r>
          </a:p>
          <a:p>
            <a:pPr algn="l">
              <a:buFont typeface="Arial" panose="020B0604020202020204" pitchFamily="34" charset="0"/>
              <a:buChar char="•"/>
            </a:pPr>
            <a:r>
              <a:rPr lang="en-US" sz="1500" b="0" i="0" dirty="0">
                <a:effectLst/>
                <a:latin typeface="arial" panose="020B0604020202020204" pitchFamily="34" charset="0"/>
              </a:rPr>
              <a:t>Detail the flow of events. Specify what happens when, for each action. Remember this text will be used to identify test cases.</a:t>
            </a:r>
          </a:p>
          <a:p>
            <a:endParaRPr lang="en-US" sz="1500" dirty="0"/>
          </a:p>
        </p:txBody>
      </p:sp>
    </p:spTree>
    <p:extLst>
      <p:ext uri="{BB962C8B-B14F-4D97-AF65-F5344CB8AC3E}">
        <p14:creationId xmlns:p14="http://schemas.microsoft.com/office/powerpoint/2010/main" val="3306699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3460E-A176-E2E1-8FA8-604B4BABBF6E}"/>
              </a:ext>
            </a:extLst>
          </p:cNvPr>
          <p:cNvSpPr>
            <a:spLocks noGrp="1"/>
          </p:cNvSpPr>
          <p:nvPr>
            <p:ph type="title"/>
          </p:nvPr>
        </p:nvSpPr>
        <p:spPr/>
        <p:txBody>
          <a:bodyPr/>
          <a:lstStyle/>
          <a:p>
            <a:r>
              <a:rPr lang="en-US" dirty="0"/>
              <a:t>Test Cases</a:t>
            </a:r>
          </a:p>
        </p:txBody>
      </p:sp>
      <p:sp>
        <p:nvSpPr>
          <p:cNvPr id="3" name="Content Placeholder 2">
            <a:extLst>
              <a:ext uri="{FF2B5EF4-FFF2-40B4-BE49-F238E27FC236}">
                <a16:creationId xmlns:a16="http://schemas.microsoft.com/office/drawing/2014/main" id="{64523A48-DC2B-EE37-2D02-439D9789F7ED}"/>
              </a:ext>
            </a:extLst>
          </p:cNvPr>
          <p:cNvSpPr>
            <a:spLocks noGrp="1"/>
          </p:cNvSpPr>
          <p:nvPr>
            <p:ph idx="1"/>
          </p:nvPr>
        </p:nvSpPr>
        <p:spPr>
          <a:xfrm>
            <a:off x="838200" y="1463675"/>
            <a:ext cx="10515600" cy="4351338"/>
          </a:xfrm>
        </p:spPr>
        <p:txBody>
          <a:bodyPr/>
          <a:lstStyle/>
          <a:p>
            <a:r>
              <a:rPr lang="en-US" b="0" i="0" dirty="0">
                <a:solidFill>
                  <a:srgbClr val="D1D5DB"/>
                </a:solidFill>
                <a:effectLst/>
                <a:latin typeface="Söhne"/>
              </a:rPr>
              <a:t>Test cases are specific sets of inputs, actions, and expected outcomes for testing a particular aspect of the software.</a:t>
            </a:r>
          </a:p>
          <a:p>
            <a:r>
              <a:rPr lang="en-US" dirty="0">
                <a:solidFill>
                  <a:srgbClr val="D1D5DB"/>
                </a:solidFill>
                <a:latin typeface="Söhne"/>
              </a:rPr>
              <a:t>Example: You have to verify the age input field in signup form</a:t>
            </a:r>
          </a:p>
          <a:p>
            <a:endParaRPr lang="en-US" dirty="0">
              <a:solidFill>
                <a:srgbClr val="D1D5DB"/>
              </a:solidFill>
              <a:latin typeface="Söhne"/>
            </a:endParaRPr>
          </a:p>
          <a:p>
            <a:endParaRPr lang="en-US" dirty="0"/>
          </a:p>
        </p:txBody>
      </p:sp>
      <p:pic>
        <p:nvPicPr>
          <p:cNvPr id="1028" name="Picture 4" descr="Solved The format of Standard Test Cases Below is a format | Chegg.com">
            <a:extLst>
              <a:ext uri="{FF2B5EF4-FFF2-40B4-BE49-F238E27FC236}">
                <a16:creationId xmlns:a16="http://schemas.microsoft.com/office/drawing/2014/main" id="{F33107D1-2F71-32DD-6BA0-4BA7E4900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5075" y="2949477"/>
            <a:ext cx="4954587" cy="3730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157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3"/>
          </p:nvPr>
        </p:nvSpPr>
        <p:spPr>
          <a:xfrm>
            <a:off x="533400" y="1066800"/>
            <a:ext cx="10287000" cy="1752600"/>
          </a:xfrm>
        </p:spPr>
        <p:txBody>
          <a:bodyPr>
            <a:normAutofit/>
          </a:bodyPr>
          <a:lstStyle/>
          <a:p>
            <a:r>
              <a:rPr lang="en-US" sz="2400" dirty="0"/>
              <a:t>Requirement Analysis, also known as Requirement Engineering, is the process of defining user expectations for a new software being built or modified. In software engineering, it is sometimes referred to loosely by names such as </a:t>
            </a:r>
            <a:r>
              <a:rPr lang="en-US" sz="2400" dirty="0">
                <a:solidFill>
                  <a:srgbClr val="00B050"/>
                </a:solidFill>
              </a:rPr>
              <a:t>requirements gathering </a:t>
            </a:r>
            <a:r>
              <a:rPr lang="en-US" sz="2400" dirty="0"/>
              <a:t>or </a:t>
            </a:r>
            <a:r>
              <a:rPr lang="en-US" sz="2400" dirty="0">
                <a:solidFill>
                  <a:srgbClr val="00B050"/>
                </a:solidFill>
              </a:rPr>
              <a:t>requirements capturing</a:t>
            </a:r>
            <a:r>
              <a:rPr lang="en-US" sz="2400" dirty="0"/>
              <a:t>. </a:t>
            </a:r>
          </a:p>
        </p:txBody>
      </p:sp>
      <p:sp>
        <p:nvSpPr>
          <p:cNvPr id="8" name="Title 1"/>
          <p:cNvSpPr>
            <a:spLocks noGrp="1"/>
          </p:cNvSpPr>
          <p:nvPr>
            <p:ph type="title"/>
          </p:nvPr>
        </p:nvSpPr>
        <p:spPr>
          <a:xfrm>
            <a:off x="762000" y="304800"/>
            <a:ext cx="10971372" cy="685800"/>
          </a:xfrm>
        </p:spPr>
        <p:txBody>
          <a:bodyPr>
            <a:normAutofit fontScale="90000"/>
          </a:bodyPr>
          <a:lstStyle/>
          <a:p>
            <a:r>
              <a:rPr lang="en-US" dirty="0"/>
              <a:t>What is a Requirement Analysis?</a:t>
            </a:r>
          </a:p>
        </p:txBody>
      </p:sp>
      <p:pic>
        <p:nvPicPr>
          <p:cNvPr id="9218" name="Picture 2" descr="https://fiverr-res.cloudinary.com/images/t_main1,q_auto,f_auto,q_auto,f_auto/gigs/105530493/original/c9f2e624c99a8f71322b7fb49d3c9b20f0ecce78/provide-you-requirement-analysis-for-your-website-idea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1" y="2590801"/>
            <a:ext cx="4114799" cy="4114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289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642" y="381000"/>
            <a:ext cx="9144159" cy="1066800"/>
          </a:xfrm>
        </p:spPr>
        <p:txBody>
          <a:bodyPr>
            <a:normAutofit fontScale="90000"/>
          </a:bodyPr>
          <a:lstStyle/>
          <a:p>
            <a:pPr algn="ctr"/>
            <a:r>
              <a:rPr lang="en-US" dirty="0"/>
              <a:t>Requirement Analysis in Software Industry?</a:t>
            </a:r>
          </a:p>
        </p:txBody>
      </p:sp>
      <p:pic>
        <p:nvPicPr>
          <p:cNvPr id="4" name="Picture 3"/>
          <p:cNvPicPr>
            <a:picLocks noChangeAspect="1"/>
          </p:cNvPicPr>
          <p:nvPr/>
        </p:nvPicPr>
        <p:blipFill>
          <a:blip r:embed="rId2"/>
          <a:stretch>
            <a:fillRect/>
          </a:stretch>
        </p:blipFill>
        <p:spPr>
          <a:xfrm>
            <a:off x="2133600" y="1600201"/>
            <a:ext cx="7672388" cy="3968477"/>
          </a:xfrm>
          <a:prstGeom prst="rect">
            <a:avLst/>
          </a:prstGeom>
        </p:spPr>
      </p:pic>
      <p:sp>
        <p:nvSpPr>
          <p:cNvPr id="5" name="TextBox 4"/>
          <p:cNvSpPr txBox="1"/>
          <p:nvPr/>
        </p:nvSpPr>
        <p:spPr>
          <a:xfrm>
            <a:off x="2362200" y="1771596"/>
            <a:ext cx="3124200" cy="369332"/>
          </a:xfrm>
          <a:prstGeom prst="rect">
            <a:avLst/>
          </a:prstGeom>
          <a:noFill/>
          <a:ln>
            <a:solidFill>
              <a:schemeClr val="bg2"/>
            </a:solidFill>
          </a:ln>
        </p:spPr>
        <p:txBody>
          <a:bodyPr wrap="square" rtlCol="0" anchor="ctr" anchorCtr="1">
            <a:spAutoFit/>
          </a:bodyPr>
          <a:lstStyle/>
          <a:p>
            <a:r>
              <a:rPr lang="en-US" dirty="0"/>
              <a:t>Client/Product Manager</a:t>
            </a:r>
          </a:p>
        </p:txBody>
      </p:sp>
      <p:sp>
        <p:nvSpPr>
          <p:cNvPr id="6" name="TextBox 5"/>
          <p:cNvSpPr txBox="1"/>
          <p:nvPr/>
        </p:nvSpPr>
        <p:spPr>
          <a:xfrm>
            <a:off x="6705600" y="1611868"/>
            <a:ext cx="2209800" cy="369332"/>
          </a:xfrm>
          <a:prstGeom prst="rect">
            <a:avLst/>
          </a:prstGeom>
          <a:noFill/>
          <a:ln>
            <a:solidFill>
              <a:schemeClr val="bg2"/>
            </a:solidFill>
          </a:ln>
        </p:spPr>
        <p:txBody>
          <a:bodyPr wrap="square" rtlCol="0" anchor="ctr" anchorCtr="1">
            <a:spAutoFit/>
          </a:bodyPr>
          <a:lstStyle/>
          <a:p>
            <a:r>
              <a:rPr lang="en-US" dirty="0"/>
              <a:t>Development team</a:t>
            </a:r>
          </a:p>
        </p:txBody>
      </p:sp>
      <p:sp>
        <p:nvSpPr>
          <p:cNvPr id="7" name="TextBox 6"/>
          <p:cNvSpPr txBox="1"/>
          <p:nvPr/>
        </p:nvSpPr>
        <p:spPr>
          <a:xfrm>
            <a:off x="1371600" y="6003667"/>
            <a:ext cx="9296400" cy="369332"/>
          </a:xfrm>
          <a:prstGeom prst="rect">
            <a:avLst/>
          </a:prstGeom>
          <a:noFill/>
          <a:ln>
            <a:solidFill>
              <a:schemeClr val="bg2"/>
            </a:solidFill>
          </a:ln>
        </p:spPr>
        <p:txBody>
          <a:bodyPr wrap="square" rtlCol="0" anchor="ctr" anchorCtr="1">
            <a:spAutoFit/>
          </a:bodyPr>
          <a:lstStyle/>
          <a:p>
            <a:r>
              <a:rPr lang="en-US" dirty="0"/>
              <a:t>Skype, MS Teams, Slack, </a:t>
            </a:r>
            <a:r>
              <a:rPr lang="en-US" dirty="0" err="1"/>
              <a:t>JoinMe</a:t>
            </a:r>
            <a:r>
              <a:rPr lang="en-US" dirty="0"/>
              <a:t>, GoToMeeting, TeamViewer, Emailing (Outlook, Gmail) </a:t>
            </a:r>
          </a:p>
        </p:txBody>
      </p:sp>
    </p:spTree>
    <p:extLst>
      <p:ext uri="{BB962C8B-B14F-4D97-AF65-F5344CB8AC3E}">
        <p14:creationId xmlns:p14="http://schemas.microsoft.com/office/powerpoint/2010/main" val="128303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914400" y="381000"/>
            <a:ext cx="10971372" cy="838200"/>
          </a:xfrm>
        </p:spPr>
        <p:txBody>
          <a:bodyPr/>
          <a:lstStyle/>
          <a:p>
            <a:r>
              <a:rPr lang="en-US" dirty="0"/>
              <a:t>Types of Testing Used in Software Industry</a:t>
            </a:r>
          </a:p>
        </p:txBody>
      </p:sp>
      <p:pic>
        <p:nvPicPr>
          <p:cNvPr id="2" name="Picture 1"/>
          <p:cNvPicPr>
            <a:picLocks noChangeAspect="1"/>
          </p:cNvPicPr>
          <p:nvPr/>
        </p:nvPicPr>
        <p:blipFill>
          <a:blip r:embed="rId2"/>
          <a:stretch>
            <a:fillRect/>
          </a:stretch>
        </p:blipFill>
        <p:spPr>
          <a:xfrm>
            <a:off x="914400" y="2133601"/>
            <a:ext cx="3810000" cy="2638425"/>
          </a:xfrm>
          <a:prstGeom prst="rect">
            <a:avLst/>
          </a:prstGeom>
        </p:spPr>
      </p:pic>
      <p:sp>
        <p:nvSpPr>
          <p:cNvPr id="3" name="TextBox 2"/>
          <p:cNvSpPr txBox="1"/>
          <p:nvPr/>
        </p:nvSpPr>
        <p:spPr>
          <a:xfrm>
            <a:off x="1524000" y="4992897"/>
            <a:ext cx="2590800" cy="369332"/>
          </a:xfrm>
          <a:prstGeom prst="rect">
            <a:avLst/>
          </a:prstGeom>
          <a:noFill/>
          <a:ln>
            <a:solidFill>
              <a:schemeClr val="bg2"/>
            </a:solidFill>
          </a:ln>
        </p:spPr>
        <p:txBody>
          <a:bodyPr wrap="square" rtlCol="0" anchor="ctr" anchorCtr="1">
            <a:spAutoFit/>
          </a:bodyPr>
          <a:lstStyle/>
          <a:p>
            <a:r>
              <a:rPr lang="en-US" dirty="0"/>
              <a:t>Manual </a:t>
            </a:r>
          </a:p>
        </p:txBody>
      </p:sp>
      <p:pic>
        <p:nvPicPr>
          <p:cNvPr id="4" name="Picture 3"/>
          <p:cNvPicPr>
            <a:picLocks noChangeAspect="1"/>
          </p:cNvPicPr>
          <p:nvPr/>
        </p:nvPicPr>
        <p:blipFill>
          <a:blip r:embed="rId3"/>
          <a:stretch>
            <a:fillRect/>
          </a:stretch>
        </p:blipFill>
        <p:spPr>
          <a:xfrm>
            <a:off x="6781800" y="2133600"/>
            <a:ext cx="3810000" cy="2638425"/>
          </a:xfrm>
          <a:prstGeom prst="rect">
            <a:avLst/>
          </a:prstGeom>
        </p:spPr>
      </p:pic>
      <p:sp>
        <p:nvSpPr>
          <p:cNvPr id="11" name="TextBox 10"/>
          <p:cNvSpPr txBox="1"/>
          <p:nvPr/>
        </p:nvSpPr>
        <p:spPr>
          <a:xfrm>
            <a:off x="7391400" y="4996467"/>
            <a:ext cx="2590800" cy="369332"/>
          </a:xfrm>
          <a:prstGeom prst="rect">
            <a:avLst/>
          </a:prstGeom>
          <a:noFill/>
          <a:ln>
            <a:solidFill>
              <a:schemeClr val="bg2"/>
            </a:solidFill>
          </a:ln>
        </p:spPr>
        <p:txBody>
          <a:bodyPr wrap="square" rtlCol="0" anchor="ctr" anchorCtr="1">
            <a:spAutoFit/>
          </a:bodyPr>
          <a:lstStyle/>
          <a:p>
            <a:r>
              <a:rPr lang="en-US" dirty="0"/>
              <a:t>Automation  </a:t>
            </a:r>
          </a:p>
        </p:txBody>
      </p:sp>
    </p:spTree>
    <p:extLst>
      <p:ext uri="{BB962C8B-B14F-4D97-AF65-F5344CB8AC3E}">
        <p14:creationId xmlns:p14="http://schemas.microsoft.com/office/powerpoint/2010/main" val="3098616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A041A-5833-0271-52B7-E1F885A64335}"/>
              </a:ext>
            </a:extLst>
          </p:cNvPr>
          <p:cNvSpPr>
            <a:spLocks noGrp="1"/>
          </p:cNvSpPr>
          <p:nvPr>
            <p:ph type="title"/>
          </p:nvPr>
        </p:nvSpPr>
        <p:spPr/>
        <p:txBody>
          <a:bodyPr/>
          <a:lstStyle/>
          <a:p>
            <a:r>
              <a:rPr lang="en-US" b="1" dirty="0"/>
              <a:t>Test Plan and Test Strategy</a:t>
            </a:r>
          </a:p>
        </p:txBody>
      </p:sp>
      <p:sp>
        <p:nvSpPr>
          <p:cNvPr id="3" name="Content Placeholder 2">
            <a:extLst>
              <a:ext uri="{FF2B5EF4-FFF2-40B4-BE49-F238E27FC236}">
                <a16:creationId xmlns:a16="http://schemas.microsoft.com/office/drawing/2014/main" id="{F0E02B25-8BAD-31DA-E8C8-E380C4579532}"/>
              </a:ext>
            </a:extLst>
          </p:cNvPr>
          <p:cNvSpPr>
            <a:spLocks noGrp="1"/>
          </p:cNvSpPr>
          <p:nvPr>
            <p:ph idx="1"/>
          </p:nvPr>
        </p:nvSpPr>
        <p:spPr/>
        <p:txBody>
          <a:bodyPr/>
          <a:lstStyle/>
          <a:p>
            <a:pPr algn="l">
              <a:buFont typeface="Arial" panose="020B0604020202020204" pitchFamily="34" charset="0"/>
              <a:buChar char="•"/>
            </a:pPr>
            <a:r>
              <a:rPr lang="en-US" b="1" i="0" dirty="0">
                <a:solidFill>
                  <a:srgbClr val="D1D5DB"/>
                </a:solidFill>
                <a:effectLst/>
                <a:latin typeface="Söhne"/>
              </a:rPr>
              <a:t>Test Plan</a:t>
            </a:r>
            <a:r>
              <a:rPr lang="en-US" b="0" i="0" dirty="0">
                <a:solidFill>
                  <a:srgbClr val="D1D5DB"/>
                </a:solidFill>
                <a:effectLst/>
                <a:latin typeface="Söhne"/>
              </a:rPr>
              <a:t> outlines the scope, objectives, resources, and schedule for testing a project. It's a comprehensive document.</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Test Strategy</a:t>
            </a:r>
            <a:r>
              <a:rPr lang="en-US" b="0" i="0" dirty="0">
                <a:solidFill>
                  <a:srgbClr val="D1D5DB"/>
                </a:solidFill>
                <a:effectLst/>
                <a:latin typeface="Söhne"/>
              </a:rPr>
              <a:t> is a high-level plan that defines the overall approach to testing, including methodologies, tools, and resources.</a:t>
            </a:r>
          </a:p>
          <a:p>
            <a:pPr algn="l">
              <a:buFont typeface="Arial" panose="020B0604020202020204" pitchFamily="34" charset="0"/>
              <a:buChar char="•"/>
            </a:pPr>
            <a:endParaRPr lang="en-US" dirty="0">
              <a:solidFill>
                <a:srgbClr val="D1D5DB"/>
              </a:solidFill>
              <a:latin typeface="Söhne"/>
            </a:endParaRPr>
          </a:p>
          <a:p>
            <a:pPr algn="l">
              <a:buFont typeface="Arial" panose="020B0604020202020204" pitchFamily="34" charset="0"/>
              <a:buChar char="•"/>
            </a:pPr>
            <a:r>
              <a:rPr lang="en-US" b="0" i="0" dirty="0">
                <a:solidFill>
                  <a:srgbClr val="D1D5DB"/>
                </a:solidFill>
                <a:effectLst/>
                <a:latin typeface="Söhne"/>
              </a:rPr>
              <a:t>Example : Let’s see practical documentation in detail</a:t>
            </a:r>
          </a:p>
          <a:p>
            <a:endParaRPr lang="en-US" dirty="0"/>
          </a:p>
        </p:txBody>
      </p:sp>
    </p:spTree>
    <p:extLst>
      <p:ext uri="{BB962C8B-B14F-4D97-AF65-F5344CB8AC3E}">
        <p14:creationId xmlns:p14="http://schemas.microsoft.com/office/powerpoint/2010/main" val="337892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7EE40-CAFB-F445-6D5F-5723C40982F4}"/>
              </a:ext>
            </a:extLst>
          </p:cNvPr>
          <p:cNvSpPr>
            <a:spLocks noGrp="1"/>
          </p:cNvSpPr>
          <p:nvPr>
            <p:ph type="title"/>
          </p:nvPr>
        </p:nvSpPr>
        <p:spPr/>
        <p:txBody>
          <a:bodyPr/>
          <a:lstStyle/>
          <a:p>
            <a:r>
              <a:rPr lang="en-US" b="1" i="0" dirty="0">
                <a:effectLst/>
                <a:latin typeface="Söhne"/>
              </a:rPr>
              <a:t>Static Testing:</a:t>
            </a:r>
            <a:endParaRPr lang="en-US" dirty="0"/>
          </a:p>
        </p:txBody>
      </p:sp>
      <p:sp>
        <p:nvSpPr>
          <p:cNvPr id="3" name="Content Placeholder 2">
            <a:extLst>
              <a:ext uri="{FF2B5EF4-FFF2-40B4-BE49-F238E27FC236}">
                <a16:creationId xmlns:a16="http://schemas.microsoft.com/office/drawing/2014/main" id="{6A5E3B13-0B7E-2EBB-1C59-3B2941680F0D}"/>
              </a:ext>
            </a:extLst>
          </p:cNvPr>
          <p:cNvSpPr>
            <a:spLocks noGrp="1"/>
          </p:cNvSpPr>
          <p:nvPr>
            <p:ph idx="1"/>
          </p:nvPr>
        </p:nvSpPr>
        <p:spPr/>
        <p:txBody>
          <a:bodyPr>
            <a:normAutofit fontScale="92500"/>
          </a:bodyPr>
          <a:lstStyle/>
          <a:p>
            <a:r>
              <a:rPr lang="en-US" sz="2400" b="1" i="0" dirty="0">
                <a:effectLst/>
                <a:latin typeface="Söhne"/>
              </a:rPr>
              <a:t>Static Testing</a:t>
            </a:r>
            <a:r>
              <a:rPr lang="en-US" sz="2400" b="0" i="0" dirty="0">
                <a:solidFill>
                  <a:srgbClr val="D1D5DB"/>
                </a:solidFill>
                <a:effectLst/>
                <a:latin typeface="Söhne"/>
              </a:rPr>
              <a:t> is a type of testing that reviews software documents and code without executing them. It helps find defects early in the process.</a:t>
            </a:r>
            <a:br>
              <a:rPr lang="en-US" sz="2400" b="0" i="0" dirty="0">
                <a:solidFill>
                  <a:srgbClr val="D1D5DB"/>
                </a:solidFill>
                <a:effectLst/>
                <a:latin typeface="Söhne"/>
              </a:rPr>
            </a:br>
            <a:endParaRPr lang="en-US" sz="2400" b="0" i="0" dirty="0">
              <a:solidFill>
                <a:srgbClr val="D1D5DB"/>
              </a:solidFill>
              <a:effectLst/>
              <a:latin typeface="Söhne"/>
            </a:endParaRPr>
          </a:p>
          <a:p>
            <a:pPr algn="l">
              <a:buFont typeface="+mj-lt"/>
              <a:buAutoNum type="arabicPeriod"/>
            </a:pPr>
            <a:r>
              <a:rPr lang="en-US" sz="2400" b="1" i="0" dirty="0">
                <a:solidFill>
                  <a:srgbClr val="D1D5DB"/>
                </a:solidFill>
                <a:effectLst/>
                <a:latin typeface="Söhne"/>
              </a:rPr>
              <a:t>Early Detection:</a:t>
            </a:r>
            <a:r>
              <a:rPr lang="en-US" sz="2400" b="0" i="0" dirty="0">
                <a:solidFill>
                  <a:srgbClr val="D1D5DB"/>
                </a:solidFill>
                <a:effectLst/>
                <a:latin typeface="Söhne"/>
              </a:rPr>
              <a:t> Static testing is conducted at the earliest stages of the SDLC, often starting with requirements and design documents. This early intervention helps identify issues before they become costly to fix in later stages of development.</a:t>
            </a:r>
          </a:p>
          <a:p>
            <a:pPr algn="l">
              <a:buFont typeface="+mj-lt"/>
              <a:buAutoNum type="arabicPeriod"/>
            </a:pPr>
            <a:r>
              <a:rPr lang="en-US" sz="2400" b="1" i="0" dirty="0">
                <a:solidFill>
                  <a:srgbClr val="D1D5DB"/>
                </a:solidFill>
                <a:effectLst/>
                <a:latin typeface="Söhne"/>
              </a:rPr>
              <a:t>Types of Artifacts:</a:t>
            </a:r>
            <a:r>
              <a:rPr lang="en-US" sz="2400" b="0" i="0" dirty="0">
                <a:solidFill>
                  <a:srgbClr val="D1D5DB"/>
                </a:solidFill>
                <a:effectLst/>
                <a:latin typeface="Söhne"/>
              </a:rPr>
              <a:t> Static testing can be applied to various types of artifacts, including:</a:t>
            </a:r>
          </a:p>
          <a:p>
            <a:pPr marL="742950" lvl="1" indent="-285750" algn="l">
              <a:buFont typeface="+mj-lt"/>
              <a:buAutoNum type="arabicPeriod"/>
            </a:pPr>
            <a:r>
              <a:rPr lang="en-US" sz="2000" b="1" i="0" dirty="0">
                <a:solidFill>
                  <a:srgbClr val="D1D5DB"/>
                </a:solidFill>
                <a:effectLst/>
                <a:latin typeface="Söhne"/>
              </a:rPr>
              <a:t>Requirements:</a:t>
            </a:r>
            <a:r>
              <a:rPr lang="en-US" sz="2000" b="0" i="0" dirty="0">
                <a:solidFill>
                  <a:srgbClr val="D1D5DB"/>
                </a:solidFill>
                <a:effectLst/>
                <a:latin typeface="Söhne"/>
              </a:rPr>
              <a:t> Ensuring that requirements are clear, complete, and unambiguous.</a:t>
            </a:r>
          </a:p>
          <a:p>
            <a:pPr marL="742950" lvl="1" indent="-285750" algn="l">
              <a:buFont typeface="+mj-lt"/>
              <a:buAutoNum type="arabicPeriod"/>
            </a:pPr>
            <a:r>
              <a:rPr lang="en-US" sz="2000" b="1" i="0" dirty="0">
                <a:solidFill>
                  <a:srgbClr val="D1D5DB"/>
                </a:solidFill>
                <a:effectLst/>
                <a:latin typeface="Söhne"/>
              </a:rPr>
              <a:t>Design Documents:</a:t>
            </a:r>
            <a:r>
              <a:rPr lang="en-US" sz="2000" b="0" i="0" dirty="0">
                <a:solidFill>
                  <a:srgbClr val="D1D5DB"/>
                </a:solidFill>
                <a:effectLst/>
                <a:latin typeface="Söhne"/>
              </a:rPr>
              <a:t> Verifying that the design meets specified requirements and architectural guidelines.</a:t>
            </a:r>
          </a:p>
          <a:p>
            <a:pPr marL="742950" lvl="1" indent="-285750" algn="l">
              <a:buFont typeface="+mj-lt"/>
              <a:buAutoNum type="arabicPeriod"/>
            </a:pPr>
            <a:r>
              <a:rPr lang="en-US" sz="2000" b="1" i="0" dirty="0">
                <a:solidFill>
                  <a:srgbClr val="D1D5DB"/>
                </a:solidFill>
                <a:effectLst/>
                <a:latin typeface="Söhne"/>
              </a:rPr>
              <a:t>Code:</a:t>
            </a:r>
            <a:r>
              <a:rPr lang="en-US" sz="2000" b="0" i="0" dirty="0">
                <a:solidFill>
                  <a:srgbClr val="D1D5DB"/>
                </a:solidFill>
                <a:effectLst/>
                <a:latin typeface="Söhne"/>
              </a:rPr>
              <a:t> Identifying coding standards violations, logic errors, and potential bugs.</a:t>
            </a:r>
          </a:p>
          <a:p>
            <a:pPr marL="742950" lvl="1" indent="-285750" algn="l">
              <a:buFont typeface="+mj-lt"/>
              <a:buAutoNum type="arabicPeriod"/>
            </a:pPr>
            <a:r>
              <a:rPr lang="en-US" sz="2000" b="1" i="0" dirty="0">
                <a:solidFill>
                  <a:srgbClr val="D1D5DB"/>
                </a:solidFill>
                <a:effectLst/>
                <a:latin typeface="Söhne"/>
              </a:rPr>
              <a:t>Test Cases:</a:t>
            </a:r>
            <a:r>
              <a:rPr lang="en-US" sz="2000" b="0" i="0" dirty="0">
                <a:solidFill>
                  <a:srgbClr val="D1D5DB"/>
                </a:solidFill>
                <a:effectLst/>
                <a:latin typeface="Söhne"/>
              </a:rPr>
              <a:t> Reviewing test cases for completeness and coverage.</a:t>
            </a:r>
          </a:p>
          <a:p>
            <a:endParaRPr lang="en-US" sz="2400" dirty="0"/>
          </a:p>
        </p:txBody>
      </p:sp>
    </p:spTree>
    <p:extLst>
      <p:ext uri="{BB962C8B-B14F-4D97-AF65-F5344CB8AC3E}">
        <p14:creationId xmlns:p14="http://schemas.microsoft.com/office/powerpoint/2010/main" val="862689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DB7B-28B9-AA22-E4AB-0945E7164C66}"/>
              </a:ext>
            </a:extLst>
          </p:cNvPr>
          <p:cNvSpPr>
            <a:spLocks noGrp="1"/>
          </p:cNvSpPr>
          <p:nvPr>
            <p:ph type="title"/>
          </p:nvPr>
        </p:nvSpPr>
        <p:spPr/>
        <p:txBody>
          <a:bodyPr/>
          <a:lstStyle/>
          <a:p>
            <a:r>
              <a:rPr lang="en-US" b="1" i="0" dirty="0">
                <a:effectLst/>
                <a:latin typeface="Söhne"/>
              </a:rPr>
              <a:t>Working with Bugs:</a:t>
            </a:r>
            <a:endParaRPr lang="en-US" dirty="0"/>
          </a:p>
        </p:txBody>
      </p:sp>
      <p:sp>
        <p:nvSpPr>
          <p:cNvPr id="3" name="Content Placeholder 2">
            <a:extLst>
              <a:ext uri="{FF2B5EF4-FFF2-40B4-BE49-F238E27FC236}">
                <a16:creationId xmlns:a16="http://schemas.microsoft.com/office/drawing/2014/main" id="{3FA3B5B7-8D83-E187-0825-E685281536EA}"/>
              </a:ext>
            </a:extLst>
          </p:cNvPr>
          <p:cNvSpPr>
            <a:spLocks noGrp="1"/>
          </p:cNvSpPr>
          <p:nvPr>
            <p:ph idx="1"/>
          </p:nvPr>
        </p:nvSpPr>
        <p:spPr/>
        <p:txBody>
          <a:bodyPr/>
          <a:lstStyle/>
          <a:p>
            <a:pPr algn="l">
              <a:buFont typeface="Arial" panose="020B0604020202020204" pitchFamily="34" charset="0"/>
              <a:buChar char="•"/>
            </a:pPr>
            <a:r>
              <a:rPr lang="en-US" b="1" i="0" dirty="0">
                <a:solidFill>
                  <a:srgbClr val="D1D5DB"/>
                </a:solidFill>
                <a:effectLst/>
                <a:latin typeface="Söhne"/>
              </a:rPr>
              <a:t>Bug</a:t>
            </a:r>
            <a:r>
              <a:rPr lang="en-US" b="0" i="0" dirty="0">
                <a:solidFill>
                  <a:srgbClr val="D1D5DB"/>
                </a:solidFill>
                <a:effectLst/>
                <a:latin typeface="Söhne"/>
              </a:rPr>
              <a:t> is a deviation from expected behavior in a software application.</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Bug Reporting</a:t>
            </a:r>
            <a:r>
              <a:rPr lang="en-US" b="0" i="0" dirty="0">
                <a:solidFill>
                  <a:srgbClr val="D1D5DB"/>
                </a:solidFill>
                <a:effectLst/>
                <a:latin typeface="Söhne"/>
              </a:rPr>
              <a:t> involves documenting defects with details such as steps to reproduce, severity, and priority.</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JIRA</a:t>
            </a:r>
            <a:r>
              <a:rPr lang="en-US" b="0" i="0" dirty="0">
                <a:solidFill>
                  <a:srgbClr val="D1D5DB"/>
                </a:solidFill>
                <a:effectLst/>
                <a:latin typeface="Söhne"/>
              </a:rPr>
              <a:t> is a popular project management and bug tracking tool.</a:t>
            </a:r>
          </a:p>
          <a:p>
            <a:pPr algn="l">
              <a:buFont typeface="Arial" panose="020B0604020202020204" pitchFamily="34" charset="0"/>
              <a:buChar char="•"/>
            </a:pPr>
            <a:endParaRPr lang="en-US" dirty="0">
              <a:solidFill>
                <a:srgbClr val="D1D5DB"/>
              </a:solidFill>
              <a:latin typeface="Söhne"/>
            </a:endParaRPr>
          </a:p>
          <a:p>
            <a:pPr algn="l">
              <a:buFont typeface="Arial" panose="020B0604020202020204" pitchFamily="34" charset="0"/>
              <a:buChar char="•"/>
            </a:pPr>
            <a:r>
              <a:rPr lang="en-US" b="0" i="0" dirty="0">
                <a:solidFill>
                  <a:srgbClr val="D1D5DB"/>
                </a:solidFill>
                <a:effectLst/>
                <a:latin typeface="Söhne"/>
              </a:rPr>
              <a:t>Another example is Mentis used typically for bugs management</a:t>
            </a:r>
          </a:p>
          <a:p>
            <a:endParaRPr lang="en-US" dirty="0"/>
          </a:p>
        </p:txBody>
      </p:sp>
    </p:spTree>
    <p:extLst>
      <p:ext uri="{BB962C8B-B14F-4D97-AF65-F5344CB8AC3E}">
        <p14:creationId xmlns:p14="http://schemas.microsoft.com/office/powerpoint/2010/main" val="3277037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4D0C2-15A4-2863-6B3D-8322E22E28E4}"/>
              </a:ext>
            </a:extLst>
          </p:cNvPr>
          <p:cNvSpPr>
            <a:spLocks noGrp="1"/>
          </p:cNvSpPr>
          <p:nvPr>
            <p:ph type="title"/>
          </p:nvPr>
        </p:nvSpPr>
        <p:spPr/>
        <p:txBody>
          <a:bodyPr/>
          <a:lstStyle/>
          <a:p>
            <a:r>
              <a:rPr lang="en-US" b="1" i="0" dirty="0">
                <a:effectLst/>
                <a:latin typeface="Söhne"/>
              </a:rPr>
              <a:t>Bug Life Cycle/Severity and Priority:</a:t>
            </a:r>
            <a:endParaRPr lang="en-US" dirty="0"/>
          </a:p>
        </p:txBody>
      </p:sp>
      <p:sp>
        <p:nvSpPr>
          <p:cNvPr id="3" name="Content Placeholder 2">
            <a:extLst>
              <a:ext uri="{FF2B5EF4-FFF2-40B4-BE49-F238E27FC236}">
                <a16:creationId xmlns:a16="http://schemas.microsoft.com/office/drawing/2014/main" id="{B5A23A3F-4F71-14AF-1FB6-65B8EB8591B7}"/>
              </a:ext>
            </a:extLst>
          </p:cNvPr>
          <p:cNvSpPr>
            <a:spLocks noGrp="1"/>
          </p:cNvSpPr>
          <p:nvPr>
            <p:ph idx="1"/>
          </p:nvPr>
        </p:nvSpPr>
        <p:spPr/>
        <p:txBody>
          <a:bodyPr/>
          <a:lstStyle/>
          <a:p>
            <a:pPr algn="l">
              <a:buFont typeface="Arial" panose="020B0604020202020204" pitchFamily="34" charset="0"/>
              <a:buChar char="•"/>
            </a:pPr>
            <a:r>
              <a:rPr lang="en-US" b="1" i="0" dirty="0">
                <a:solidFill>
                  <a:srgbClr val="D1D5DB"/>
                </a:solidFill>
                <a:effectLst/>
                <a:latin typeface="Söhne"/>
              </a:rPr>
              <a:t>Bug Life Cycle</a:t>
            </a:r>
            <a:r>
              <a:rPr lang="en-US" b="0" i="0" dirty="0">
                <a:solidFill>
                  <a:srgbClr val="D1D5DB"/>
                </a:solidFill>
                <a:effectLst/>
                <a:latin typeface="Söhne"/>
              </a:rPr>
              <a:t> describes the various stages a bug goes through, from discovery to resolution.</a:t>
            </a:r>
          </a:p>
          <a:p>
            <a:pPr algn="l">
              <a:buFont typeface="Arial" panose="020B0604020202020204" pitchFamily="34" charset="0"/>
              <a:buChar char="•"/>
            </a:pPr>
            <a:r>
              <a:rPr lang="en-US" dirty="0">
                <a:solidFill>
                  <a:srgbClr val="D1D5DB"/>
                </a:solidFill>
                <a:latin typeface="Söhne"/>
              </a:rPr>
              <a:t>Example: Document of bug reporting / Mentis Practical example</a:t>
            </a:r>
            <a:endParaRPr lang="en-US" b="0" i="0" dirty="0">
              <a:solidFill>
                <a:srgbClr val="D1D5DB"/>
              </a:solidFill>
              <a:effectLst/>
              <a:latin typeface="Söhne"/>
            </a:endParaRP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Severity</a:t>
            </a:r>
            <a:r>
              <a:rPr lang="en-US" b="0" i="0" dirty="0">
                <a:solidFill>
                  <a:srgbClr val="D1D5DB"/>
                </a:solidFill>
                <a:effectLst/>
                <a:latin typeface="Söhne"/>
              </a:rPr>
              <a:t> indicates the impact of a bug on the system.</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Priority</a:t>
            </a:r>
            <a:r>
              <a:rPr lang="en-US" b="0" i="0" dirty="0">
                <a:solidFill>
                  <a:srgbClr val="D1D5DB"/>
                </a:solidFill>
                <a:effectLst/>
                <a:latin typeface="Söhne"/>
              </a:rPr>
              <a:t> determines the order in which bugs are fixed.</a:t>
            </a:r>
          </a:p>
          <a:p>
            <a:endParaRPr lang="en-US" dirty="0"/>
          </a:p>
        </p:txBody>
      </p:sp>
    </p:spTree>
    <p:extLst>
      <p:ext uri="{BB962C8B-B14F-4D97-AF65-F5344CB8AC3E}">
        <p14:creationId xmlns:p14="http://schemas.microsoft.com/office/powerpoint/2010/main" val="3350719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E18D-2767-7A5B-BF2F-0E788A3F53CA}"/>
              </a:ext>
            </a:extLst>
          </p:cNvPr>
          <p:cNvSpPr>
            <a:spLocks noGrp="1"/>
          </p:cNvSpPr>
          <p:nvPr>
            <p:ph type="title"/>
          </p:nvPr>
        </p:nvSpPr>
        <p:spPr/>
        <p:txBody>
          <a:bodyPr/>
          <a:lstStyle/>
          <a:p>
            <a:r>
              <a:rPr lang="en-US" b="1" i="0" dirty="0">
                <a:effectLst/>
                <a:latin typeface="Söhne"/>
              </a:rPr>
              <a:t>Bug Leakage and Bug Release:</a:t>
            </a:r>
            <a:endParaRPr lang="en-US" dirty="0"/>
          </a:p>
        </p:txBody>
      </p:sp>
      <p:sp>
        <p:nvSpPr>
          <p:cNvPr id="3" name="Content Placeholder 2">
            <a:extLst>
              <a:ext uri="{FF2B5EF4-FFF2-40B4-BE49-F238E27FC236}">
                <a16:creationId xmlns:a16="http://schemas.microsoft.com/office/drawing/2014/main" id="{0DB5273C-7D33-BEB4-FB32-F88E516A7405}"/>
              </a:ext>
            </a:extLst>
          </p:cNvPr>
          <p:cNvSpPr>
            <a:spLocks noGrp="1"/>
          </p:cNvSpPr>
          <p:nvPr>
            <p:ph idx="1"/>
          </p:nvPr>
        </p:nvSpPr>
        <p:spPr/>
        <p:txBody>
          <a:bodyPr/>
          <a:lstStyle/>
          <a:p>
            <a:r>
              <a:rPr lang="en-US" b="1" i="0" dirty="0">
                <a:solidFill>
                  <a:srgbClr val="D1D5DB"/>
                </a:solidFill>
                <a:effectLst/>
                <a:latin typeface="Söhne"/>
              </a:rPr>
              <a:t>Bug Leakage</a:t>
            </a:r>
            <a:r>
              <a:rPr lang="en-US" b="0" i="0" dirty="0">
                <a:solidFill>
                  <a:srgbClr val="D1D5DB"/>
                </a:solidFill>
                <a:effectLst/>
                <a:latin typeface="Söhne"/>
              </a:rPr>
              <a:t> occurs when a bug is not identified during testing and makes its way into production. </a:t>
            </a:r>
          </a:p>
          <a:p>
            <a:endParaRPr lang="en-US" dirty="0">
              <a:solidFill>
                <a:srgbClr val="D1D5DB"/>
              </a:solidFill>
              <a:latin typeface="Söhne"/>
            </a:endParaRPr>
          </a:p>
          <a:p>
            <a:r>
              <a:rPr lang="en-US" b="0" i="0" dirty="0">
                <a:solidFill>
                  <a:srgbClr val="D1D5DB"/>
                </a:solidFill>
                <a:effectLst/>
                <a:latin typeface="Söhne"/>
              </a:rPr>
              <a:t>- </a:t>
            </a:r>
            <a:r>
              <a:rPr lang="en-US" b="1" i="0" dirty="0">
                <a:solidFill>
                  <a:srgbClr val="D1D5DB"/>
                </a:solidFill>
                <a:effectLst/>
                <a:latin typeface="Söhne"/>
              </a:rPr>
              <a:t>Bug Release</a:t>
            </a:r>
            <a:r>
              <a:rPr lang="en-US" b="0" i="0" dirty="0">
                <a:solidFill>
                  <a:srgbClr val="D1D5DB"/>
                </a:solidFill>
                <a:effectLst/>
                <a:latin typeface="Söhne"/>
              </a:rPr>
              <a:t> is when a set of fixes for identified bugs is deployed to production.</a:t>
            </a:r>
            <a:endParaRPr lang="en-US" dirty="0"/>
          </a:p>
        </p:txBody>
      </p:sp>
    </p:spTree>
    <p:extLst>
      <p:ext uri="{BB962C8B-B14F-4D97-AF65-F5344CB8AC3E}">
        <p14:creationId xmlns:p14="http://schemas.microsoft.com/office/powerpoint/2010/main" val="2228245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B2C1-B364-33A0-451C-8AB1BE15392F}"/>
              </a:ext>
            </a:extLst>
          </p:cNvPr>
          <p:cNvSpPr>
            <a:spLocks noGrp="1"/>
          </p:cNvSpPr>
          <p:nvPr>
            <p:ph type="title"/>
          </p:nvPr>
        </p:nvSpPr>
        <p:spPr/>
        <p:txBody>
          <a:bodyPr/>
          <a:lstStyle/>
          <a:p>
            <a:r>
              <a:rPr lang="en-US" b="1" i="0" dirty="0">
                <a:effectLst/>
                <a:latin typeface="Söhne"/>
              </a:rPr>
              <a:t>Bug Triage:</a:t>
            </a:r>
            <a:endParaRPr lang="en-US" dirty="0"/>
          </a:p>
        </p:txBody>
      </p:sp>
      <p:sp>
        <p:nvSpPr>
          <p:cNvPr id="3" name="Content Placeholder 2">
            <a:extLst>
              <a:ext uri="{FF2B5EF4-FFF2-40B4-BE49-F238E27FC236}">
                <a16:creationId xmlns:a16="http://schemas.microsoft.com/office/drawing/2014/main" id="{5AB4FEBB-52F3-7E14-B6BD-9001C8019EA5}"/>
              </a:ext>
            </a:extLst>
          </p:cNvPr>
          <p:cNvSpPr>
            <a:spLocks noGrp="1"/>
          </p:cNvSpPr>
          <p:nvPr>
            <p:ph idx="1"/>
          </p:nvPr>
        </p:nvSpPr>
        <p:spPr/>
        <p:txBody>
          <a:bodyPr/>
          <a:lstStyle/>
          <a:p>
            <a:r>
              <a:rPr lang="en-US" b="1" i="0" dirty="0">
                <a:effectLst/>
                <a:latin typeface="Söhne"/>
              </a:rPr>
              <a:t>Bug Triage</a:t>
            </a:r>
            <a:r>
              <a:rPr lang="en-US" b="0" i="0" dirty="0">
                <a:solidFill>
                  <a:srgbClr val="D1D5DB"/>
                </a:solidFill>
                <a:effectLst/>
                <a:latin typeface="Söhne"/>
              </a:rPr>
              <a:t> is the process of prioritizing and categorizing bugs to determine which ones should be addressed first.</a:t>
            </a:r>
          </a:p>
          <a:p>
            <a:endParaRPr lang="en-US" dirty="0">
              <a:solidFill>
                <a:srgbClr val="D1D5DB"/>
              </a:solidFill>
              <a:latin typeface="Söhne"/>
            </a:endParaRPr>
          </a:p>
          <a:p>
            <a:r>
              <a:rPr lang="en-US" b="1" i="0" dirty="0">
                <a:effectLst/>
                <a:latin typeface="Söhne"/>
              </a:rPr>
              <a:t>Purpose:</a:t>
            </a:r>
            <a:r>
              <a:rPr lang="en-US" b="0" i="0" dirty="0">
                <a:solidFill>
                  <a:srgbClr val="D1D5DB"/>
                </a:solidFill>
                <a:effectLst/>
                <a:latin typeface="Söhne"/>
              </a:rPr>
              <a:t> The primary goal of bug triage is to efficiently allocate resources (developers, testers, etc.) to address identified issues based on their severity and impact on the project.</a:t>
            </a:r>
            <a:endParaRPr lang="en-US" dirty="0"/>
          </a:p>
        </p:txBody>
      </p:sp>
    </p:spTree>
    <p:extLst>
      <p:ext uri="{BB962C8B-B14F-4D97-AF65-F5344CB8AC3E}">
        <p14:creationId xmlns:p14="http://schemas.microsoft.com/office/powerpoint/2010/main" val="3960919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6613-3683-B0EA-0303-2BB78E23285A}"/>
              </a:ext>
            </a:extLst>
          </p:cNvPr>
          <p:cNvSpPr>
            <a:spLocks noGrp="1"/>
          </p:cNvSpPr>
          <p:nvPr>
            <p:ph type="title"/>
          </p:nvPr>
        </p:nvSpPr>
        <p:spPr/>
        <p:txBody>
          <a:bodyPr/>
          <a:lstStyle/>
          <a:p>
            <a:r>
              <a:rPr lang="en-US" b="1" dirty="0">
                <a:latin typeface="Söhne"/>
              </a:rPr>
              <a:t>Difference between bug, Defect and Failure</a:t>
            </a:r>
          </a:p>
        </p:txBody>
      </p:sp>
      <p:sp>
        <p:nvSpPr>
          <p:cNvPr id="3" name="Content Placeholder 2">
            <a:extLst>
              <a:ext uri="{FF2B5EF4-FFF2-40B4-BE49-F238E27FC236}">
                <a16:creationId xmlns:a16="http://schemas.microsoft.com/office/drawing/2014/main" id="{8AB7577A-26D9-F2AE-0ED0-ED24698FA0EE}"/>
              </a:ext>
            </a:extLst>
          </p:cNvPr>
          <p:cNvSpPr>
            <a:spLocks noGrp="1"/>
          </p:cNvSpPr>
          <p:nvPr>
            <p:ph idx="1"/>
          </p:nvPr>
        </p:nvSpPr>
        <p:spPr/>
        <p:txBody>
          <a:bodyPr>
            <a:normAutofit fontScale="92500" lnSpcReduction="20000"/>
          </a:bodyPr>
          <a:lstStyle/>
          <a:p>
            <a:pPr algn="l"/>
            <a:r>
              <a:rPr lang="en-US" b="1" i="0" dirty="0">
                <a:solidFill>
                  <a:srgbClr val="D1D5DB"/>
                </a:solidFill>
                <a:effectLst/>
                <a:latin typeface="Söhne"/>
              </a:rPr>
              <a:t>1. Bug:</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 bug is a broad term often used interchangeably with "defect" in informal language.</a:t>
            </a:r>
          </a:p>
          <a:p>
            <a:pPr algn="l">
              <a:buFont typeface="Arial" panose="020B0604020202020204" pitchFamily="34" charset="0"/>
              <a:buChar char="•"/>
            </a:pPr>
            <a:r>
              <a:rPr lang="en-US" b="0" i="0" dirty="0">
                <a:solidFill>
                  <a:srgbClr val="D1D5DB"/>
                </a:solidFill>
                <a:effectLst/>
                <a:latin typeface="Söhne"/>
              </a:rPr>
              <a:t>It represents a flaw or issue in the software that causes it to behave incorrectly or unexpectedly.</a:t>
            </a:r>
          </a:p>
          <a:p>
            <a:pPr algn="l">
              <a:buFont typeface="Arial" panose="020B0604020202020204" pitchFamily="34" charset="0"/>
              <a:buChar char="•"/>
            </a:pPr>
            <a:r>
              <a:rPr lang="en-US" b="0" i="0" dirty="0">
                <a:solidFill>
                  <a:srgbClr val="D1D5DB"/>
                </a:solidFill>
                <a:effectLst/>
                <a:latin typeface="Söhne"/>
              </a:rPr>
              <a:t>Bugs can encompass various types of problems, including coding errors, design flaws, or incorrect functionality.</a:t>
            </a:r>
          </a:p>
          <a:p>
            <a:pPr algn="l">
              <a:buFont typeface="Arial" panose="020B0604020202020204" pitchFamily="34" charset="0"/>
              <a:buChar char="•"/>
            </a:pPr>
            <a:r>
              <a:rPr lang="en-US" b="0" i="0" dirty="0">
                <a:solidFill>
                  <a:srgbClr val="D1D5DB"/>
                </a:solidFill>
                <a:effectLst/>
                <a:latin typeface="Söhne"/>
              </a:rPr>
              <a:t>Bugs are typically detected during the testing phase or by end-users.</a:t>
            </a:r>
          </a:p>
          <a:p>
            <a:endParaRPr lang="en-US" dirty="0">
              <a:latin typeface="Söhne"/>
            </a:endParaRPr>
          </a:p>
          <a:p>
            <a:r>
              <a:rPr lang="en-US" sz="2200" b="1" i="0" dirty="0">
                <a:effectLst/>
                <a:latin typeface="Söhne"/>
              </a:rPr>
              <a:t>Example of a Bug:</a:t>
            </a:r>
            <a:r>
              <a:rPr lang="en-US" sz="2200" b="0" i="0" dirty="0">
                <a:solidFill>
                  <a:srgbClr val="D1D5DB"/>
                </a:solidFill>
                <a:effectLst/>
                <a:latin typeface="Söhne"/>
              </a:rPr>
              <a:t> Let's say you are testing a web application, and when you click the "Submit" button on a form, the application crashes and displays an error message. This behavior is a bug because it is not the expected or desired behavior.</a:t>
            </a:r>
            <a:endParaRPr lang="en-US" sz="2200" dirty="0">
              <a:latin typeface="Söhne"/>
            </a:endParaRPr>
          </a:p>
        </p:txBody>
      </p:sp>
    </p:spTree>
    <p:extLst>
      <p:ext uri="{BB962C8B-B14F-4D97-AF65-F5344CB8AC3E}">
        <p14:creationId xmlns:p14="http://schemas.microsoft.com/office/powerpoint/2010/main" val="1476279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F0B3-B6B0-2C8E-D402-499ADA40D513}"/>
              </a:ext>
            </a:extLst>
          </p:cNvPr>
          <p:cNvSpPr>
            <a:spLocks noGrp="1"/>
          </p:cNvSpPr>
          <p:nvPr>
            <p:ph type="title"/>
          </p:nvPr>
        </p:nvSpPr>
        <p:spPr/>
        <p:txBody>
          <a:bodyPr/>
          <a:lstStyle/>
          <a:p>
            <a:r>
              <a:rPr lang="en-US" b="1" i="0" dirty="0">
                <a:effectLst/>
                <a:latin typeface="Söhne"/>
              </a:rPr>
              <a:t>Defect:</a:t>
            </a:r>
            <a:endParaRPr lang="en-US" dirty="0"/>
          </a:p>
        </p:txBody>
      </p:sp>
      <p:sp>
        <p:nvSpPr>
          <p:cNvPr id="3" name="Content Placeholder 2">
            <a:extLst>
              <a:ext uri="{FF2B5EF4-FFF2-40B4-BE49-F238E27FC236}">
                <a16:creationId xmlns:a16="http://schemas.microsoft.com/office/drawing/2014/main" id="{F7156535-F661-8B30-DA28-8057B27E25C5}"/>
              </a:ext>
            </a:extLst>
          </p:cNvPr>
          <p:cNvSpPr>
            <a:spLocks noGrp="1"/>
          </p:cNvSpPr>
          <p:nvPr>
            <p:ph idx="1"/>
          </p:nvPr>
        </p:nvSpPr>
        <p:spPr/>
        <p:txBody>
          <a:bodyPr>
            <a:normAutofit/>
          </a:bodyPr>
          <a:lstStyle/>
          <a:p>
            <a:pPr algn="l">
              <a:buFont typeface="Arial" panose="020B0604020202020204" pitchFamily="34" charset="0"/>
              <a:buChar char="•"/>
            </a:pPr>
            <a:r>
              <a:rPr lang="en-US" sz="2000" b="0" i="0" dirty="0">
                <a:solidFill>
                  <a:srgbClr val="D1D5DB"/>
                </a:solidFill>
                <a:effectLst/>
                <a:latin typeface="Söhne"/>
              </a:rPr>
              <a:t>A defect is a specific type of issue or problem in the software that deviates from its requirements or specifications.</a:t>
            </a:r>
          </a:p>
          <a:p>
            <a:pPr algn="l">
              <a:buFont typeface="Arial" panose="020B0604020202020204" pitchFamily="34" charset="0"/>
              <a:buChar char="•"/>
            </a:pPr>
            <a:r>
              <a:rPr lang="en-US" sz="2000" b="0" i="0" dirty="0">
                <a:solidFill>
                  <a:srgbClr val="D1D5DB"/>
                </a:solidFill>
                <a:effectLst/>
                <a:latin typeface="Söhne"/>
              </a:rPr>
              <a:t>Defects are often identified through systematic testing processes, and they represent a failure to meet the defined criteria.</a:t>
            </a:r>
          </a:p>
          <a:p>
            <a:pPr algn="l">
              <a:buFont typeface="Arial" panose="020B0604020202020204" pitchFamily="34" charset="0"/>
              <a:buChar char="•"/>
            </a:pPr>
            <a:r>
              <a:rPr lang="en-US" sz="2000" b="0" i="0" dirty="0">
                <a:solidFill>
                  <a:srgbClr val="D1D5DB"/>
                </a:solidFill>
                <a:effectLst/>
                <a:latin typeface="Söhne"/>
              </a:rPr>
              <a:t>Defects can include issues such as incorrect calculations, missing features, or non-compliance with design specifications.</a:t>
            </a:r>
          </a:p>
          <a:p>
            <a:pPr algn="l">
              <a:buFont typeface="Arial" panose="020B0604020202020204" pitchFamily="34" charset="0"/>
              <a:buChar char="•"/>
            </a:pPr>
            <a:endParaRPr lang="en-US" sz="2000" b="0" i="0" dirty="0">
              <a:solidFill>
                <a:srgbClr val="D1D5DB"/>
              </a:solidFill>
              <a:effectLst/>
              <a:latin typeface="Söhne"/>
            </a:endParaRPr>
          </a:p>
          <a:p>
            <a:pPr algn="l"/>
            <a:r>
              <a:rPr lang="en-US" sz="2000" b="1" i="0" dirty="0">
                <a:solidFill>
                  <a:srgbClr val="D1D5DB"/>
                </a:solidFill>
                <a:effectLst/>
                <a:latin typeface="Söhne"/>
              </a:rPr>
              <a:t>Example of a Defect:</a:t>
            </a:r>
            <a:r>
              <a:rPr lang="en-US" sz="2000" b="0" i="0" dirty="0">
                <a:solidFill>
                  <a:srgbClr val="D1D5DB"/>
                </a:solidFill>
                <a:effectLst/>
                <a:latin typeface="Söhne"/>
              </a:rPr>
              <a:t> In a banking application, the interest calculation for a savings account is incorrect. According to the specifications, it should calculate interest monthly, but it is currently calculating it annually. This is a defect because it does not conform to the specified behavior.</a:t>
            </a:r>
          </a:p>
          <a:p>
            <a:endParaRPr lang="en-US" sz="2000" dirty="0"/>
          </a:p>
        </p:txBody>
      </p:sp>
    </p:spTree>
    <p:extLst>
      <p:ext uri="{BB962C8B-B14F-4D97-AF65-F5344CB8AC3E}">
        <p14:creationId xmlns:p14="http://schemas.microsoft.com/office/powerpoint/2010/main" val="2056533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823D1-5A52-0C35-ED3F-79BC013ABAF8}"/>
              </a:ext>
            </a:extLst>
          </p:cNvPr>
          <p:cNvSpPr>
            <a:spLocks noGrp="1"/>
          </p:cNvSpPr>
          <p:nvPr>
            <p:ph type="title"/>
          </p:nvPr>
        </p:nvSpPr>
        <p:spPr/>
        <p:txBody>
          <a:bodyPr/>
          <a:lstStyle/>
          <a:p>
            <a:r>
              <a:rPr lang="en-US" b="1" i="0" dirty="0">
                <a:effectLst/>
                <a:latin typeface="Söhne"/>
              </a:rPr>
              <a:t>Failure:</a:t>
            </a:r>
            <a:endParaRPr lang="en-US" dirty="0"/>
          </a:p>
        </p:txBody>
      </p:sp>
      <p:sp>
        <p:nvSpPr>
          <p:cNvPr id="3" name="Content Placeholder 2">
            <a:extLst>
              <a:ext uri="{FF2B5EF4-FFF2-40B4-BE49-F238E27FC236}">
                <a16:creationId xmlns:a16="http://schemas.microsoft.com/office/drawing/2014/main" id="{33BB0890-A1A6-3861-DD21-E033854CF123}"/>
              </a:ext>
            </a:extLst>
          </p:cNvPr>
          <p:cNvSpPr>
            <a:spLocks noGrp="1"/>
          </p:cNvSpPr>
          <p:nvPr>
            <p:ph idx="1"/>
          </p:nvPr>
        </p:nvSpPr>
        <p:spPr/>
        <p:txBody>
          <a:bodyPr>
            <a:normAutofit/>
          </a:bodyPr>
          <a:lstStyle/>
          <a:p>
            <a:pPr algn="l">
              <a:buFont typeface="Arial" panose="020B0604020202020204" pitchFamily="34" charset="0"/>
              <a:buChar char="•"/>
            </a:pPr>
            <a:r>
              <a:rPr lang="en-US" sz="2400" b="0" i="0" dirty="0">
                <a:solidFill>
                  <a:srgbClr val="D1D5DB"/>
                </a:solidFill>
                <a:effectLst/>
                <a:latin typeface="Söhne"/>
              </a:rPr>
              <a:t>A failure occurs when the software behaves incorrectly or produces an undesirable outcome during actual usage by end-users or customers.</a:t>
            </a:r>
          </a:p>
          <a:p>
            <a:pPr algn="l">
              <a:buFont typeface="Arial" panose="020B0604020202020204" pitchFamily="34" charset="0"/>
              <a:buChar char="•"/>
            </a:pPr>
            <a:r>
              <a:rPr lang="en-US" sz="2400" b="0" i="0" dirty="0">
                <a:solidFill>
                  <a:srgbClr val="D1D5DB"/>
                </a:solidFill>
                <a:effectLst/>
                <a:latin typeface="Söhne"/>
              </a:rPr>
              <a:t>Failures are typically the result of one or more defects or bugs in the software.</a:t>
            </a:r>
          </a:p>
          <a:p>
            <a:pPr algn="l">
              <a:buFont typeface="Arial" panose="020B0604020202020204" pitchFamily="34" charset="0"/>
              <a:buChar char="•"/>
            </a:pPr>
            <a:r>
              <a:rPr lang="en-US" sz="2400" b="0" i="0" dirty="0">
                <a:solidFill>
                  <a:srgbClr val="D1D5DB"/>
                </a:solidFill>
                <a:effectLst/>
                <a:latin typeface="Söhne"/>
              </a:rPr>
              <a:t>Failures are observable issues that impact the user experience, leading to dissatisfaction or loss of functionality.</a:t>
            </a:r>
          </a:p>
          <a:p>
            <a:pPr algn="l"/>
            <a:r>
              <a:rPr lang="en-US" sz="2400" b="1" i="0" dirty="0">
                <a:solidFill>
                  <a:srgbClr val="D1D5DB"/>
                </a:solidFill>
                <a:effectLst/>
                <a:latin typeface="Söhne"/>
              </a:rPr>
              <a:t>Example of a Failure:</a:t>
            </a:r>
            <a:r>
              <a:rPr lang="en-US" sz="2400" b="0" i="0" dirty="0">
                <a:solidFill>
                  <a:srgbClr val="D1D5DB"/>
                </a:solidFill>
                <a:effectLst/>
                <a:latin typeface="Söhne"/>
              </a:rPr>
              <a:t> Imagine a mobile app for navigation that suddenly crashes while a user is using it to get directions, causing the app to close unexpectedly. This crash is a failure because it occurs during real-world use and disrupts the user's experience.</a:t>
            </a:r>
          </a:p>
          <a:p>
            <a:endParaRPr lang="en-US" sz="2400" dirty="0"/>
          </a:p>
        </p:txBody>
      </p:sp>
      <p:sp>
        <p:nvSpPr>
          <p:cNvPr id="4" name="Title 1">
            <a:extLst>
              <a:ext uri="{FF2B5EF4-FFF2-40B4-BE49-F238E27FC236}">
                <a16:creationId xmlns:a16="http://schemas.microsoft.com/office/drawing/2014/main" id="{EC621938-3F92-7405-8EF1-274F70C5341B}"/>
              </a:ext>
            </a:extLst>
          </p:cNvPr>
          <p:cNvSpPr txBox="1">
            <a:spLocks/>
          </p:cNvSpPr>
          <p:nvPr/>
        </p:nvSpPr>
        <p:spPr>
          <a:xfrm>
            <a:off x="838200" y="3184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Tree>
    <p:extLst>
      <p:ext uri="{BB962C8B-B14F-4D97-AF65-F5344CB8AC3E}">
        <p14:creationId xmlns:p14="http://schemas.microsoft.com/office/powerpoint/2010/main" val="2519728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13A2-0F07-08B5-7604-10267F564B15}"/>
              </a:ext>
            </a:extLst>
          </p:cNvPr>
          <p:cNvSpPr>
            <a:spLocks noGrp="1"/>
          </p:cNvSpPr>
          <p:nvPr>
            <p:ph type="title"/>
          </p:nvPr>
        </p:nvSpPr>
        <p:spPr/>
        <p:txBody>
          <a:bodyPr/>
          <a:lstStyle/>
          <a:p>
            <a:r>
              <a:rPr lang="en-US" b="1" i="0" dirty="0">
                <a:effectLst/>
                <a:latin typeface="Söhne"/>
              </a:rPr>
              <a:t>Black Box VS White Box Testing </a:t>
            </a:r>
            <a:br>
              <a:rPr lang="en-US" b="1" i="0" dirty="0">
                <a:effectLst/>
                <a:latin typeface="Söhne"/>
              </a:rPr>
            </a:br>
            <a:endParaRPr lang="en-US" dirty="0"/>
          </a:p>
        </p:txBody>
      </p:sp>
      <p:sp>
        <p:nvSpPr>
          <p:cNvPr id="3" name="Content Placeholder 2">
            <a:extLst>
              <a:ext uri="{FF2B5EF4-FFF2-40B4-BE49-F238E27FC236}">
                <a16:creationId xmlns:a16="http://schemas.microsoft.com/office/drawing/2014/main" id="{4390C862-4807-CD37-C4F7-1F7F7019FD67}"/>
              </a:ext>
            </a:extLst>
          </p:cNvPr>
          <p:cNvSpPr>
            <a:spLocks noGrp="1"/>
          </p:cNvSpPr>
          <p:nvPr>
            <p:ph idx="1"/>
          </p:nvPr>
        </p:nvSpPr>
        <p:spPr/>
        <p:txBody>
          <a:bodyPr/>
          <a:lstStyle/>
          <a:p>
            <a:pPr algn="l"/>
            <a:r>
              <a:rPr lang="en-US" b="1" i="0" dirty="0">
                <a:solidFill>
                  <a:srgbClr val="D1D5DB"/>
                </a:solidFill>
                <a:effectLst/>
                <a:latin typeface="Söhne"/>
              </a:rPr>
              <a:t>Black Box Testing:</a:t>
            </a:r>
            <a:r>
              <a:rPr lang="en-US" b="0" i="0" dirty="0">
                <a:solidFill>
                  <a:srgbClr val="D1D5DB"/>
                </a:solidFill>
                <a:effectLst/>
                <a:latin typeface="Söhne"/>
              </a:rPr>
              <a:t> Black box testing is a software testing method in which the internal structure, code, and implementation details of the system being tested are not known to the tester. Testers focus on testing the system's functionality, inputs, and outputs without knowledge of its internal workings.</a:t>
            </a:r>
          </a:p>
          <a:p>
            <a:pPr algn="l"/>
            <a:r>
              <a:rPr lang="en-US" b="1" i="0" dirty="0">
                <a:solidFill>
                  <a:srgbClr val="D1D5DB"/>
                </a:solidFill>
                <a:effectLst/>
                <a:latin typeface="Söhne"/>
              </a:rPr>
              <a:t>White Box Testing:</a:t>
            </a:r>
            <a:r>
              <a:rPr lang="en-US" b="0" i="0" dirty="0">
                <a:solidFill>
                  <a:srgbClr val="D1D5DB"/>
                </a:solidFill>
                <a:effectLst/>
                <a:latin typeface="Söhne"/>
              </a:rPr>
              <a:t> White box testing, also known as structural testing or glass box testing, is a software testing technique where the tester has access to the internal structure, code, and logic of the software application being tested. Testers design test cases based on the knowledge of the software's internal structure.</a:t>
            </a:r>
          </a:p>
          <a:p>
            <a:endParaRPr lang="en-US" dirty="0"/>
          </a:p>
        </p:txBody>
      </p:sp>
    </p:spTree>
    <p:extLst>
      <p:ext uri="{BB962C8B-B14F-4D97-AF65-F5344CB8AC3E}">
        <p14:creationId xmlns:p14="http://schemas.microsoft.com/office/powerpoint/2010/main" val="1557767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AA767-9D96-F817-E054-BDF90B3B1E9B}"/>
              </a:ext>
            </a:extLst>
          </p:cNvPr>
          <p:cNvSpPr>
            <a:spLocks noGrp="1"/>
          </p:cNvSpPr>
          <p:nvPr>
            <p:ph type="title"/>
          </p:nvPr>
        </p:nvSpPr>
        <p:spPr/>
        <p:txBody>
          <a:bodyPr/>
          <a:lstStyle/>
          <a:p>
            <a:r>
              <a:rPr lang="en-US" b="1" i="0" dirty="0">
                <a:effectLst/>
                <a:latin typeface="Söhne"/>
              </a:rPr>
              <a:t>Functional Testing Vs Non-Functional Testing</a:t>
            </a:r>
            <a:br>
              <a:rPr lang="en-US" b="1" i="0" dirty="0">
                <a:effectLst/>
                <a:latin typeface="Söhne"/>
              </a:rPr>
            </a:br>
            <a:endParaRPr lang="en-US" dirty="0"/>
          </a:p>
        </p:txBody>
      </p:sp>
      <p:sp>
        <p:nvSpPr>
          <p:cNvPr id="3" name="Content Placeholder 2">
            <a:extLst>
              <a:ext uri="{FF2B5EF4-FFF2-40B4-BE49-F238E27FC236}">
                <a16:creationId xmlns:a16="http://schemas.microsoft.com/office/drawing/2014/main" id="{6B381A91-0437-09B2-A7A8-81BEC1C15CB3}"/>
              </a:ext>
            </a:extLst>
          </p:cNvPr>
          <p:cNvSpPr>
            <a:spLocks noGrp="1"/>
          </p:cNvSpPr>
          <p:nvPr>
            <p:ph idx="1"/>
          </p:nvPr>
        </p:nvSpPr>
        <p:spPr/>
        <p:txBody>
          <a:bodyPr/>
          <a:lstStyle/>
          <a:p>
            <a:pPr algn="l"/>
            <a:r>
              <a:rPr lang="en-US" b="1" i="0" dirty="0">
                <a:solidFill>
                  <a:srgbClr val="D1D5DB"/>
                </a:solidFill>
                <a:effectLst/>
                <a:latin typeface="Söhne"/>
              </a:rPr>
              <a:t>Functional Testing:</a:t>
            </a:r>
            <a:r>
              <a:rPr lang="en-US" b="0" i="0" dirty="0">
                <a:solidFill>
                  <a:srgbClr val="D1D5DB"/>
                </a:solidFill>
                <a:effectLst/>
                <a:latin typeface="Söhne"/>
              </a:rPr>
              <a:t> Functional testing is a type of black box testing that verifies whether a software application's functions and features work correctly according to specified requirements. It focuses on testing what the software does.</a:t>
            </a:r>
          </a:p>
          <a:p>
            <a:pPr algn="l"/>
            <a:r>
              <a:rPr lang="en-US" b="1" i="0" dirty="0">
                <a:solidFill>
                  <a:srgbClr val="D1D5DB"/>
                </a:solidFill>
                <a:effectLst/>
                <a:latin typeface="Söhne"/>
              </a:rPr>
              <a:t>Non-Functional Testing:</a:t>
            </a:r>
            <a:r>
              <a:rPr lang="en-US" b="0" i="0" dirty="0">
                <a:solidFill>
                  <a:srgbClr val="D1D5DB"/>
                </a:solidFill>
                <a:effectLst/>
                <a:latin typeface="Söhne"/>
              </a:rPr>
              <a:t> Non-functional testing, also known as performance testing, is a type of testing that assesses how well a software system performs non-functional requirements such as speed, scalability, security, and usability. It focuses on how the software performs.</a:t>
            </a:r>
          </a:p>
          <a:p>
            <a:endParaRPr lang="en-US" dirty="0"/>
          </a:p>
        </p:txBody>
      </p:sp>
    </p:spTree>
    <p:extLst>
      <p:ext uri="{BB962C8B-B14F-4D97-AF65-F5344CB8AC3E}">
        <p14:creationId xmlns:p14="http://schemas.microsoft.com/office/powerpoint/2010/main" val="551440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37C46-7EB0-9B99-C0A6-10E24949A71E}"/>
              </a:ext>
            </a:extLst>
          </p:cNvPr>
          <p:cNvSpPr>
            <a:spLocks noGrp="1"/>
          </p:cNvSpPr>
          <p:nvPr>
            <p:ph type="title"/>
          </p:nvPr>
        </p:nvSpPr>
        <p:spPr/>
        <p:txBody>
          <a:bodyPr>
            <a:normAutofit fontScale="90000"/>
          </a:bodyPr>
          <a:lstStyle/>
          <a:p>
            <a:r>
              <a:rPr lang="en-US" b="1" i="0" dirty="0">
                <a:effectLst/>
                <a:latin typeface="Söhne"/>
              </a:rPr>
              <a:t>Smoke Testing / Sanity Testing</a:t>
            </a:r>
            <a:br>
              <a:rPr lang="en-US" b="1" i="0" dirty="0">
                <a:effectLst/>
                <a:latin typeface="Söhne"/>
              </a:rPr>
            </a:br>
            <a:br>
              <a:rPr lang="en-US" dirty="0"/>
            </a:br>
            <a:endParaRPr lang="en-US" dirty="0"/>
          </a:p>
        </p:txBody>
      </p:sp>
      <p:sp>
        <p:nvSpPr>
          <p:cNvPr id="3" name="Content Placeholder 2">
            <a:extLst>
              <a:ext uri="{FF2B5EF4-FFF2-40B4-BE49-F238E27FC236}">
                <a16:creationId xmlns:a16="http://schemas.microsoft.com/office/drawing/2014/main" id="{B95BFEFF-BAD0-0357-BA98-A5B949710F8D}"/>
              </a:ext>
            </a:extLst>
          </p:cNvPr>
          <p:cNvSpPr>
            <a:spLocks noGrp="1"/>
          </p:cNvSpPr>
          <p:nvPr>
            <p:ph idx="1"/>
          </p:nvPr>
        </p:nvSpPr>
        <p:spPr/>
        <p:txBody>
          <a:bodyPr/>
          <a:lstStyle/>
          <a:p>
            <a:pPr algn="l"/>
            <a:r>
              <a:rPr lang="en-US" b="1" i="0" dirty="0">
                <a:solidFill>
                  <a:srgbClr val="D1D5DB"/>
                </a:solidFill>
                <a:effectLst/>
                <a:latin typeface="Söhne"/>
              </a:rPr>
              <a:t>Smoke Testing:</a:t>
            </a:r>
            <a:r>
              <a:rPr lang="en-US" b="0" i="0" dirty="0">
                <a:solidFill>
                  <a:srgbClr val="D1D5DB"/>
                </a:solidFill>
                <a:effectLst/>
                <a:latin typeface="Söhne"/>
              </a:rPr>
              <a:t> Smoke testing is an initial testing process that checks whether the most crucial functions of a software application work correctly after a build or release. If the smoke test fails, further testing is halted until the critical issues are resolved.</a:t>
            </a:r>
          </a:p>
          <a:p>
            <a:pPr algn="l"/>
            <a:endParaRPr lang="en-US" b="0" i="0" dirty="0">
              <a:solidFill>
                <a:srgbClr val="D1D5DB"/>
              </a:solidFill>
              <a:effectLst/>
              <a:latin typeface="Söhne"/>
            </a:endParaRPr>
          </a:p>
          <a:p>
            <a:pPr algn="l"/>
            <a:r>
              <a:rPr lang="en-US" b="1" i="0" dirty="0">
                <a:solidFill>
                  <a:srgbClr val="D1D5DB"/>
                </a:solidFill>
                <a:effectLst/>
                <a:latin typeface="Söhne"/>
              </a:rPr>
              <a:t>Sanity Testing:</a:t>
            </a:r>
            <a:r>
              <a:rPr lang="en-US" b="0" i="0" dirty="0">
                <a:solidFill>
                  <a:srgbClr val="D1D5DB"/>
                </a:solidFill>
                <a:effectLst/>
                <a:latin typeface="Söhne"/>
              </a:rPr>
              <a:t> Sanity testing is a subset of regression testing that checks specific areas or functionalities of a software application to ensure that recent changes or bug fixes did not introduce new issues. It is often used to quickly validate that the changes are working as expected.</a:t>
            </a:r>
          </a:p>
          <a:p>
            <a:endParaRPr lang="en-US" dirty="0"/>
          </a:p>
        </p:txBody>
      </p:sp>
    </p:spTree>
    <p:extLst>
      <p:ext uri="{BB962C8B-B14F-4D97-AF65-F5344CB8AC3E}">
        <p14:creationId xmlns:p14="http://schemas.microsoft.com/office/powerpoint/2010/main" val="679612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0756-DF65-9284-C2E5-501553848BE9}"/>
              </a:ext>
            </a:extLst>
          </p:cNvPr>
          <p:cNvSpPr>
            <a:spLocks noGrp="1"/>
          </p:cNvSpPr>
          <p:nvPr>
            <p:ph type="title"/>
          </p:nvPr>
        </p:nvSpPr>
        <p:spPr/>
        <p:txBody>
          <a:bodyPr/>
          <a:lstStyle/>
          <a:p>
            <a:r>
              <a:rPr lang="en-US" b="1" i="0" dirty="0">
                <a:effectLst/>
                <a:latin typeface="Söhne"/>
              </a:rPr>
              <a:t>Regression Testing / Re-testing</a:t>
            </a:r>
            <a:br>
              <a:rPr lang="en-US" b="1" i="0" dirty="0">
                <a:effectLst/>
                <a:latin typeface="Söhne"/>
              </a:rPr>
            </a:br>
            <a:endParaRPr lang="en-US" dirty="0"/>
          </a:p>
        </p:txBody>
      </p:sp>
      <p:sp>
        <p:nvSpPr>
          <p:cNvPr id="3" name="Content Placeholder 2">
            <a:extLst>
              <a:ext uri="{FF2B5EF4-FFF2-40B4-BE49-F238E27FC236}">
                <a16:creationId xmlns:a16="http://schemas.microsoft.com/office/drawing/2014/main" id="{56954457-CEE5-07CC-CD91-B8A72ACAB95F}"/>
              </a:ext>
            </a:extLst>
          </p:cNvPr>
          <p:cNvSpPr>
            <a:spLocks noGrp="1"/>
          </p:cNvSpPr>
          <p:nvPr>
            <p:ph idx="1"/>
          </p:nvPr>
        </p:nvSpPr>
        <p:spPr/>
        <p:txBody>
          <a:bodyPr/>
          <a:lstStyle/>
          <a:p>
            <a:pPr algn="l"/>
            <a:r>
              <a:rPr lang="en-US" b="1" i="0" dirty="0">
                <a:solidFill>
                  <a:srgbClr val="D1D5DB"/>
                </a:solidFill>
                <a:effectLst/>
                <a:latin typeface="Söhne"/>
              </a:rPr>
              <a:t>Regression Testing:</a:t>
            </a:r>
            <a:r>
              <a:rPr lang="en-US" b="0" i="0" dirty="0">
                <a:solidFill>
                  <a:srgbClr val="D1D5DB"/>
                </a:solidFill>
                <a:effectLst/>
                <a:latin typeface="Söhne"/>
              </a:rPr>
              <a:t> Regression testing is a type of testing that ensures that new code changes or updates to a software application do not adversely affect existing functionality. It involves re-running previously executed test cases to verify that the software still functions correctly.</a:t>
            </a:r>
          </a:p>
          <a:p>
            <a:pPr algn="l"/>
            <a:r>
              <a:rPr lang="en-US" b="1" i="0" dirty="0">
                <a:solidFill>
                  <a:srgbClr val="D1D5DB"/>
                </a:solidFill>
                <a:effectLst/>
                <a:latin typeface="Söhne"/>
              </a:rPr>
              <a:t>Re-testing:</a:t>
            </a:r>
            <a:r>
              <a:rPr lang="en-US" b="0" i="0" dirty="0">
                <a:solidFill>
                  <a:srgbClr val="D1D5DB"/>
                </a:solidFill>
                <a:effectLst/>
                <a:latin typeface="Söhne"/>
              </a:rPr>
              <a:t> Re-testing is a specific type of testing that focuses on executing test cases related to a specific defect or issue that was found and fixed in the software. It checks whether the specific issue has been resolved.</a:t>
            </a:r>
          </a:p>
          <a:p>
            <a:endParaRPr lang="en-US" dirty="0"/>
          </a:p>
        </p:txBody>
      </p:sp>
    </p:spTree>
    <p:extLst>
      <p:ext uri="{BB962C8B-B14F-4D97-AF65-F5344CB8AC3E}">
        <p14:creationId xmlns:p14="http://schemas.microsoft.com/office/powerpoint/2010/main" val="4241805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6986-42BD-2B2F-E05C-2EE733F33390}"/>
              </a:ext>
            </a:extLst>
          </p:cNvPr>
          <p:cNvSpPr>
            <a:spLocks noGrp="1"/>
          </p:cNvSpPr>
          <p:nvPr>
            <p:ph type="title"/>
          </p:nvPr>
        </p:nvSpPr>
        <p:spPr/>
        <p:txBody>
          <a:bodyPr>
            <a:normAutofit/>
          </a:bodyPr>
          <a:lstStyle/>
          <a:p>
            <a:r>
              <a:rPr lang="en-US" b="1" i="0" dirty="0">
                <a:effectLst/>
                <a:latin typeface="Söhne"/>
              </a:rPr>
              <a:t>Decision Table Testing</a:t>
            </a:r>
            <a:endParaRPr lang="en-US" dirty="0"/>
          </a:p>
        </p:txBody>
      </p:sp>
      <p:sp>
        <p:nvSpPr>
          <p:cNvPr id="3" name="Content Placeholder 2">
            <a:extLst>
              <a:ext uri="{FF2B5EF4-FFF2-40B4-BE49-F238E27FC236}">
                <a16:creationId xmlns:a16="http://schemas.microsoft.com/office/drawing/2014/main" id="{CFAFCF6F-0FC3-87F5-0FF4-D9A5874F19F0}"/>
              </a:ext>
            </a:extLst>
          </p:cNvPr>
          <p:cNvSpPr>
            <a:spLocks noGrp="1"/>
          </p:cNvSpPr>
          <p:nvPr>
            <p:ph idx="1"/>
          </p:nvPr>
        </p:nvSpPr>
        <p:spPr>
          <a:xfrm>
            <a:off x="735563" y="1974915"/>
            <a:ext cx="10515600" cy="4351338"/>
          </a:xfrm>
        </p:spPr>
        <p:txBody>
          <a:bodyPr/>
          <a:lstStyle/>
          <a:p>
            <a:pPr algn="l"/>
            <a:r>
              <a:rPr lang="en-US" b="1" i="0" dirty="0">
                <a:solidFill>
                  <a:srgbClr val="D1D5DB"/>
                </a:solidFill>
                <a:effectLst/>
                <a:latin typeface="Söhne"/>
              </a:rPr>
              <a:t>Decision Table Testing:</a:t>
            </a:r>
            <a:r>
              <a:rPr lang="en-US" b="0" i="0" dirty="0">
                <a:solidFill>
                  <a:srgbClr val="D1D5DB"/>
                </a:solidFill>
                <a:effectLst/>
                <a:latin typeface="Söhne"/>
              </a:rPr>
              <a:t> Decision table testing is a technique used to test combinations of inputs that can produce different outcomes in a software application. It involves creating a table that maps possible combinations of inputs to expected results.</a:t>
            </a:r>
          </a:p>
          <a:p>
            <a:pPr algn="l"/>
            <a:endParaRPr lang="en-US" b="0" i="0" dirty="0">
              <a:solidFill>
                <a:srgbClr val="D1D5DB"/>
              </a:solidFill>
              <a:effectLst/>
              <a:latin typeface="Söhne"/>
            </a:endParaRPr>
          </a:p>
          <a:p>
            <a:pPr algn="l"/>
            <a:endParaRPr lang="en-US" b="0" i="0" dirty="0">
              <a:solidFill>
                <a:srgbClr val="D1D5DB"/>
              </a:solidFill>
              <a:effectLst/>
              <a:latin typeface="Söhne"/>
            </a:endParaRPr>
          </a:p>
          <a:p>
            <a:endParaRPr lang="en-US" dirty="0"/>
          </a:p>
        </p:txBody>
      </p:sp>
      <p:pic>
        <p:nvPicPr>
          <p:cNvPr id="1026" name="Picture 2" descr="Decision Table Technique in Black Box Testing - javatpoint">
            <a:extLst>
              <a:ext uri="{FF2B5EF4-FFF2-40B4-BE49-F238E27FC236}">
                <a16:creationId xmlns:a16="http://schemas.microsoft.com/office/drawing/2014/main" id="{D86C59F1-ADBE-3E49-6EC8-993D3137B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9217" y="4150584"/>
            <a:ext cx="5791200" cy="139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0792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8BF2-F7DD-B874-BF60-1301800FD799}"/>
              </a:ext>
            </a:extLst>
          </p:cNvPr>
          <p:cNvSpPr>
            <a:spLocks noGrp="1"/>
          </p:cNvSpPr>
          <p:nvPr>
            <p:ph type="title"/>
          </p:nvPr>
        </p:nvSpPr>
        <p:spPr/>
        <p:txBody>
          <a:bodyPr/>
          <a:lstStyle/>
          <a:p>
            <a:r>
              <a:rPr lang="en-US" b="1" i="0" dirty="0">
                <a:effectLst/>
                <a:latin typeface="Söhne"/>
              </a:rPr>
              <a:t>Equivalence Partitioning  / Boundary Value Analysis </a:t>
            </a:r>
            <a:endParaRPr lang="en-US" dirty="0"/>
          </a:p>
        </p:txBody>
      </p:sp>
      <p:sp>
        <p:nvSpPr>
          <p:cNvPr id="3" name="Content Placeholder 2">
            <a:extLst>
              <a:ext uri="{FF2B5EF4-FFF2-40B4-BE49-F238E27FC236}">
                <a16:creationId xmlns:a16="http://schemas.microsoft.com/office/drawing/2014/main" id="{0A55B558-67E7-0770-A54F-9172E4DD09D3}"/>
              </a:ext>
            </a:extLst>
          </p:cNvPr>
          <p:cNvSpPr>
            <a:spLocks noGrp="1"/>
          </p:cNvSpPr>
          <p:nvPr>
            <p:ph idx="1"/>
          </p:nvPr>
        </p:nvSpPr>
        <p:spPr/>
        <p:txBody>
          <a:bodyPr>
            <a:normAutofit/>
          </a:bodyPr>
          <a:lstStyle/>
          <a:p>
            <a:r>
              <a:rPr lang="en-US" b="1" i="0" dirty="0">
                <a:effectLst/>
                <a:latin typeface="Söhne"/>
              </a:rPr>
              <a:t>Equivalence Partitioning:</a:t>
            </a:r>
            <a:r>
              <a:rPr lang="en-US" b="0" i="0" dirty="0">
                <a:effectLst/>
                <a:latin typeface="Söhne"/>
              </a:rPr>
              <a:t> Equivalence partitioning is a black-box testing technique that divides the input space into partitions or classes. Test cases are selected from each partition to ensure comprehensive testing while avoiding redundant test cases.</a:t>
            </a:r>
          </a:p>
          <a:p>
            <a:pPr marL="0" indent="0">
              <a:buNone/>
            </a:pPr>
            <a:endParaRPr lang="en-US" b="1" dirty="0">
              <a:latin typeface="Söhne"/>
            </a:endParaRPr>
          </a:p>
          <a:p>
            <a:r>
              <a:rPr lang="en-US" b="1" i="0" dirty="0">
                <a:effectLst/>
                <a:latin typeface="Söhne"/>
              </a:rPr>
              <a:t>Boundary Value Analysis :</a:t>
            </a:r>
            <a:r>
              <a:rPr lang="en-US" b="0" i="0" dirty="0">
                <a:effectLst/>
                <a:latin typeface="Söhne"/>
              </a:rPr>
              <a:t> Boundary value analysis is a testing technique that focuses on test cases at the boundaries of input domains. It helps identify issues that may occur at the edge values of input ranges.</a:t>
            </a:r>
            <a:endParaRPr lang="en-US" dirty="0"/>
          </a:p>
        </p:txBody>
      </p:sp>
    </p:spTree>
    <p:extLst>
      <p:ext uri="{BB962C8B-B14F-4D97-AF65-F5344CB8AC3E}">
        <p14:creationId xmlns:p14="http://schemas.microsoft.com/office/powerpoint/2010/main" val="4233540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FC994-E33A-C11A-7C75-C36A399B4F71}"/>
              </a:ext>
            </a:extLst>
          </p:cNvPr>
          <p:cNvSpPr>
            <a:spLocks noGrp="1"/>
          </p:cNvSpPr>
          <p:nvPr>
            <p:ph type="title"/>
          </p:nvPr>
        </p:nvSpPr>
        <p:spPr/>
        <p:txBody>
          <a:bodyPr/>
          <a:lstStyle/>
          <a:p>
            <a:r>
              <a:rPr lang="en-US" b="1" i="0" dirty="0">
                <a:effectLst/>
                <a:latin typeface="Söhne"/>
              </a:rPr>
              <a:t>White Box Testing / Unit Testing </a:t>
            </a:r>
            <a:endParaRPr lang="en-US" dirty="0"/>
          </a:p>
        </p:txBody>
      </p:sp>
      <p:sp>
        <p:nvSpPr>
          <p:cNvPr id="3" name="Content Placeholder 2">
            <a:extLst>
              <a:ext uri="{FF2B5EF4-FFF2-40B4-BE49-F238E27FC236}">
                <a16:creationId xmlns:a16="http://schemas.microsoft.com/office/drawing/2014/main" id="{AC85E3B3-2507-9F51-DEEA-07D8BDF522D6}"/>
              </a:ext>
            </a:extLst>
          </p:cNvPr>
          <p:cNvSpPr>
            <a:spLocks noGrp="1"/>
          </p:cNvSpPr>
          <p:nvPr>
            <p:ph idx="1"/>
          </p:nvPr>
        </p:nvSpPr>
        <p:spPr/>
        <p:txBody>
          <a:bodyPr/>
          <a:lstStyle/>
          <a:p>
            <a:pPr algn="l"/>
            <a:r>
              <a:rPr lang="en-US" b="1" i="0" dirty="0">
                <a:solidFill>
                  <a:srgbClr val="D1D5DB"/>
                </a:solidFill>
                <a:effectLst/>
                <a:latin typeface="Söhne"/>
              </a:rPr>
              <a:t>White Box Testing:</a:t>
            </a:r>
            <a:r>
              <a:rPr lang="en-US" b="0" i="0" dirty="0">
                <a:solidFill>
                  <a:srgbClr val="D1D5DB"/>
                </a:solidFill>
                <a:effectLst/>
                <a:latin typeface="Söhne"/>
              </a:rPr>
              <a:t> White box testing is a testing method that examines the internal structure and logic of a software application. Testers design test cases based on their knowledge of the code to ensure that all code paths are tested.</a:t>
            </a:r>
          </a:p>
          <a:p>
            <a:pPr algn="l"/>
            <a:endParaRPr lang="en-US" b="0" i="0" dirty="0">
              <a:solidFill>
                <a:srgbClr val="D1D5DB"/>
              </a:solidFill>
              <a:effectLst/>
              <a:latin typeface="Söhne"/>
            </a:endParaRPr>
          </a:p>
          <a:p>
            <a:pPr algn="l"/>
            <a:r>
              <a:rPr lang="en-US" b="1" i="0" dirty="0">
                <a:solidFill>
                  <a:srgbClr val="D1D5DB"/>
                </a:solidFill>
                <a:effectLst/>
                <a:latin typeface="Söhne"/>
              </a:rPr>
              <a:t>Unit Testing:</a:t>
            </a:r>
            <a:r>
              <a:rPr lang="en-US" b="0" i="0" dirty="0">
                <a:solidFill>
                  <a:srgbClr val="D1D5DB"/>
                </a:solidFill>
                <a:effectLst/>
                <a:latin typeface="Söhne"/>
              </a:rPr>
              <a:t> Unit testing is a type of white box testing that focuses on testing individual units or components of a software application, such as functions or methods, in isolation.</a:t>
            </a:r>
          </a:p>
          <a:p>
            <a:endParaRPr lang="en-US" dirty="0"/>
          </a:p>
        </p:txBody>
      </p:sp>
    </p:spTree>
    <p:extLst>
      <p:ext uri="{BB962C8B-B14F-4D97-AF65-F5344CB8AC3E}">
        <p14:creationId xmlns:p14="http://schemas.microsoft.com/office/powerpoint/2010/main" val="214889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6459D-580D-4349-5E4C-A7F804DF66DE}"/>
              </a:ext>
            </a:extLst>
          </p:cNvPr>
          <p:cNvSpPr>
            <a:spLocks noGrp="1"/>
          </p:cNvSpPr>
          <p:nvPr>
            <p:ph type="title"/>
          </p:nvPr>
        </p:nvSpPr>
        <p:spPr/>
        <p:txBody>
          <a:bodyPr/>
          <a:lstStyle/>
          <a:p>
            <a:r>
              <a:rPr lang="en-US" b="1" i="0" dirty="0">
                <a:effectLst/>
                <a:latin typeface="Söhne"/>
              </a:rPr>
              <a:t>Alpha vs. Beta Testing</a:t>
            </a:r>
            <a:br>
              <a:rPr lang="en-US" b="1" i="0" dirty="0">
                <a:effectLst/>
                <a:latin typeface="Söhne"/>
              </a:rPr>
            </a:br>
            <a:endParaRPr lang="en-US" dirty="0"/>
          </a:p>
        </p:txBody>
      </p:sp>
      <p:sp>
        <p:nvSpPr>
          <p:cNvPr id="3" name="Content Placeholder 2">
            <a:extLst>
              <a:ext uri="{FF2B5EF4-FFF2-40B4-BE49-F238E27FC236}">
                <a16:creationId xmlns:a16="http://schemas.microsoft.com/office/drawing/2014/main" id="{5EF3AAAE-4570-1B00-DCEB-D6D21593B808}"/>
              </a:ext>
            </a:extLst>
          </p:cNvPr>
          <p:cNvSpPr>
            <a:spLocks noGrp="1"/>
          </p:cNvSpPr>
          <p:nvPr>
            <p:ph idx="1"/>
          </p:nvPr>
        </p:nvSpPr>
        <p:spPr/>
        <p:txBody>
          <a:bodyPr/>
          <a:lstStyle/>
          <a:p>
            <a:pPr algn="l"/>
            <a:r>
              <a:rPr lang="en-US" b="1" i="0" dirty="0">
                <a:solidFill>
                  <a:srgbClr val="D1D5DB"/>
                </a:solidFill>
                <a:effectLst/>
                <a:latin typeface="Söhne"/>
              </a:rPr>
              <a:t>Alpha Testing:</a:t>
            </a:r>
            <a:r>
              <a:rPr lang="en-US" b="0" i="0" dirty="0">
                <a:solidFill>
                  <a:srgbClr val="D1D5DB"/>
                </a:solidFill>
                <a:effectLst/>
                <a:latin typeface="Söhne"/>
              </a:rPr>
              <a:t> Alpha testing is the initial testing phase where a software application is tested internally by the development team or a select group of testers. It is typically conducted before beta testing and helps identify major issues.</a:t>
            </a:r>
          </a:p>
          <a:p>
            <a:pPr marL="0" indent="0" algn="l">
              <a:buNone/>
            </a:pPr>
            <a:endParaRPr lang="en-US" b="0" i="0" dirty="0">
              <a:solidFill>
                <a:srgbClr val="D1D5DB"/>
              </a:solidFill>
              <a:effectLst/>
              <a:latin typeface="Söhne"/>
            </a:endParaRPr>
          </a:p>
          <a:p>
            <a:pPr algn="l"/>
            <a:r>
              <a:rPr lang="en-US" b="1" i="0" dirty="0">
                <a:solidFill>
                  <a:srgbClr val="D1D5DB"/>
                </a:solidFill>
                <a:effectLst/>
                <a:latin typeface="Söhne"/>
              </a:rPr>
              <a:t>Beta Testing:</a:t>
            </a:r>
            <a:r>
              <a:rPr lang="en-US" b="0" i="0" dirty="0">
                <a:solidFill>
                  <a:srgbClr val="D1D5DB"/>
                </a:solidFill>
                <a:effectLst/>
                <a:latin typeface="Söhne"/>
              </a:rPr>
              <a:t> Beta testing is the second phase of testing where a software application is released to a limited group of external users. It aims to gather feedback and identify any issues in a real-world environment.</a:t>
            </a:r>
          </a:p>
          <a:p>
            <a:endParaRPr lang="en-US" dirty="0"/>
          </a:p>
        </p:txBody>
      </p:sp>
    </p:spTree>
    <p:extLst>
      <p:ext uri="{BB962C8B-B14F-4D97-AF65-F5344CB8AC3E}">
        <p14:creationId xmlns:p14="http://schemas.microsoft.com/office/powerpoint/2010/main" val="442180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8060-514D-572A-42C2-8446B921FC2D}"/>
              </a:ext>
            </a:extLst>
          </p:cNvPr>
          <p:cNvSpPr>
            <a:spLocks noGrp="1"/>
          </p:cNvSpPr>
          <p:nvPr>
            <p:ph type="title"/>
          </p:nvPr>
        </p:nvSpPr>
        <p:spPr/>
        <p:txBody>
          <a:bodyPr/>
          <a:lstStyle/>
          <a:p>
            <a:r>
              <a:rPr lang="en-US" b="1" i="0" dirty="0">
                <a:effectLst/>
                <a:latin typeface="Söhne"/>
              </a:rPr>
              <a:t>Alpha Testing:</a:t>
            </a:r>
            <a:br>
              <a:rPr lang="en-US" b="1" i="0" dirty="0">
                <a:effectLst/>
                <a:latin typeface="Söhne"/>
              </a:rPr>
            </a:br>
            <a:endParaRPr lang="en-US" dirty="0"/>
          </a:p>
        </p:txBody>
      </p:sp>
      <p:sp>
        <p:nvSpPr>
          <p:cNvPr id="3" name="Content Placeholder 2">
            <a:extLst>
              <a:ext uri="{FF2B5EF4-FFF2-40B4-BE49-F238E27FC236}">
                <a16:creationId xmlns:a16="http://schemas.microsoft.com/office/drawing/2014/main" id="{D9DE95EA-F7BF-E7C6-C232-3AD2E4312AEC}"/>
              </a:ext>
            </a:extLst>
          </p:cNvPr>
          <p:cNvSpPr>
            <a:spLocks noGrp="1"/>
          </p:cNvSpPr>
          <p:nvPr>
            <p:ph idx="1"/>
          </p:nvPr>
        </p:nvSpPr>
        <p:spPr/>
        <p:txBody>
          <a:bodyPr>
            <a:normAutofit fontScale="62500" lnSpcReduction="20000"/>
          </a:bodyPr>
          <a:lstStyle/>
          <a:p>
            <a:pPr algn="l"/>
            <a:r>
              <a:rPr lang="en-US" b="1" i="0" dirty="0">
                <a:solidFill>
                  <a:srgbClr val="D1D5DB"/>
                </a:solidFill>
                <a:effectLst/>
                <a:latin typeface="Söhne"/>
              </a:rPr>
              <a:t>Purpose:</a:t>
            </a:r>
            <a:r>
              <a:rPr lang="en-US" b="0" i="0" dirty="0">
                <a:solidFill>
                  <a:srgbClr val="D1D5DB"/>
                </a:solidFill>
                <a:effectLst/>
                <a:latin typeface="Söhne"/>
              </a:rPr>
              <a:t> Alpha testing is the first phase of testing conducted on a software application, typically performed by the internal development team or a group of selected testers. Its primary purpose is to identify and resolve issues within the software before it is released to a wider audience.</a:t>
            </a:r>
          </a:p>
          <a:p>
            <a:pPr algn="l"/>
            <a:endParaRPr lang="en-US" b="0" i="0" dirty="0">
              <a:solidFill>
                <a:srgbClr val="D1D5DB"/>
              </a:solidFill>
              <a:effectLst/>
              <a:latin typeface="Söhne"/>
            </a:endParaRPr>
          </a:p>
          <a:p>
            <a:pPr algn="l"/>
            <a:r>
              <a:rPr lang="en-US" b="1" i="0" dirty="0">
                <a:solidFill>
                  <a:srgbClr val="D1D5DB"/>
                </a:solidFill>
                <a:effectLst/>
                <a:latin typeface="Söhne"/>
              </a:rPr>
              <a:t>Platform:</a:t>
            </a:r>
            <a:r>
              <a:rPr lang="en-US" b="0" i="0" dirty="0">
                <a:solidFill>
                  <a:srgbClr val="D1D5DB"/>
                </a:solidFill>
                <a:effectLst/>
                <a:latin typeface="Söhne"/>
              </a:rPr>
              <a:t> Alpha testing is usually conducted on a controlled and isolated environment. It often takes place in-house, within the development organization's premises. The software is tested in a controlled and monitored setting, which may not necessarily resemble the real-world conditions in which the software will eventually be used.</a:t>
            </a:r>
          </a:p>
          <a:p>
            <a:pPr algn="l"/>
            <a:endParaRPr lang="en-US" b="0" i="0" dirty="0">
              <a:solidFill>
                <a:srgbClr val="D1D5DB"/>
              </a:solidFill>
              <a:effectLst/>
              <a:latin typeface="Söhne"/>
            </a:endParaRPr>
          </a:p>
          <a:p>
            <a:pPr algn="l"/>
            <a:r>
              <a:rPr lang="en-US" b="1" i="0" dirty="0">
                <a:solidFill>
                  <a:srgbClr val="D1D5DB"/>
                </a:solidFill>
                <a:effectLst/>
                <a:latin typeface="Söhne"/>
              </a:rPr>
              <a:t>Performed By:</a:t>
            </a:r>
            <a:r>
              <a:rPr lang="en-US" b="0" i="0" dirty="0">
                <a:solidFill>
                  <a:srgbClr val="D1D5DB"/>
                </a:solidFill>
                <a:effectLst/>
                <a:latin typeface="Söhne"/>
              </a:rPr>
              <a:t> Alpha testing is performed by the software development team or a group of dedicated testers who have a deep understanding of the software's design and functionality. These testers can include developers, quality assurance (QA) engineers, or a specialized alpha testing team.</a:t>
            </a:r>
          </a:p>
          <a:p>
            <a:pPr algn="l"/>
            <a:endParaRPr lang="en-US" b="0" i="0" dirty="0">
              <a:solidFill>
                <a:srgbClr val="D1D5DB"/>
              </a:solidFill>
              <a:effectLst/>
              <a:latin typeface="Söhne"/>
            </a:endParaRPr>
          </a:p>
          <a:p>
            <a:pPr algn="l"/>
            <a:r>
              <a:rPr lang="en-US" b="1" i="0" dirty="0">
                <a:solidFill>
                  <a:srgbClr val="D1D5DB"/>
                </a:solidFill>
                <a:effectLst/>
                <a:latin typeface="Söhne"/>
              </a:rPr>
              <a:t>Characteristics:</a:t>
            </a:r>
            <a:r>
              <a:rPr lang="en-US" b="0" i="0" dirty="0">
                <a:solidFill>
                  <a:srgbClr val="D1D5DB"/>
                </a:solidFill>
                <a:effectLst/>
                <a:latin typeface="Söhne"/>
              </a:rPr>
              <a:t> Alpha testing focuses on identifying major issues, functional defects, and usability problems. It involves testing various aspects of the software, including functionality, stability, and performance. Feedback gathered during alpha testing is used to make improvements and fixes.</a:t>
            </a:r>
          </a:p>
          <a:p>
            <a:endParaRPr lang="en-US" dirty="0"/>
          </a:p>
        </p:txBody>
      </p:sp>
    </p:spTree>
    <p:extLst>
      <p:ext uri="{BB962C8B-B14F-4D97-AF65-F5344CB8AC3E}">
        <p14:creationId xmlns:p14="http://schemas.microsoft.com/office/powerpoint/2010/main" val="7408138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4134F-C329-2105-D385-093796D10373}"/>
              </a:ext>
            </a:extLst>
          </p:cNvPr>
          <p:cNvSpPr>
            <a:spLocks noGrp="1"/>
          </p:cNvSpPr>
          <p:nvPr>
            <p:ph type="title"/>
          </p:nvPr>
        </p:nvSpPr>
        <p:spPr/>
        <p:txBody>
          <a:bodyPr/>
          <a:lstStyle/>
          <a:p>
            <a:r>
              <a:rPr lang="en-US" b="1" i="0" dirty="0">
                <a:effectLst/>
                <a:latin typeface="Söhne"/>
              </a:rPr>
              <a:t>Beta Testing:</a:t>
            </a:r>
            <a:br>
              <a:rPr lang="en-US" b="1" i="0" dirty="0">
                <a:effectLst/>
                <a:latin typeface="Söhne"/>
              </a:rPr>
            </a:br>
            <a:endParaRPr lang="en-US" dirty="0"/>
          </a:p>
        </p:txBody>
      </p:sp>
      <p:sp>
        <p:nvSpPr>
          <p:cNvPr id="3" name="Content Placeholder 2">
            <a:extLst>
              <a:ext uri="{FF2B5EF4-FFF2-40B4-BE49-F238E27FC236}">
                <a16:creationId xmlns:a16="http://schemas.microsoft.com/office/drawing/2014/main" id="{7151082D-2B2A-E336-E208-4FA956ABF620}"/>
              </a:ext>
            </a:extLst>
          </p:cNvPr>
          <p:cNvSpPr>
            <a:spLocks noGrp="1"/>
          </p:cNvSpPr>
          <p:nvPr>
            <p:ph idx="1"/>
          </p:nvPr>
        </p:nvSpPr>
        <p:spPr/>
        <p:txBody>
          <a:bodyPr>
            <a:normAutofit fontScale="62500" lnSpcReduction="20000"/>
          </a:bodyPr>
          <a:lstStyle/>
          <a:p>
            <a:pPr algn="l"/>
            <a:r>
              <a:rPr lang="en-US" b="1" i="0" dirty="0">
                <a:solidFill>
                  <a:srgbClr val="D1D5DB"/>
                </a:solidFill>
                <a:effectLst/>
                <a:latin typeface="Söhne"/>
              </a:rPr>
              <a:t>Purpose:</a:t>
            </a:r>
            <a:r>
              <a:rPr lang="en-US" b="0" i="0" dirty="0">
                <a:solidFill>
                  <a:srgbClr val="D1D5DB"/>
                </a:solidFill>
                <a:effectLst/>
                <a:latin typeface="Söhne"/>
              </a:rPr>
              <a:t> Beta testing is the second phase of testing, following alpha testing. It is conducted on a larger scale, involving external users who are not part of the development team. The primary purpose of beta testing is to gather real-world user feedback, uncover usability issues, and identify potential problems in diverse environments.</a:t>
            </a:r>
          </a:p>
          <a:p>
            <a:pPr algn="l"/>
            <a:endParaRPr lang="en-US" b="0" i="0" dirty="0">
              <a:solidFill>
                <a:srgbClr val="D1D5DB"/>
              </a:solidFill>
              <a:effectLst/>
              <a:latin typeface="Söhne"/>
            </a:endParaRPr>
          </a:p>
          <a:p>
            <a:pPr algn="l"/>
            <a:r>
              <a:rPr lang="en-US" b="1" i="0" dirty="0">
                <a:solidFill>
                  <a:srgbClr val="D1D5DB"/>
                </a:solidFill>
                <a:effectLst/>
                <a:latin typeface="Söhne"/>
              </a:rPr>
              <a:t>Platform:</a:t>
            </a:r>
            <a:r>
              <a:rPr lang="en-US" b="0" i="0" dirty="0">
                <a:solidFill>
                  <a:srgbClr val="D1D5DB"/>
                </a:solidFill>
                <a:effectLst/>
                <a:latin typeface="Söhne"/>
              </a:rPr>
              <a:t> Beta testing is typically performed on a more diverse and widespread platform. The software is released to a limited number of external users who install and use it on their own devices, representing the actual environment in which the software will be used.</a:t>
            </a:r>
          </a:p>
          <a:p>
            <a:pPr algn="l"/>
            <a:endParaRPr lang="en-US" b="0" i="0" dirty="0">
              <a:solidFill>
                <a:srgbClr val="D1D5DB"/>
              </a:solidFill>
              <a:effectLst/>
              <a:latin typeface="Söhne"/>
            </a:endParaRPr>
          </a:p>
          <a:p>
            <a:pPr algn="l"/>
            <a:r>
              <a:rPr lang="en-US" b="1" i="0" dirty="0">
                <a:solidFill>
                  <a:srgbClr val="D1D5DB"/>
                </a:solidFill>
                <a:effectLst/>
                <a:latin typeface="Söhne"/>
              </a:rPr>
              <a:t>Performed By:</a:t>
            </a:r>
            <a:r>
              <a:rPr lang="en-US" b="0" i="0" dirty="0">
                <a:solidFill>
                  <a:srgbClr val="D1D5DB"/>
                </a:solidFill>
                <a:effectLst/>
                <a:latin typeface="Söhne"/>
              </a:rPr>
              <a:t> Beta testing involves external users or a selected group of customers who have volunteered or been invited to participate. These users come from various backgrounds and may use the software in different ways.</a:t>
            </a:r>
          </a:p>
          <a:p>
            <a:pPr algn="l"/>
            <a:endParaRPr lang="en-US" b="0" i="0" dirty="0">
              <a:solidFill>
                <a:srgbClr val="D1D5DB"/>
              </a:solidFill>
              <a:effectLst/>
              <a:latin typeface="Söhne"/>
            </a:endParaRPr>
          </a:p>
          <a:p>
            <a:pPr algn="l"/>
            <a:r>
              <a:rPr lang="en-US" b="1" i="0" dirty="0">
                <a:solidFill>
                  <a:srgbClr val="D1D5DB"/>
                </a:solidFill>
                <a:effectLst/>
                <a:latin typeface="Söhne"/>
              </a:rPr>
              <a:t>Characteristics:</a:t>
            </a:r>
            <a:r>
              <a:rPr lang="en-US" b="0" i="0" dirty="0">
                <a:solidFill>
                  <a:srgbClr val="D1D5DB"/>
                </a:solidFill>
                <a:effectLst/>
                <a:latin typeface="Söhne"/>
              </a:rPr>
              <a:t> Beta testing focuses on gathering feedback on the software's usability, user experience, and real-world performance. It aims to uncover issues that may not have been apparent during alpha testing, including compatibility problems with different hardware configurations, operating systems, or usage patterns.</a:t>
            </a:r>
          </a:p>
          <a:p>
            <a:endParaRPr lang="en-US" dirty="0"/>
          </a:p>
        </p:txBody>
      </p:sp>
    </p:spTree>
    <p:extLst>
      <p:ext uri="{BB962C8B-B14F-4D97-AF65-F5344CB8AC3E}">
        <p14:creationId xmlns:p14="http://schemas.microsoft.com/office/powerpoint/2010/main" val="25405220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2E83-38D5-9E08-0D2E-B0E274A8C62F}"/>
              </a:ext>
            </a:extLst>
          </p:cNvPr>
          <p:cNvSpPr>
            <a:spLocks noGrp="1"/>
          </p:cNvSpPr>
          <p:nvPr>
            <p:ph type="title"/>
          </p:nvPr>
        </p:nvSpPr>
        <p:spPr/>
        <p:txBody>
          <a:bodyPr/>
          <a:lstStyle/>
          <a:p>
            <a:r>
              <a:rPr lang="en-US" b="1" i="0" dirty="0">
                <a:effectLst/>
                <a:latin typeface="Söhne"/>
              </a:rPr>
              <a:t>Integration Testing</a:t>
            </a:r>
            <a:endParaRPr lang="en-US" dirty="0"/>
          </a:p>
        </p:txBody>
      </p:sp>
      <p:sp>
        <p:nvSpPr>
          <p:cNvPr id="3" name="Content Placeholder 2">
            <a:extLst>
              <a:ext uri="{FF2B5EF4-FFF2-40B4-BE49-F238E27FC236}">
                <a16:creationId xmlns:a16="http://schemas.microsoft.com/office/drawing/2014/main" id="{E1D40D00-CBE9-7311-CA7A-97EF88CBD841}"/>
              </a:ext>
            </a:extLst>
          </p:cNvPr>
          <p:cNvSpPr>
            <a:spLocks noGrp="1"/>
          </p:cNvSpPr>
          <p:nvPr>
            <p:ph idx="1"/>
          </p:nvPr>
        </p:nvSpPr>
        <p:spPr/>
        <p:txBody>
          <a:bodyPr/>
          <a:lstStyle/>
          <a:p>
            <a:r>
              <a:rPr lang="en-US" b="1" i="0" dirty="0">
                <a:effectLst/>
                <a:latin typeface="Söhne"/>
              </a:rPr>
              <a:t>Integration Testing:</a:t>
            </a:r>
            <a:r>
              <a:rPr lang="en-US" b="0" i="0" dirty="0">
                <a:solidFill>
                  <a:srgbClr val="D1D5DB"/>
                </a:solidFill>
                <a:effectLst/>
                <a:latin typeface="Söhne"/>
              </a:rPr>
              <a:t> Integration testing is a testing method that assesses how different components or modules of a software application work together. It verifies that integrated components interact as expected.</a:t>
            </a:r>
            <a:endParaRPr lang="en-US" dirty="0"/>
          </a:p>
        </p:txBody>
      </p:sp>
    </p:spTree>
    <p:extLst>
      <p:ext uri="{BB962C8B-B14F-4D97-AF65-F5344CB8AC3E}">
        <p14:creationId xmlns:p14="http://schemas.microsoft.com/office/powerpoint/2010/main" val="2954225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011F7-6C1E-2094-25EB-08CE4FC7D8DA}"/>
              </a:ext>
            </a:extLst>
          </p:cNvPr>
          <p:cNvSpPr>
            <a:spLocks noGrp="1"/>
          </p:cNvSpPr>
          <p:nvPr>
            <p:ph type="title"/>
          </p:nvPr>
        </p:nvSpPr>
        <p:spPr/>
        <p:txBody>
          <a:bodyPr/>
          <a:lstStyle/>
          <a:p>
            <a:r>
              <a:rPr lang="en-US" b="1" i="0" dirty="0">
                <a:effectLst/>
                <a:latin typeface="Söhne"/>
              </a:rPr>
              <a:t>Stubs and Drivers in Integration Testing</a:t>
            </a:r>
            <a:endParaRPr lang="en-US" dirty="0"/>
          </a:p>
        </p:txBody>
      </p:sp>
      <p:sp>
        <p:nvSpPr>
          <p:cNvPr id="3" name="Content Placeholder 2">
            <a:extLst>
              <a:ext uri="{FF2B5EF4-FFF2-40B4-BE49-F238E27FC236}">
                <a16:creationId xmlns:a16="http://schemas.microsoft.com/office/drawing/2014/main" id="{41FE6961-2ACC-B3EF-637B-DFFAE85591B6}"/>
              </a:ext>
            </a:extLst>
          </p:cNvPr>
          <p:cNvSpPr>
            <a:spLocks noGrp="1"/>
          </p:cNvSpPr>
          <p:nvPr>
            <p:ph idx="1"/>
          </p:nvPr>
        </p:nvSpPr>
        <p:spPr/>
        <p:txBody>
          <a:bodyPr/>
          <a:lstStyle/>
          <a:p>
            <a:r>
              <a:rPr lang="en-US" b="0" i="0" dirty="0">
                <a:solidFill>
                  <a:srgbClr val="D1D5DB"/>
                </a:solidFill>
                <a:effectLst/>
                <a:latin typeface="Söhne"/>
              </a:rPr>
              <a:t>"Stubs" and "Drivers" are terms often used in the context of integration testing, especially when discussing the top-down and bottom-up approaches to integration testing. These terms are used to describe the components or modules that are temporarily introduced to facilitate the testing of other components or modules.</a:t>
            </a:r>
            <a:endParaRPr lang="en-US" dirty="0"/>
          </a:p>
        </p:txBody>
      </p:sp>
    </p:spTree>
    <p:extLst>
      <p:ext uri="{BB962C8B-B14F-4D97-AF65-F5344CB8AC3E}">
        <p14:creationId xmlns:p14="http://schemas.microsoft.com/office/powerpoint/2010/main" val="2834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6BD43-5CFF-5175-057F-38F712D1AE68}"/>
              </a:ext>
            </a:extLst>
          </p:cNvPr>
          <p:cNvSpPr>
            <a:spLocks noGrp="1"/>
          </p:cNvSpPr>
          <p:nvPr>
            <p:ph type="title"/>
          </p:nvPr>
        </p:nvSpPr>
        <p:spPr/>
        <p:txBody>
          <a:bodyPr/>
          <a:lstStyle/>
          <a:p>
            <a:r>
              <a:rPr lang="en-US" b="1" dirty="0"/>
              <a:t>Stubs and Drivers continue…</a:t>
            </a:r>
          </a:p>
        </p:txBody>
      </p:sp>
      <p:sp>
        <p:nvSpPr>
          <p:cNvPr id="3" name="Content Placeholder 2">
            <a:extLst>
              <a:ext uri="{FF2B5EF4-FFF2-40B4-BE49-F238E27FC236}">
                <a16:creationId xmlns:a16="http://schemas.microsoft.com/office/drawing/2014/main" id="{F1ED3515-E5A3-CE4F-6F98-2B6015790B02}"/>
              </a:ext>
            </a:extLst>
          </p:cNvPr>
          <p:cNvSpPr>
            <a:spLocks noGrp="1"/>
          </p:cNvSpPr>
          <p:nvPr>
            <p:ph idx="1"/>
          </p:nvPr>
        </p:nvSpPr>
        <p:spPr/>
        <p:txBody>
          <a:bodyPr>
            <a:normAutofit fontScale="85000" lnSpcReduction="20000"/>
          </a:bodyPr>
          <a:lstStyle/>
          <a:p>
            <a:pPr algn="l">
              <a:buFont typeface="+mj-lt"/>
              <a:buAutoNum type="arabicPeriod"/>
            </a:pPr>
            <a:r>
              <a:rPr lang="en-US" b="1" i="0" dirty="0">
                <a:solidFill>
                  <a:srgbClr val="D1D5DB"/>
                </a:solidFill>
                <a:effectLst/>
                <a:latin typeface="Söhne"/>
              </a:rPr>
              <a:t>Subs (Subsystems):</a:t>
            </a:r>
            <a:r>
              <a:rPr lang="en-US" b="0" i="0" dirty="0">
                <a:solidFill>
                  <a:srgbClr val="D1D5DB"/>
                </a:solidFill>
                <a:effectLst/>
                <a:latin typeface="Söhne"/>
              </a:rPr>
              <a:t> In integration testing, a "sub" or "subsystem" is a module or component that is under development or not yet completed. To test a component that depends on these incomplete or missing modules, placeholder "subs" are created. These subs simulate the behavior of the actual modules by providing the necessary input and producing expected output. Subs are used when the real modules are not available or ready for testing.</a:t>
            </a:r>
          </a:p>
          <a:p>
            <a:pPr algn="l">
              <a:buFont typeface="+mj-lt"/>
              <a:buAutoNum type="arabicPeriod"/>
            </a:pP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Drivers:</a:t>
            </a:r>
            <a:r>
              <a:rPr lang="en-US" b="0" i="0" dirty="0">
                <a:solidFill>
                  <a:srgbClr val="D1D5DB"/>
                </a:solidFill>
                <a:effectLst/>
                <a:latin typeface="Söhne"/>
              </a:rPr>
              <a:t> Drivers are also used in integration testing, but they serve a different purpose. A "driver" is a module or component that interacts with the component being tested. It provides input to the component being tested and stimulates its behavior. Drivers are typically used to test a component when its dependent components are not yet developed or integrated. Drivers help ensure that the component being tested functions correctly when connected to other components.</a:t>
            </a:r>
          </a:p>
          <a:p>
            <a:endParaRPr lang="en-US" dirty="0"/>
          </a:p>
        </p:txBody>
      </p:sp>
    </p:spTree>
    <p:extLst>
      <p:ext uri="{BB962C8B-B14F-4D97-AF65-F5344CB8AC3E}">
        <p14:creationId xmlns:p14="http://schemas.microsoft.com/office/powerpoint/2010/main" val="30556946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067B3-631D-4F39-3FA5-A83772F22E98}"/>
              </a:ext>
            </a:extLst>
          </p:cNvPr>
          <p:cNvSpPr>
            <a:spLocks noGrp="1"/>
          </p:cNvSpPr>
          <p:nvPr>
            <p:ph type="title"/>
          </p:nvPr>
        </p:nvSpPr>
        <p:spPr/>
        <p:txBody>
          <a:bodyPr/>
          <a:lstStyle/>
          <a:p>
            <a:r>
              <a:rPr lang="en-US" b="1" dirty="0"/>
              <a:t>Latent Defect</a:t>
            </a:r>
          </a:p>
        </p:txBody>
      </p:sp>
      <p:sp>
        <p:nvSpPr>
          <p:cNvPr id="3" name="Content Placeholder 2">
            <a:extLst>
              <a:ext uri="{FF2B5EF4-FFF2-40B4-BE49-F238E27FC236}">
                <a16:creationId xmlns:a16="http://schemas.microsoft.com/office/drawing/2014/main" id="{11EEFF76-6827-8F23-AFE6-575BBF0E34B4}"/>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US" b="0" i="0" dirty="0">
                <a:solidFill>
                  <a:srgbClr val="D1D5DB"/>
                </a:solidFill>
                <a:effectLst/>
                <a:latin typeface="Söhne"/>
              </a:rPr>
              <a:t>A latent defect is a type of defect or flaw that is present in a product or system but remains hidden or dormant for a certain period of time.</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These defects are not immediately apparent or detectable during the initial inspection or testing.</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Latent defects may become apparent only after a certain period of use, environmental conditions change, or specific circumstances occur that trigger their manifestation.</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They can be problematic because they often lead to unexpected failures or issues long after the product has been delivered or the process has been implemented.</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Latent defects can be challenging to detect and address proactively, making them a concern for quality assurance and warranty management.</a:t>
            </a:r>
          </a:p>
          <a:p>
            <a:endParaRPr lang="en-US" dirty="0"/>
          </a:p>
        </p:txBody>
      </p:sp>
    </p:spTree>
    <p:extLst>
      <p:ext uri="{BB962C8B-B14F-4D97-AF65-F5344CB8AC3E}">
        <p14:creationId xmlns:p14="http://schemas.microsoft.com/office/powerpoint/2010/main" val="10575373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A3737-473C-D17A-4495-5D13CB5C19CF}"/>
              </a:ext>
            </a:extLst>
          </p:cNvPr>
          <p:cNvSpPr>
            <a:spLocks noGrp="1"/>
          </p:cNvSpPr>
          <p:nvPr>
            <p:ph type="title"/>
          </p:nvPr>
        </p:nvSpPr>
        <p:spPr/>
        <p:txBody>
          <a:bodyPr/>
          <a:lstStyle/>
          <a:p>
            <a:r>
              <a:rPr lang="en-US" b="1" dirty="0"/>
              <a:t>Masked Defect</a:t>
            </a:r>
          </a:p>
        </p:txBody>
      </p:sp>
      <p:sp>
        <p:nvSpPr>
          <p:cNvPr id="3" name="Content Placeholder 2">
            <a:extLst>
              <a:ext uri="{FF2B5EF4-FFF2-40B4-BE49-F238E27FC236}">
                <a16:creationId xmlns:a16="http://schemas.microsoft.com/office/drawing/2014/main" id="{A1885229-0324-AAC2-988A-F122C75EF4FB}"/>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US" b="0" i="0" dirty="0">
                <a:solidFill>
                  <a:srgbClr val="D1D5DB"/>
                </a:solidFill>
                <a:effectLst/>
                <a:latin typeface="Söhne"/>
              </a:rPr>
              <a:t>A masked defect is a defect that is hidden or overshadowed by another defect or issue that is more obvious or easier to detect.</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In the presence of a more prominent defect, a masked defect may go unnoticed because the focus is on addressing the primary issue.</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Masked defects can sometimes be revealed when the primary defect is corrected, and the masked defect becomes the new focus of attention.</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Identifying masked defects requires thorough and systematic inspection and testing to ensure that secondary or less apparent issues are not overlooked.</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These defects can be especially problematic because addressing the primary defect alone may not completely resolve the underlying quality issue.</a:t>
            </a:r>
          </a:p>
          <a:p>
            <a:endParaRPr lang="en-US" dirty="0"/>
          </a:p>
        </p:txBody>
      </p:sp>
    </p:spTree>
    <p:extLst>
      <p:ext uri="{BB962C8B-B14F-4D97-AF65-F5344CB8AC3E}">
        <p14:creationId xmlns:p14="http://schemas.microsoft.com/office/powerpoint/2010/main" val="5756629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ECA26-8F1B-BC9A-F795-D55731B2AD31}"/>
              </a:ext>
            </a:extLst>
          </p:cNvPr>
          <p:cNvSpPr>
            <a:spLocks noGrp="1"/>
          </p:cNvSpPr>
          <p:nvPr>
            <p:ph type="title"/>
          </p:nvPr>
        </p:nvSpPr>
        <p:spPr/>
        <p:txBody>
          <a:bodyPr/>
          <a:lstStyle/>
          <a:p>
            <a:r>
              <a:rPr lang="en-US" b="1" dirty="0"/>
              <a:t>Defect Rejection Ratio</a:t>
            </a:r>
          </a:p>
        </p:txBody>
      </p:sp>
      <p:sp>
        <p:nvSpPr>
          <p:cNvPr id="3" name="Content Placeholder 2">
            <a:extLst>
              <a:ext uri="{FF2B5EF4-FFF2-40B4-BE49-F238E27FC236}">
                <a16:creationId xmlns:a16="http://schemas.microsoft.com/office/drawing/2014/main" id="{208CEFB8-3C25-7034-8D71-7ED8BE83C8DC}"/>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US" b="0" i="0" dirty="0">
                <a:solidFill>
                  <a:srgbClr val="D1D5DB"/>
                </a:solidFill>
                <a:effectLst/>
                <a:latin typeface="Söhne"/>
              </a:rPr>
              <a:t>The Defect Reject Ratio, also known as the Defect Rejection Rate, measures the proportion of identified defects or issues that are rejected by the testing team or quality control process during the testing phase.</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It is typically expressed as a percentage and is calculated using the following formula:</a:t>
            </a:r>
          </a:p>
          <a:p>
            <a:pPr algn="l">
              <a:buFont typeface="Arial" panose="020B0604020202020204" pitchFamily="34" charset="0"/>
              <a:buChar char="•"/>
            </a:pPr>
            <a:r>
              <a:rPr lang="en-US" b="0" i="0" dirty="0">
                <a:solidFill>
                  <a:srgbClr val="D1D5DB"/>
                </a:solidFill>
                <a:effectLst/>
                <a:latin typeface="Söhne"/>
              </a:rPr>
              <a:t>Defect Reject Ratio (%) = (Number of Rejected Defects / Total Number of Identified Defects) x 100</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 high Defect Reject Ratio indicates that many of the defects identified during testing are considered valid and require fixing by the development team. This could indicate that the initial testing process is stringent and rejects issues effectively.</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Conversely, a low Defect Reject Ratio may suggest that the testing process is not thorough enough, allowing many issues to pass through to the next phases, such as production, where they can become more costly to fix.</a:t>
            </a:r>
          </a:p>
          <a:p>
            <a:endParaRPr lang="en-US" dirty="0"/>
          </a:p>
        </p:txBody>
      </p:sp>
    </p:spTree>
    <p:extLst>
      <p:ext uri="{BB962C8B-B14F-4D97-AF65-F5344CB8AC3E}">
        <p14:creationId xmlns:p14="http://schemas.microsoft.com/office/powerpoint/2010/main" val="2456217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53006-06FE-2BDA-A0E7-319D167E1D0D}"/>
              </a:ext>
            </a:extLst>
          </p:cNvPr>
          <p:cNvSpPr>
            <a:spLocks noGrp="1"/>
          </p:cNvSpPr>
          <p:nvPr>
            <p:ph type="title"/>
          </p:nvPr>
        </p:nvSpPr>
        <p:spPr/>
        <p:txBody>
          <a:bodyPr/>
          <a:lstStyle/>
          <a:p>
            <a:r>
              <a:rPr lang="en-US" b="1" dirty="0"/>
              <a:t>Defect Leakage Ratio	</a:t>
            </a:r>
          </a:p>
        </p:txBody>
      </p:sp>
      <p:sp>
        <p:nvSpPr>
          <p:cNvPr id="3" name="Content Placeholder 2">
            <a:extLst>
              <a:ext uri="{FF2B5EF4-FFF2-40B4-BE49-F238E27FC236}">
                <a16:creationId xmlns:a16="http://schemas.microsoft.com/office/drawing/2014/main" id="{9F9540C4-D3F3-6CEB-8F3D-549286A24453}"/>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US" b="0" i="0" dirty="0">
                <a:solidFill>
                  <a:srgbClr val="D1D5DB"/>
                </a:solidFill>
                <a:effectLst/>
                <a:latin typeface="Söhne"/>
              </a:rPr>
              <a:t>The Defect Leakage Ratio, also known as the Defect Escape Rate, measures the proportion of defects that were not detected during the testing phase and have subsequently made their way into the production environment or have been reported by customers after the software release.</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It is also expressed as a percentage and is calculated using the following formula:</a:t>
            </a:r>
          </a:p>
          <a:p>
            <a:pPr algn="l">
              <a:buFont typeface="Arial" panose="020B0604020202020204" pitchFamily="34" charset="0"/>
              <a:buChar char="•"/>
            </a:pPr>
            <a:r>
              <a:rPr lang="en-US" b="0" i="0" dirty="0">
                <a:solidFill>
                  <a:srgbClr val="D1D5DB"/>
                </a:solidFill>
                <a:effectLst/>
                <a:latin typeface="Söhne"/>
              </a:rPr>
              <a:t>Defect Leakage Ratio (%) = (Number of Defects Escaped to Production / Total Number of Defects Identified) x 100</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 high Defect Leakage Ratio indicates that a significant number of defects have escaped detection during testing, leading to post-release issues and customer complaints.</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 low Defect Leakage Ratio suggests that the testing process is effective in identifying and preventing defects from reaching the production environment, leading to higher software quality and customer satisfaction.</a:t>
            </a:r>
          </a:p>
          <a:p>
            <a:endParaRPr lang="en-US" dirty="0"/>
          </a:p>
        </p:txBody>
      </p:sp>
    </p:spTree>
    <p:extLst>
      <p:ext uri="{BB962C8B-B14F-4D97-AF65-F5344CB8AC3E}">
        <p14:creationId xmlns:p14="http://schemas.microsoft.com/office/powerpoint/2010/main" val="27276341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DF9E4-A66A-55B8-221A-DA2819ED3EA8}"/>
              </a:ext>
            </a:extLst>
          </p:cNvPr>
          <p:cNvSpPr>
            <a:spLocks noGrp="1"/>
          </p:cNvSpPr>
          <p:nvPr>
            <p:ph type="title"/>
          </p:nvPr>
        </p:nvSpPr>
        <p:spPr/>
        <p:txBody>
          <a:bodyPr/>
          <a:lstStyle/>
          <a:p>
            <a:r>
              <a:rPr lang="en-US" dirty="0"/>
              <a:t>Mutation Testing</a:t>
            </a:r>
            <a:br>
              <a:rPr lang="en-US" dirty="0"/>
            </a:br>
            <a:endParaRPr lang="en-US" dirty="0"/>
          </a:p>
        </p:txBody>
      </p:sp>
      <p:sp>
        <p:nvSpPr>
          <p:cNvPr id="3" name="Content Placeholder 2">
            <a:extLst>
              <a:ext uri="{FF2B5EF4-FFF2-40B4-BE49-F238E27FC236}">
                <a16:creationId xmlns:a16="http://schemas.microsoft.com/office/drawing/2014/main" id="{744C28D5-0241-B152-99D8-BD0DAC335E9E}"/>
              </a:ext>
            </a:extLst>
          </p:cNvPr>
          <p:cNvSpPr>
            <a:spLocks noGrp="1"/>
          </p:cNvSpPr>
          <p:nvPr>
            <p:ph idx="1"/>
          </p:nvPr>
        </p:nvSpPr>
        <p:spPr/>
        <p:txBody>
          <a:bodyPr/>
          <a:lstStyle/>
          <a:p>
            <a:r>
              <a:rPr lang="en-US" sz="1800" dirty="0">
                <a:effectLst/>
                <a:latin typeface="Source Sans Pro" panose="020B0503030403020204" pitchFamily="34" charset="0"/>
                <a:ea typeface="Times New Roman" panose="02020603050405020304" pitchFamily="18" charset="0"/>
                <a:cs typeface="Times New Roman" panose="02020603050405020304" pitchFamily="18" charset="0"/>
              </a:rPr>
              <a:t>Mutation testing is a technique to identify if a set of test data or test case is useful by intentionally introducing various code changes (bugs) and retesting with original test data/ cases to determine if the bugs are detected.</a:t>
            </a: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b="0" i="0" dirty="0">
                <a:solidFill>
                  <a:srgbClr val="2E95D3"/>
                </a:solidFill>
                <a:effectLst/>
                <a:latin typeface="Söhne Mono"/>
              </a:rPr>
              <a:t>def</a:t>
            </a:r>
            <a:r>
              <a:rPr lang="en-US" b="0" i="0" dirty="0">
                <a:solidFill>
                  <a:srgbClr val="FFFFFF"/>
                </a:solidFill>
                <a:effectLst/>
                <a:latin typeface="Söhne Mono"/>
              </a:rPr>
              <a:t> </a:t>
            </a:r>
            <a:r>
              <a:rPr lang="en-US" b="0" i="0" dirty="0">
                <a:solidFill>
                  <a:srgbClr val="F22C3D"/>
                </a:solidFill>
                <a:effectLst/>
                <a:latin typeface="Söhne Mono"/>
              </a:rPr>
              <a:t>factorial</a:t>
            </a:r>
            <a:r>
              <a:rPr lang="en-US" b="0" i="0" dirty="0">
                <a:solidFill>
                  <a:srgbClr val="FFFFFF"/>
                </a:solidFill>
                <a:effectLst/>
                <a:latin typeface="Söhne Mono"/>
              </a:rPr>
              <a:t>(n): 				</a:t>
            </a:r>
            <a:r>
              <a:rPr lang="en-US" b="0" i="0" dirty="0">
                <a:solidFill>
                  <a:srgbClr val="2E95D3"/>
                </a:solidFill>
                <a:effectLst/>
                <a:latin typeface="Söhne Mono"/>
              </a:rPr>
              <a:t>def</a:t>
            </a:r>
            <a:r>
              <a:rPr lang="en-US" b="0" i="0" dirty="0">
                <a:solidFill>
                  <a:srgbClr val="FFFFFF"/>
                </a:solidFill>
                <a:effectLst/>
                <a:latin typeface="Söhne Mono"/>
              </a:rPr>
              <a:t> </a:t>
            </a:r>
            <a:r>
              <a:rPr lang="en-US" b="0" i="0" dirty="0">
                <a:solidFill>
                  <a:srgbClr val="F22C3D"/>
                </a:solidFill>
                <a:effectLst/>
                <a:latin typeface="Söhne Mono"/>
              </a:rPr>
              <a:t>factorial</a:t>
            </a:r>
            <a:r>
              <a:rPr lang="en-US" b="0" i="0" dirty="0">
                <a:solidFill>
                  <a:srgbClr val="FFFFFF"/>
                </a:solidFill>
                <a:effectLst/>
                <a:latin typeface="Söhne Mono"/>
              </a:rPr>
              <a:t>(n): 			</a:t>
            </a:r>
          </a:p>
          <a:p>
            <a:pPr marL="457200" lvl="1" indent="0">
              <a:buNone/>
            </a:pPr>
            <a:r>
              <a:rPr lang="en-US" b="0" i="0" dirty="0">
                <a:solidFill>
                  <a:srgbClr val="2E95D3"/>
                </a:solidFill>
                <a:effectLst/>
                <a:latin typeface="Söhne Mono"/>
              </a:rPr>
              <a:t>if</a:t>
            </a:r>
            <a:r>
              <a:rPr lang="en-US" b="0" i="0" dirty="0">
                <a:solidFill>
                  <a:srgbClr val="FFFFFF"/>
                </a:solidFill>
                <a:effectLst/>
                <a:latin typeface="Söhne Mono"/>
              </a:rPr>
              <a:t> n == </a:t>
            </a:r>
            <a:r>
              <a:rPr lang="en-US" b="0" i="0" dirty="0">
                <a:solidFill>
                  <a:srgbClr val="DF3079"/>
                </a:solidFill>
                <a:effectLst/>
                <a:latin typeface="Söhne Mono"/>
              </a:rPr>
              <a:t>0</a:t>
            </a:r>
            <a:r>
              <a:rPr lang="en-US" b="0" i="0" dirty="0">
                <a:solidFill>
                  <a:srgbClr val="FFFFFF"/>
                </a:solidFill>
                <a:effectLst/>
                <a:latin typeface="Söhne Mono"/>
              </a:rPr>
              <a:t>: 						</a:t>
            </a:r>
            <a:r>
              <a:rPr lang="en-US" b="0" i="0" dirty="0">
                <a:solidFill>
                  <a:srgbClr val="2E95D3"/>
                </a:solidFill>
                <a:effectLst/>
                <a:latin typeface="Söhne Mono"/>
              </a:rPr>
              <a:t>if</a:t>
            </a:r>
            <a:r>
              <a:rPr lang="en-US" b="0" i="0" dirty="0">
                <a:solidFill>
                  <a:srgbClr val="FFFFFF"/>
                </a:solidFill>
                <a:effectLst/>
                <a:latin typeface="Söhne Mono"/>
              </a:rPr>
              <a:t> n == </a:t>
            </a:r>
            <a:r>
              <a:rPr lang="en-US" b="0" i="0" dirty="0">
                <a:solidFill>
                  <a:srgbClr val="DF3079"/>
                </a:solidFill>
                <a:effectLst/>
                <a:latin typeface="Söhne Mono"/>
              </a:rPr>
              <a:t>0</a:t>
            </a:r>
            <a:r>
              <a:rPr lang="en-US" b="0" i="0" dirty="0">
                <a:solidFill>
                  <a:srgbClr val="FFFFFF"/>
                </a:solidFill>
                <a:effectLst/>
                <a:latin typeface="Söhne Mono"/>
              </a:rPr>
              <a:t>: </a:t>
            </a:r>
          </a:p>
          <a:p>
            <a:pPr marL="457200" lvl="1" indent="0">
              <a:buNone/>
            </a:pPr>
            <a:r>
              <a:rPr lang="en-US" b="0" i="0" dirty="0">
                <a:solidFill>
                  <a:srgbClr val="2E95D3"/>
                </a:solidFill>
                <a:effectLst/>
                <a:latin typeface="Söhne Mono"/>
              </a:rPr>
              <a:t>return</a:t>
            </a:r>
            <a:r>
              <a:rPr lang="en-US" b="0" i="0" dirty="0">
                <a:solidFill>
                  <a:srgbClr val="FFFFFF"/>
                </a:solidFill>
                <a:effectLst/>
                <a:latin typeface="Söhne Mono"/>
              </a:rPr>
              <a:t> </a:t>
            </a:r>
            <a:r>
              <a:rPr lang="en-US" b="0" i="0" dirty="0">
                <a:solidFill>
                  <a:srgbClr val="DF3079"/>
                </a:solidFill>
                <a:effectLst/>
                <a:latin typeface="Söhne Mono"/>
              </a:rPr>
              <a:t>1</a:t>
            </a:r>
            <a:r>
              <a:rPr lang="en-US" b="0" i="0" dirty="0">
                <a:solidFill>
                  <a:srgbClr val="FFFFFF"/>
                </a:solidFill>
                <a:effectLst/>
                <a:latin typeface="Söhne Mono"/>
              </a:rPr>
              <a:t> 						</a:t>
            </a:r>
            <a:r>
              <a:rPr lang="en-US" b="0" i="0" dirty="0">
                <a:solidFill>
                  <a:srgbClr val="2E95D3"/>
                </a:solidFill>
                <a:effectLst/>
                <a:latin typeface="Söhne Mono"/>
              </a:rPr>
              <a:t>return</a:t>
            </a:r>
            <a:r>
              <a:rPr lang="en-US" b="0" i="0" dirty="0">
                <a:solidFill>
                  <a:srgbClr val="FFFFFF"/>
                </a:solidFill>
                <a:effectLst/>
                <a:latin typeface="Söhne Mono"/>
              </a:rPr>
              <a:t> </a:t>
            </a:r>
            <a:r>
              <a:rPr lang="en-US" b="0" i="0" dirty="0">
                <a:solidFill>
                  <a:srgbClr val="DF3079"/>
                </a:solidFill>
                <a:effectLst/>
                <a:latin typeface="Söhne Mono"/>
              </a:rPr>
              <a:t>1</a:t>
            </a:r>
            <a:r>
              <a:rPr lang="en-US" b="0" i="0" dirty="0">
                <a:solidFill>
                  <a:srgbClr val="FFFFFF"/>
                </a:solidFill>
                <a:effectLst/>
                <a:latin typeface="Söhne Mono"/>
              </a:rPr>
              <a:t> </a:t>
            </a:r>
          </a:p>
          <a:p>
            <a:pPr marL="457200" lvl="1" indent="0">
              <a:buNone/>
            </a:pPr>
            <a:r>
              <a:rPr lang="en-US" b="0" i="0" dirty="0">
                <a:solidFill>
                  <a:srgbClr val="2E95D3"/>
                </a:solidFill>
                <a:effectLst/>
                <a:latin typeface="Söhne Mono"/>
              </a:rPr>
              <a:t>else</a:t>
            </a:r>
            <a:r>
              <a:rPr lang="en-US" b="0" i="0" dirty="0">
                <a:solidFill>
                  <a:srgbClr val="FFFFFF"/>
                </a:solidFill>
                <a:effectLst/>
                <a:latin typeface="Söhne Mono"/>
              </a:rPr>
              <a:t>:						</a:t>
            </a:r>
            <a:r>
              <a:rPr lang="en-US" b="0" i="0" dirty="0">
                <a:solidFill>
                  <a:srgbClr val="2E95D3"/>
                </a:solidFill>
                <a:effectLst/>
                <a:latin typeface="Söhne Mono"/>
              </a:rPr>
              <a:t>else</a:t>
            </a:r>
            <a:r>
              <a:rPr lang="en-US" b="0" i="0" dirty="0">
                <a:solidFill>
                  <a:srgbClr val="FFFFFF"/>
                </a:solidFill>
                <a:effectLst/>
                <a:latin typeface="Söhne Mono"/>
              </a:rPr>
              <a:t>:</a:t>
            </a:r>
          </a:p>
          <a:p>
            <a:pPr marL="457200" lvl="1" indent="0">
              <a:buNone/>
            </a:pPr>
            <a:r>
              <a:rPr lang="en-US" b="0" i="0" dirty="0">
                <a:solidFill>
                  <a:srgbClr val="2E95D3"/>
                </a:solidFill>
                <a:effectLst/>
                <a:latin typeface="Söhne Mono"/>
              </a:rPr>
              <a:t>return</a:t>
            </a:r>
            <a:r>
              <a:rPr lang="en-US" b="0" i="0" dirty="0">
                <a:solidFill>
                  <a:srgbClr val="FFFFFF"/>
                </a:solidFill>
                <a:effectLst/>
                <a:latin typeface="Söhne Mono"/>
              </a:rPr>
              <a:t> n * factorial(n-</a:t>
            </a:r>
            <a:r>
              <a:rPr lang="en-US" b="0" i="0" dirty="0">
                <a:solidFill>
                  <a:srgbClr val="DF3079"/>
                </a:solidFill>
                <a:effectLst/>
                <a:latin typeface="Söhne Mono"/>
              </a:rPr>
              <a:t>1</a:t>
            </a:r>
            <a:r>
              <a:rPr lang="en-US" b="0" i="0" dirty="0">
                <a:solidFill>
                  <a:srgbClr val="FFFFFF"/>
                </a:solidFill>
                <a:effectLst/>
                <a:latin typeface="Söhne Mono"/>
              </a:rPr>
              <a:t>)				</a:t>
            </a:r>
            <a:r>
              <a:rPr lang="en-US" b="0" i="0" dirty="0">
                <a:solidFill>
                  <a:srgbClr val="2E95D3"/>
                </a:solidFill>
                <a:effectLst/>
                <a:latin typeface="Söhne Mono"/>
              </a:rPr>
              <a:t>return</a:t>
            </a:r>
            <a:r>
              <a:rPr lang="en-US" b="0" i="0" dirty="0">
                <a:solidFill>
                  <a:srgbClr val="FFFFFF"/>
                </a:solidFill>
                <a:effectLst/>
                <a:latin typeface="Söhne Mono"/>
              </a:rPr>
              <a:t> n + factorial(n-</a:t>
            </a:r>
            <a:r>
              <a:rPr lang="en-US" b="0" i="0" dirty="0">
                <a:solidFill>
                  <a:srgbClr val="DF3079"/>
                </a:solidFill>
                <a:effectLst/>
                <a:latin typeface="Söhne Mono"/>
              </a:rPr>
              <a:t>1</a:t>
            </a:r>
            <a:r>
              <a:rPr lang="en-US" b="0" i="0" dirty="0">
                <a:solidFill>
                  <a:srgbClr val="FFFFFF"/>
                </a:solidFill>
                <a:effectLst/>
                <a:latin typeface="Söhne Mono"/>
              </a:rPr>
              <a:t>)</a:t>
            </a:r>
            <a:endParaRPr lang="en-US" dirty="0"/>
          </a:p>
          <a:p>
            <a:pPr marL="457200" lvl="1" indent="0">
              <a:buNone/>
            </a:pPr>
            <a:endParaRPr lang="en-US" dirty="0"/>
          </a:p>
        </p:txBody>
      </p:sp>
    </p:spTree>
    <p:extLst>
      <p:ext uri="{BB962C8B-B14F-4D97-AF65-F5344CB8AC3E}">
        <p14:creationId xmlns:p14="http://schemas.microsoft.com/office/powerpoint/2010/main" val="24150752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829A8-3F41-2D75-FFC0-DA86D9DE7D56}"/>
              </a:ext>
            </a:extLst>
          </p:cNvPr>
          <p:cNvSpPr>
            <a:spLocks noGrp="1"/>
          </p:cNvSpPr>
          <p:nvPr>
            <p:ph type="title"/>
          </p:nvPr>
        </p:nvSpPr>
        <p:spPr/>
        <p:txBody>
          <a:bodyPr>
            <a:normAutofit/>
          </a:bodyPr>
          <a:lstStyle/>
          <a:p>
            <a:r>
              <a:rPr lang="en-US" sz="3200" b="1" dirty="0">
                <a:effectLst/>
                <a:latin typeface="Söhne"/>
                <a:ea typeface="Times New Roman" panose="02020603050405020304" pitchFamily="18" charset="0"/>
                <a:cs typeface="Times New Roman" panose="02020603050405020304" pitchFamily="18" charset="0"/>
              </a:rPr>
              <a:t>Common risk that </a:t>
            </a:r>
            <a:r>
              <a:rPr lang="en-US" sz="3200" b="1" dirty="0">
                <a:effectLst/>
                <a:latin typeface="Söhne"/>
                <a:ea typeface="Sans Serif Collection" panose="020B0502040504020204" pitchFamily="34" charset="0"/>
                <a:cs typeface="Times New Roman" panose="02020603050405020304" pitchFamily="18" charset="0"/>
              </a:rPr>
              <a:t>leads</a:t>
            </a:r>
            <a:r>
              <a:rPr lang="en-US" sz="3200" b="1" dirty="0">
                <a:effectLst/>
                <a:latin typeface="Söhne"/>
                <a:ea typeface="Times New Roman" panose="02020603050405020304" pitchFamily="18" charset="0"/>
                <a:cs typeface="Times New Roman" panose="02020603050405020304" pitchFamily="18" charset="0"/>
              </a:rPr>
              <a:t> to project failure</a:t>
            </a:r>
            <a:endParaRPr lang="en-US" sz="6600" dirty="0">
              <a:latin typeface="Söhne"/>
            </a:endParaRPr>
          </a:p>
        </p:txBody>
      </p:sp>
      <p:sp>
        <p:nvSpPr>
          <p:cNvPr id="3" name="Content Placeholder 2">
            <a:extLst>
              <a:ext uri="{FF2B5EF4-FFF2-40B4-BE49-F238E27FC236}">
                <a16:creationId xmlns:a16="http://schemas.microsoft.com/office/drawing/2014/main" id="{6BA5EFCA-609E-20BF-20A1-88DFF749BB0C}"/>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Söhne"/>
                <a:ea typeface="Times New Roman" panose="02020603050405020304" pitchFamily="18" charset="0"/>
                <a:cs typeface="Times New Roman" panose="02020603050405020304" pitchFamily="18" charset="0"/>
              </a:rPr>
              <a:t>The common risk that leads to a project failure are</a:t>
            </a:r>
          </a:p>
          <a:p>
            <a:pPr marL="0" marR="0" indent="0">
              <a:lnSpc>
                <a:spcPct val="107000"/>
              </a:lnSpc>
              <a:spcBef>
                <a:spcPts val="0"/>
              </a:spcBef>
              <a:spcAft>
                <a:spcPts val="800"/>
              </a:spcAft>
              <a:buNone/>
            </a:pPr>
            <a:endParaRPr lang="en-US" sz="1800" dirty="0">
              <a:effectLst/>
              <a:latin typeface="Söhne"/>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Söhne"/>
                <a:ea typeface="Times New Roman" panose="02020603050405020304" pitchFamily="18" charset="0"/>
                <a:cs typeface="Times New Roman" panose="02020603050405020304" pitchFamily="18" charset="0"/>
              </a:rPr>
              <a:t>Not having enough human resource</a:t>
            </a:r>
            <a:endParaRPr lang="en-US" sz="1800" dirty="0">
              <a:effectLst/>
              <a:latin typeface="Söhne"/>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Söhne"/>
                <a:ea typeface="Times New Roman" panose="02020603050405020304" pitchFamily="18" charset="0"/>
                <a:cs typeface="Times New Roman" panose="02020603050405020304" pitchFamily="18" charset="0"/>
              </a:rPr>
              <a:t>Testing Environment may not be set up properly</a:t>
            </a:r>
            <a:endParaRPr lang="en-US" sz="1800" dirty="0">
              <a:effectLst/>
              <a:latin typeface="Söhne"/>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Söhne"/>
                <a:ea typeface="Times New Roman" panose="02020603050405020304" pitchFamily="18" charset="0"/>
                <a:cs typeface="Times New Roman" panose="02020603050405020304" pitchFamily="18" charset="0"/>
              </a:rPr>
              <a:t>Limited Budget</a:t>
            </a:r>
            <a:endParaRPr lang="en-US" sz="1800" dirty="0">
              <a:effectLst/>
              <a:latin typeface="Söhne"/>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Söhne"/>
                <a:ea typeface="Times New Roman" panose="02020603050405020304" pitchFamily="18" charset="0"/>
                <a:cs typeface="Times New Roman" panose="02020603050405020304" pitchFamily="18" charset="0"/>
              </a:rPr>
              <a:t>Time Limitations</a:t>
            </a:r>
            <a:endParaRPr lang="en-US" sz="1800" dirty="0">
              <a:effectLst/>
              <a:latin typeface="Söhne"/>
              <a:ea typeface="Calibri" panose="020F0502020204030204" pitchFamily="34" charset="0"/>
              <a:cs typeface="Times New Roman" panose="02020603050405020304" pitchFamily="18" charset="0"/>
            </a:endParaRPr>
          </a:p>
          <a:p>
            <a:endParaRPr lang="en-US" dirty="0">
              <a:latin typeface="Söhne"/>
            </a:endParaRPr>
          </a:p>
        </p:txBody>
      </p:sp>
    </p:spTree>
    <p:extLst>
      <p:ext uri="{BB962C8B-B14F-4D97-AF65-F5344CB8AC3E}">
        <p14:creationId xmlns:p14="http://schemas.microsoft.com/office/powerpoint/2010/main" val="11087008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AEFA5-83D1-5061-450F-677E3F81FFBA}"/>
              </a:ext>
            </a:extLst>
          </p:cNvPr>
          <p:cNvSpPr>
            <a:spLocks noGrp="1"/>
          </p:cNvSpPr>
          <p:nvPr>
            <p:ph type="title"/>
          </p:nvPr>
        </p:nvSpPr>
        <p:spPr/>
        <p:txBody>
          <a:bodyPr>
            <a:normAutofit/>
          </a:bodyPr>
          <a:lstStyle/>
          <a:p>
            <a:r>
              <a:rPr lang="en-US" b="1" i="0" dirty="0">
                <a:solidFill>
                  <a:srgbClr val="D1D5DB"/>
                </a:solidFill>
                <a:effectLst/>
                <a:latin typeface="Söhne"/>
              </a:rPr>
              <a:t>Data - Driven Testing</a:t>
            </a:r>
            <a:endParaRPr lang="en-US" dirty="0"/>
          </a:p>
        </p:txBody>
      </p:sp>
      <p:sp>
        <p:nvSpPr>
          <p:cNvPr id="3" name="Content Placeholder 2">
            <a:extLst>
              <a:ext uri="{FF2B5EF4-FFF2-40B4-BE49-F238E27FC236}">
                <a16:creationId xmlns:a16="http://schemas.microsoft.com/office/drawing/2014/main" id="{0952599C-4C60-894A-C930-88291E52FDDD}"/>
              </a:ext>
            </a:extLst>
          </p:cNvPr>
          <p:cNvSpPr>
            <a:spLocks noGrp="1"/>
          </p:cNvSpPr>
          <p:nvPr>
            <p:ph idx="1"/>
          </p:nvPr>
        </p:nvSpPr>
        <p:spPr/>
        <p:txBody>
          <a:bodyPr>
            <a:normAutofit fontScale="62500" lnSpcReduction="20000"/>
          </a:bodyPr>
          <a:lstStyle/>
          <a:p>
            <a:pPr algn="l"/>
            <a:r>
              <a:rPr lang="en-US" b="0" i="0" dirty="0">
                <a:solidFill>
                  <a:srgbClr val="D1D5DB"/>
                </a:solidFill>
                <a:effectLst/>
                <a:latin typeface="Söhne"/>
              </a:rPr>
              <a:t>Data-Driven Testing is a testing technique in which test cases are designed to test the same functionality with multiple sets of test data. It aims to verify that the application behaves correctly under different input conditions. This approach helps in testing a wide range of scenarios efficiently.</a:t>
            </a:r>
          </a:p>
          <a:p>
            <a:pPr algn="l"/>
            <a:r>
              <a:rPr lang="en-US" b="0" i="0" dirty="0">
                <a:solidFill>
                  <a:srgbClr val="D1D5DB"/>
                </a:solidFill>
                <a:effectLst/>
                <a:latin typeface="Söhne"/>
              </a:rPr>
              <a:t>Imagine you are testing the login functionality of an HR portal. </a:t>
            </a:r>
          </a:p>
          <a:p>
            <a:pPr marL="0" indent="0" algn="l">
              <a:buNone/>
            </a:pPr>
            <a:endParaRPr lang="en-US" b="0" i="0" dirty="0">
              <a:solidFill>
                <a:srgbClr val="D1D5DB"/>
              </a:solidFill>
              <a:effectLst/>
              <a:latin typeface="Söhne"/>
            </a:endParaRPr>
          </a:p>
          <a:p>
            <a:pPr marL="0" indent="0" algn="l">
              <a:buNone/>
            </a:pPr>
            <a:r>
              <a:rPr lang="en-US" b="0" i="0" dirty="0">
                <a:solidFill>
                  <a:srgbClr val="D1D5DB"/>
                </a:solidFill>
                <a:effectLst/>
                <a:latin typeface="Söhne"/>
              </a:rPr>
              <a:t>Test Case 1:</a:t>
            </a:r>
          </a:p>
          <a:p>
            <a:pPr algn="l">
              <a:buFont typeface="Arial" panose="020B0604020202020204" pitchFamily="34" charset="0"/>
              <a:buChar char="•"/>
            </a:pPr>
            <a:r>
              <a:rPr lang="en-US" b="0" i="0" dirty="0">
                <a:solidFill>
                  <a:srgbClr val="D1D5DB"/>
                </a:solidFill>
                <a:effectLst/>
                <a:latin typeface="Söhne"/>
              </a:rPr>
              <a:t>Username: user1</a:t>
            </a:r>
          </a:p>
          <a:p>
            <a:pPr algn="l">
              <a:buFont typeface="Arial" panose="020B0604020202020204" pitchFamily="34" charset="0"/>
              <a:buChar char="•"/>
            </a:pPr>
            <a:r>
              <a:rPr lang="en-US" b="0" i="0" dirty="0">
                <a:solidFill>
                  <a:srgbClr val="D1D5DB"/>
                </a:solidFill>
                <a:effectLst/>
                <a:latin typeface="Söhne"/>
              </a:rPr>
              <a:t>Password: pass123</a:t>
            </a:r>
          </a:p>
          <a:p>
            <a:pPr algn="l">
              <a:buFont typeface="Arial" panose="020B0604020202020204" pitchFamily="34" charset="0"/>
              <a:buChar char="•"/>
            </a:pPr>
            <a:r>
              <a:rPr lang="en-US" b="0" i="0" dirty="0">
                <a:solidFill>
                  <a:srgbClr val="D1D5DB"/>
                </a:solidFill>
                <a:effectLst/>
                <a:latin typeface="Söhne"/>
              </a:rPr>
              <a:t>Expected Result: Successful login</a:t>
            </a:r>
          </a:p>
          <a:p>
            <a:pPr marL="0" indent="0" algn="l">
              <a:buNone/>
            </a:pPr>
            <a:endParaRPr lang="en-US" b="0" i="0" dirty="0">
              <a:solidFill>
                <a:srgbClr val="D1D5DB"/>
              </a:solidFill>
              <a:effectLst/>
              <a:latin typeface="Söhne"/>
            </a:endParaRPr>
          </a:p>
          <a:p>
            <a:pPr marL="0" indent="0" algn="l">
              <a:buNone/>
            </a:pPr>
            <a:r>
              <a:rPr lang="en-US" b="0" i="0" dirty="0">
                <a:solidFill>
                  <a:srgbClr val="D1D5DB"/>
                </a:solidFill>
                <a:effectLst/>
                <a:latin typeface="Söhne"/>
              </a:rPr>
              <a:t>Test Case 2:</a:t>
            </a:r>
          </a:p>
          <a:p>
            <a:pPr algn="l">
              <a:buFont typeface="Arial" panose="020B0604020202020204" pitchFamily="34" charset="0"/>
              <a:buChar char="•"/>
            </a:pPr>
            <a:r>
              <a:rPr lang="en-US" b="0" i="0" dirty="0">
                <a:solidFill>
                  <a:srgbClr val="D1D5DB"/>
                </a:solidFill>
                <a:effectLst/>
                <a:latin typeface="Söhne"/>
              </a:rPr>
              <a:t>Username: user2</a:t>
            </a:r>
          </a:p>
          <a:p>
            <a:pPr algn="l">
              <a:buFont typeface="Arial" panose="020B0604020202020204" pitchFamily="34" charset="0"/>
              <a:buChar char="•"/>
            </a:pPr>
            <a:r>
              <a:rPr lang="en-US" b="0" i="0" dirty="0">
                <a:solidFill>
                  <a:srgbClr val="D1D5DB"/>
                </a:solidFill>
                <a:effectLst/>
                <a:latin typeface="Söhne"/>
              </a:rPr>
              <a:t>Password: </a:t>
            </a:r>
            <a:r>
              <a:rPr lang="en-US" b="0" i="0" dirty="0" err="1">
                <a:solidFill>
                  <a:srgbClr val="D1D5DB"/>
                </a:solidFill>
                <a:effectLst/>
                <a:latin typeface="Söhne"/>
              </a:rPr>
              <a:t>invalidpass</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Expected Result: Failed login with an error message</a:t>
            </a:r>
          </a:p>
          <a:p>
            <a:endParaRPr lang="en-US" dirty="0"/>
          </a:p>
        </p:txBody>
      </p:sp>
    </p:spTree>
    <p:extLst>
      <p:ext uri="{BB962C8B-B14F-4D97-AF65-F5344CB8AC3E}">
        <p14:creationId xmlns:p14="http://schemas.microsoft.com/office/powerpoint/2010/main" val="42153621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9E25E-C343-CB91-18D9-1B8EC3F0D96E}"/>
              </a:ext>
            </a:extLst>
          </p:cNvPr>
          <p:cNvSpPr>
            <a:spLocks noGrp="1"/>
          </p:cNvSpPr>
          <p:nvPr>
            <p:ph type="title"/>
          </p:nvPr>
        </p:nvSpPr>
        <p:spPr/>
        <p:txBody>
          <a:bodyPr>
            <a:normAutofit/>
          </a:bodyPr>
          <a:lstStyle/>
          <a:p>
            <a:r>
              <a:rPr lang="en-US" b="1" i="0" dirty="0">
                <a:solidFill>
                  <a:srgbClr val="D1D5DB"/>
                </a:solidFill>
                <a:effectLst/>
                <a:latin typeface="Söhne"/>
              </a:rPr>
              <a:t>Behavior - Driven Testing:</a:t>
            </a:r>
            <a:endParaRPr lang="en-US" dirty="0"/>
          </a:p>
        </p:txBody>
      </p:sp>
      <p:sp>
        <p:nvSpPr>
          <p:cNvPr id="3" name="Content Placeholder 2">
            <a:extLst>
              <a:ext uri="{FF2B5EF4-FFF2-40B4-BE49-F238E27FC236}">
                <a16:creationId xmlns:a16="http://schemas.microsoft.com/office/drawing/2014/main" id="{F3C6D981-B894-9507-A5E2-D15F0DC47ED4}"/>
              </a:ext>
            </a:extLst>
          </p:cNvPr>
          <p:cNvSpPr>
            <a:spLocks noGrp="1"/>
          </p:cNvSpPr>
          <p:nvPr>
            <p:ph idx="1"/>
          </p:nvPr>
        </p:nvSpPr>
        <p:spPr/>
        <p:txBody>
          <a:bodyPr>
            <a:normAutofit/>
          </a:bodyPr>
          <a:lstStyle/>
          <a:p>
            <a:pPr algn="l"/>
            <a:r>
              <a:rPr lang="en-US" b="0" i="0" dirty="0">
                <a:solidFill>
                  <a:srgbClr val="D1D5DB"/>
                </a:solidFill>
                <a:effectLst/>
                <a:latin typeface="Söhne"/>
              </a:rPr>
              <a:t>Behavior-Driven Testing is an approach that focuses on defining and testing the desired behavior of the software from a user's perspective. It emphasizes collaboration between developers, testers, and non-technical stakeholders to define and understand the application's behavior through natural language specifications.</a:t>
            </a:r>
          </a:p>
          <a:p>
            <a:pPr marL="0" indent="0" algn="l">
              <a:buNone/>
            </a:pPr>
            <a:endParaRPr lang="en-US" b="0" i="0" dirty="0">
              <a:solidFill>
                <a:srgbClr val="D1D5DB"/>
              </a:solidFill>
              <a:effectLst/>
              <a:latin typeface="Söhne"/>
            </a:endParaRPr>
          </a:p>
          <a:p>
            <a:pPr algn="l"/>
            <a:r>
              <a:rPr lang="en-US" b="0" i="0" dirty="0">
                <a:solidFill>
                  <a:srgbClr val="D1D5DB"/>
                </a:solidFill>
                <a:effectLst/>
                <a:latin typeface="Söhne"/>
              </a:rPr>
              <a:t>This approach encourages clear communication between team members and helps ensure that the software meets the specified requirements and user expectations.</a:t>
            </a:r>
            <a:endParaRPr lang="en-US" dirty="0"/>
          </a:p>
        </p:txBody>
      </p:sp>
    </p:spTree>
    <p:extLst>
      <p:ext uri="{BB962C8B-B14F-4D97-AF65-F5344CB8AC3E}">
        <p14:creationId xmlns:p14="http://schemas.microsoft.com/office/powerpoint/2010/main" val="26226665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56A53B-44F2-7413-ABBB-7094D66978D0}"/>
              </a:ext>
            </a:extLst>
          </p:cNvPr>
          <p:cNvSpPr>
            <a:spLocks noGrp="1"/>
          </p:cNvSpPr>
          <p:nvPr>
            <p:ph idx="1"/>
          </p:nvPr>
        </p:nvSpPr>
        <p:spPr>
          <a:xfrm>
            <a:off x="838200" y="195942"/>
            <a:ext cx="10515600" cy="6662057"/>
          </a:xfrm>
        </p:spPr>
        <p:txBody>
          <a:bodyPr>
            <a:normAutofit fontScale="85000" lnSpcReduction="20000"/>
          </a:bodyPr>
          <a:lstStyle/>
          <a:p>
            <a:r>
              <a:rPr lang="en-US" sz="1400" dirty="0"/>
              <a:t>public class </a:t>
            </a:r>
            <a:r>
              <a:rPr lang="en-US" sz="1400" dirty="0" err="1"/>
              <a:t>LoginSteps</a:t>
            </a:r>
            <a:r>
              <a:rPr lang="en-US" sz="1400" dirty="0"/>
              <a:t> {</a:t>
            </a:r>
          </a:p>
          <a:p>
            <a:r>
              <a:rPr lang="en-US" sz="1400" dirty="0"/>
              <a:t>    private WebDriver driver;</a:t>
            </a:r>
          </a:p>
          <a:p>
            <a:pPr marL="0" indent="0">
              <a:buNone/>
            </a:pPr>
            <a:endParaRPr lang="en-US" sz="1400" dirty="0"/>
          </a:p>
          <a:p>
            <a:pPr marL="0" indent="0">
              <a:buNone/>
            </a:pPr>
            <a:r>
              <a:rPr lang="en-US" sz="1400" dirty="0"/>
              <a:t>  @Before</a:t>
            </a:r>
          </a:p>
          <a:p>
            <a:r>
              <a:rPr lang="en-US" sz="1400" dirty="0"/>
              <a:t>    public void </a:t>
            </a:r>
            <a:r>
              <a:rPr lang="en-US" sz="1400" dirty="0" err="1"/>
              <a:t>setUp</a:t>
            </a:r>
            <a:r>
              <a:rPr lang="en-US" sz="1400" dirty="0"/>
              <a:t>() {</a:t>
            </a:r>
          </a:p>
          <a:p>
            <a:r>
              <a:rPr lang="en-US" sz="1400" dirty="0"/>
              <a:t>        // Set up WebDriver (Assuming </a:t>
            </a:r>
            <a:r>
              <a:rPr lang="en-US" sz="1400" dirty="0" err="1"/>
              <a:t>ChromeDriver</a:t>
            </a:r>
            <a:r>
              <a:rPr lang="en-US" sz="1400" dirty="0"/>
              <a:t> is used)</a:t>
            </a:r>
          </a:p>
          <a:p>
            <a:r>
              <a:rPr lang="en-US" sz="1400" dirty="0"/>
              <a:t>        </a:t>
            </a:r>
            <a:r>
              <a:rPr lang="en-US" sz="1400" dirty="0" err="1"/>
              <a:t>System.setProperty</a:t>
            </a:r>
            <a:r>
              <a:rPr lang="en-US" sz="1400" dirty="0"/>
              <a:t>("</a:t>
            </a:r>
            <a:r>
              <a:rPr lang="en-US" sz="1400" dirty="0" err="1"/>
              <a:t>webdriver.chrome.driver</a:t>
            </a:r>
            <a:r>
              <a:rPr lang="en-US" sz="1400" dirty="0"/>
              <a:t>", "path_to_chromedriver.exe");</a:t>
            </a:r>
          </a:p>
          <a:p>
            <a:r>
              <a:rPr lang="en-US" sz="1400" dirty="0"/>
              <a:t>        driver = new </a:t>
            </a:r>
            <a:r>
              <a:rPr lang="en-US" sz="1400" dirty="0" err="1"/>
              <a:t>ChromeDriver</a:t>
            </a:r>
            <a:r>
              <a:rPr lang="en-US" sz="1400" dirty="0"/>
              <a:t>();</a:t>
            </a:r>
          </a:p>
          <a:p>
            <a:r>
              <a:rPr lang="en-US" sz="1400" dirty="0"/>
              <a:t>    }</a:t>
            </a:r>
          </a:p>
          <a:p>
            <a:pPr marL="0" indent="0">
              <a:buNone/>
            </a:pPr>
            <a:endParaRPr lang="en-US" sz="1400" dirty="0"/>
          </a:p>
          <a:p>
            <a:pPr marL="0" indent="0">
              <a:buNone/>
            </a:pPr>
            <a:r>
              <a:rPr lang="en-US" sz="1400" dirty="0"/>
              <a:t>@Given("the user is on the HR portal login page")</a:t>
            </a:r>
          </a:p>
          <a:p>
            <a:pPr marL="0" indent="0">
              <a:buNone/>
            </a:pPr>
            <a:endParaRPr lang="en-US" sz="1400" dirty="0"/>
          </a:p>
          <a:p>
            <a:r>
              <a:rPr lang="en-US" sz="1400" dirty="0"/>
              <a:t>    public void </a:t>
            </a:r>
            <a:r>
              <a:rPr lang="en-US" sz="1400" dirty="0" err="1"/>
              <a:t>user_is_on_hr_portal_login_page</a:t>
            </a:r>
            <a:r>
              <a:rPr lang="en-US" sz="1400" dirty="0"/>
              <a:t>() {</a:t>
            </a:r>
          </a:p>
          <a:p>
            <a:r>
              <a:rPr lang="en-US" sz="1400" dirty="0"/>
              <a:t>        </a:t>
            </a:r>
            <a:r>
              <a:rPr lang="en-US" sz="1400" dirty="0" err="1"/>
              <a:t>driver.get</a:t>
            </a:r>
            <a:r>
              <a:rPr lang="en-US" sz="1400" dirty="0"/>
              <a:t>("https://hrportal.example.com/login");</a:t>
            </a:r>
          </a:p>
          <a:p>
            <a:r>
              <a:rPr lang="en-US" sz="1400" dirty="0"/>
              <a:t>    }</a:t>
            </a:r>
          </a:p>
          <a:p>
            <a:endParaRPr lang="en-US" sz="1400" dirty="0"/>
          </a:p>
          <a:p>
            <a:pPr marL="0" indent="0">
              <a:buNone/>
            </a:pPr>
            <a:r>
              <a:rPr lang="en-US" sz="1400" dirty="0"/>
              <a:t> @When("the user enters valid credentials (username: user1, password: pass123)")</a:t>
            </a:r>
          </a:p>
          <a:p>
            <a:pPr marL="0" indent="0">
              <a:buNone/>
            </a:pPr>
            <a:endParaRPr lang="en-US" sz="1400" dirty="0"/>
          </a:p>
          <a:p>
            <a:r>
              <a:rPr lang="en-US" sz="1400" dirty="0"/>
              <a:t>    public void </a:t>
            </a:r>
            <a:r>
              <a:rPr lang="en-US" sz="1400" dirty="0" err="1"/>
              <a:t>user_enters_valid_credentials</a:t>
            </a:r>
            <a:r>
              <a:rPr lang="en-US" sz="1400" dirty="0"/>
              <a:t>() {</a:t>
            </a:r>
          </a:p>
          <a:p>
            <a:r>
              <a:rPr lang="en-US" sz="1400" dirty="0"/>
              <a:t>        </a:t>
            </a:r>
            <a:r>
              <a:rPr lang="en-US" sz="1400" dirty="0" err="1"/>
              <a:t>WebElement</a:t>
            </a:r>
            <a:r>
              <a:rPr lang="en-US" sz="1400" dirty="0"/>
              <a:t> </a:t>
            </a:r>
            <a:r>
              <a:rPr lang="en-US" sz="1400" dirty="0" err="1"/>
              <a:t>usernameField</a:t>
            </a:r>
            <a:r>
              <a:rPr lang="en-US" sz="1400" dirty="0"/>
              <a:t> = </a:t>
            </a:r>
            <a:r>
              <a:rPr lang="en-US" sz="1400" dirty="0" err="1"/>
              <a:t>driver.findElement</a:t>
            </a:r>
            <a:r>
              <a:rPr lang="en-US" sz="1400" dirty="0"/>
              <a:t>(By.id("username"));</a:t>
            </a:r>
          </a:p>
          <a:p>
            <a:r>
              <a:rPr lang="en-US" sz="1400" dirty="0"/>
              <a:t>        </a:t>
            </a:r>
            <a:r>
              <a:rPr lang="en-US" sz="1400" dirty="0" err="1"/>
              <a:t>WebElement</a:t>
            </a:r>
            <a:r>
              <a:rPr lang="en-US" sz="1400" dirty="0"/>
              <a:t> </a:t>
            </a:r>
            <a:r>
              <a:rPr lang="en-US" sz="1400" dirty="0" err="1"/>
              <a:t>passwordField</a:t>
            </a:r>
            <a:r>
              <a:rPr lang="en-US" sz="1400" dirty="0"/>
              <a:t> = </a:t>
            </a:r>
            <a:r>
              <a:rPr lang="en-US" sz="1400" dirty="0" err="1"/>
              <a:t>driver.findElement</a:t>
            </a:r>
            <a:r>
              <a:rPr lang="en-US" sz="1400" dirty="0"/>
              <a:t>(By.id("password"));</a:t>
            </a:r>
          </a:p>
          <a:p>
            <a:r>
              <a:rPr lang="en-US" sz="1400" dirty="0"/>
              <a:t>        </a:t>
            </a:r>
            <a:r>
              <a:rPr lang="en-US" sz="1400" dirty="0" err="1"/>
              <a:t>WebElement</a:t>
            </a:r>
            <a:r>
              <a:rPr lang="en-US" sz="1400" dirty="0"/>
              <a:t> </a:t>
            </a:r>
            <a:r>
              <a:rPr lang="en-US" sz="1400" dirty="0" err="1"/>
              <a:t>loginButton</a:t>
            </a:r>
            <a:r>
              <a:rPr lang="en-US" sz="1400" dirty="0"/>
              <a:t> = </a:t>
            </a:r>
            <a:r>
              <a:rPr lang="en-US" sz="1400" dirty="0" err="1"/>
              <a:t>driver.findElement</a:t>
            </a:r>
            <a:r>
              <a:rPr lang="en-US" sz="1400" dirty="0"/>
              <a:t>(By.id("</a:t>
            </a:r>
            <a:r>
              <a:rPr lang="en-US" sz="1400" dirty="0" err="1"/>
              <a:t>loginButton</a:t>
            </a:r>
            <a:r>
              <a:rPr lang="en-US" sz="1400" dirty="0"/>
              <a:t>"));</a:t>
            </a:r>
          </a:p>
          <a:p>
            <a:r>
              <a:rPr lang="en-US" sz="1400" dirty="0"/>
              <a:t>        </a:t>
            </a:r>
            <a:r>
              <a:rPr lang="en-US" sz="1400" dirty="0" err="1"/>
              <a:t>usernameField.sendKeys</a:t>
            </a:r>
            <a:r>
              <a:rPr lang="en-US" sz="1400" dirty="0"/>
              <a:t>("user1");</a:t>
            </a:r>
          </a:p>
          <a:p>
            <a:r>
              <a:rPr lang="en-US" sz="1400" dirty="0"/>
              <a:t>        </a:t>
            </a:r>
            <a:r>
              <a:rPr lang="en-US" sz="1400" dirty="0" err="1"/>
              <a:t>passwordField.sendKeys</a:t>
            </a:r>
            <a:r>
              <a:rPr lang="en-US" sz="1400" dirty="0"/>
              <a:t>("pass123");</a:t>
            </a:r>
          </a:p>
          <a:p>
            <a:r>
              <a:rPr lang="en-US" sz="1400" dirty="0"/>
              <a:t>        </a:t>
            </a:r>
            <a:r>
              <a:rPr lang="en-US" sz="1400" dirty="0" err="1"/>
              <a:t>loginButton.click</a:t>
            </a:r>
            <a:r>
              <a:rPr lang="en-US" sz="1400" dirty="0"/>
              <a:t>();</a:t>
            </a:r>
          </a:p>
          <a:p>
            <a:r>
              <a:rPr lang="en-US" sz="1400" dirty="0"/>
              <a:t>    }</a:t>
            </a:r>
          </a:p>
        </p:txBody>
      </p:sp>
    </p:spTree>
    <p:extLst>
      <p:ext uri="{BB962C8B-B14F-4D97-AF65-F5344CB8AC3E}">
        <p14:creationId xmlns:p14="http://schemas.microsoft.com/office/powerpoint/2010/main" val="16083753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587B-8B36-BB64-C662-3B2B7E5751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F4E8E5-BB6A-984D-74C6-3A5D29A177E0}"/>
              </a:ext>
            </a:extLst>
          </p:cNvPr>
          <p:cNvSpPr>
            <a:spLocks noGrp="1"/>
          </p:cNvSpPr>
          <p:nvPr>
            <p:ph idx="1"/>
          </p:nvPr>
        </p:nvSpPr>
        <p:spPr/>
        <p:txBody>
          <a:bodyPr>
            <a:normAutofit/>
          </a:bodyPr>
          <a:lstStyle/>
          <a:p>
            <a:pPr marL="0" indent="0">
              <a:buNone/>
            </a:pPr>
            <a:r>
              <a:rPr lang="en-US" sz="6600" dirty="0"/>
              <a:t>It’s time to do some practical !</a:t>
            </a:r>
            <a:br>
              <a:rPr lang="en-US" sz="6600" dirty="0"/>
            </a:br>
            <a:br>
              <a:rPr lang="en-US" sz="6600" dirty="0"/>
            </a:br>
            <a:r>
              <a:rPr lang="en-US" sz="6600" dirty="0"/>
              <a:t>Stay Tuned ! ! !</a:t>
            </a:r>
          </a:p>
        </p:txBody>
      </p:sp>
    </p:spTree>
    <p:extLst>
      <p:ext uri="{BB962C8B-B14F-4D97-AF65-F5344CB8AC3E}">
        <p14:creationId xmlns:p14="http://schemas.microsoft.com/office/powerpoint/2010/main" val="25485725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0836-72C2-179B-FB65-0870DF3AC35A}"/>
              </a:ext>
            </a:extLst>
          </p:cNvPr>
          <p:cNvSpPr>
            <a:spLocks noGrp="1"/>
          </p:cNvSpPr>
          <p:nvPr>
            <p:ph type="title"/>
          </p:nvPr>
        </p:nvSpPr>
        <p:spPr>
          <a:xfrm>
            <a:off x="838200" y="365125"/>
            <a:ext cx="10515600" cy="885177"/>
          </a:xfrm>
        </p:spPr>
        <p:txBody>
          <a:bodyPr/>
          <a:lstStyle/>
          <a:p>
            <a:r>
              <a:rPr lang="en-US" b="1" dirty="0"/>
              <a:t>Learning API’s and Postman Tool</a:t>
            </a:r>
            <a:endParaRPr lang="en-US" dirty="0"/>
          </a:p>
        </p:txBody>
      </p:sp>
      <p:pic>
        <p:nvPicPr>
          <p:cNvPr id="4" name="Picture 2" descr="REST API introduction. In a client-server architecture, client… | by Hemil  Turakhia | Medium">
            <a:extLst>
              <a:ext uri="{FF2B5EF4-FFF2-40B4-BE49-F238E27FC236}">
                <a16:creationId xmlns:a16="http://schemas.microsoft.com/office/drawing/2014/main" id="{38B71BAA-8A7F-CF32-5279-FE6C8D6C91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5827" y="1875453"/>
            <a:ext cx="8166671" cy="3275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7134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8921-688C-87DD-619E-75D39E0F0B9E}"/>
              </a:ext>
            </a:extLst>
          </p:cNvPr>
          <p:cNvSpPr>
            <a:spLocks noGrp="1"/>
          </p:cNvSpPr>
          <p:nvPr>
            <p:ph type="title"/>
          </p:nvPr>
        </p:nvSpPr>
        <p:spPr>
          <a:xfrm>
            <a:off x="838200" y="94537"/>
            <a:ext cx="10515600" cy="735887"/>
          </a:xfrm>
        </p:spPr>
        <p:txBody>
          <a:bodyPr/>
          <a:lstStyle/>
          <a:p>
            <a:r>
              <a:rPr lang="en-US" b="1" dirty="0"/>
              <a:t>Introduction to API</a:t>
            </a:r>
          </a:p>
        </p:txBody>
      </p:sp>
      <p:sp>
        <p:nvSpPr>
          <p:cNvPr id="3" name="Content Placeholder 2">
            <a:extLst>
              <a:ext uri="{FF2B5EF4-FFF2-40B4-BE49-F238E27FC236}">
                <a16:creationId xmlns:a16="http://schemas.microsoft.com/office/drawing/2014/main" id="{C8C0EC62-6019-2673-DD85-923794036DDF}"/>
              </a:ext>
            </a:extLst>
          </p:cNvPr>
          <p:cNvSpPr>
            <a:spLocks noGrp="1"/>
          </p:cNvSpPr>
          <p:nvPr>
            <p:ph idx="1"/>
          </p:nvPr>
        </p:nvSpPr>
        <p:spPr>
          <a:xfrm>
            <a:off x="838200" y="830425"/>
            <a:ext cx="10515600" cy="5346538"/>
          </a:xfrm>
        </p:spPr>
        <p:txBody>
          <a:bodyPr/>
          <a:lstStyle/>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An API (Application Programming Interface) is a set of rules and protocols that allows different software applications to communicate with each other.</a:t>
            </a:r>
          </a:p>
          <a:p>
            <a:pPr algn="l">
              <a:buFont typeface="Arial" panose="020B0604020202020204" pitchFamily="34" charset="0"/>
              <a:buChar char="•"/>
            </a:pPr>
            <a:r>
              <a:rPr lang="en-US" b="1" i="0" dirty="0">
                <a:solidFill>
                  <a:srgbClr val="D1D5DB"/>
                </a:solidFill>
                <a:effectLst/>
                <a:latin typeface="Söhne"/>
              </a:rPr>
              <a:t>Importance: </a:t>
            </a:r>
            <a:r>
              <a:rPr lang="en-US" b="0" i="0" dirty="0">
                <a:solidFill>
                  <a:srgbClr val="D1D5DB"/>
                </a:solidFill>
                <a:effectLst/>
                <a:latin typeface="Söhne"/>
              </a:rPr>
              <a:t>APIs enable data exchange and functionality sharing between applications, making them a critical component of modern software development.</a:t>
            </a:r>
          </a:p>
        </p:txBody>
      </p:sp>
      <p:pic>
        <p:nvPicPr>
          <p:cNvPr id="6" name="Picture 5">
            <a:extLst>
              <a:ext uri="{FF2B5EF4-FFF2-40B4-BE49-F238E27FC236}">
                <a16:creationId xmlns:a16="http://schemas.microsoft.com/office/drawing/2014/main" id="{BD5320C2-F586-AFFA-517D-36AD25FAC41E}"/>
              </a:ext>
            </a:extLst>
          </p:cNvPr>
          <p:cNvPicPr>
            <a:picLocks noChangeAspect="1"/>
          </p:cNvPicPr>
          <p:nvPr/>
        </p:nvPicPr>
        <p:blipFill>
          <a:blip r:embed="rId2"/>
          <a:stretch>
            <a:fillRect/>
          </a:stretch>
        </p:blipFill>
        <p:spPr>
          <a:xfrm>
            <a:off x="5430415" y="3641335"/>
            <a:ext cx="5515867" cy="3038152"/>
          </a:xfrm>
          <a:prstGeom prst="rect">
            <a:avLst/>
          </a:prstGeom>
        </p:spPr>
      </p:pic>
    </p:spTree>
    <p:extLst>
      <p:ext uri="{BB962C8B-B14F-4D97-AF65-F5344CB8AC3E}">
        <p14:creationId xmlns:p14="http://schemas.microsoft.com/office/powerpoint/2010/main" val="31933097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42B4BC-EE0B-E23E-466D-01998E4ED920}"/>
              </a:ext>
            </a:extLst>
          </p:cNvPr>
          <p:cNvPicPr>
            <a:picLocks noChangeAspect="1"/>
          </p:cNvPicPr>
          <p:nvPr/>
        </p:nvPicPr>
        <p:blipFill>
          <a:blip r:embed="rId2"/>
          <a:stretch>
            <a:fillRect/>
          </a:stretch>
        </p:blipFill>
        <p:spPr>
          <a:xfrm>
            <a:off x="1110342" y="815296"/>
            <a:ext cx="9815133" cy="5227408"/>
          </a:xfrm>
          <a:prstGeom prst="rect">
            <a:avLst/>
          </a:prstGeom>
        </p:spPr>
      </p:pic>
    </p:spTree>
    <p:extLst>
      <p:ext uri="{BB962C8B-B14F-4D97-AF65-F5344CB8AC3E}">
        <p14:creationId xmlns:p14="http://schemas.microsoft.com/office/powerpoint/2010/main" val="18292524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0542-4E11-E4E7-90C5-246402ADC24B}"/>
              </a:ext>
            </a:extLst>
          </p:cNvPr>
          <p:cNvSpPr>
            <a:spLocks noGrp="1"/>
          </p:cNvSpPr>
          <p:nvPr>
            <p:ph type="title"/>
          </p:nvPr>
        </p:nvSpPr>
        <p:spPr/>
        <p:txBody>
          <a:bodyPr/>
          <a:lstStyle/>
          <a:p>
            <a:r>
              <a:rPr lang="en-US" b="1" dirty="0"/>
              <a:t>API Testing</a:t>
            </a:r>
          </a:p>
        </p:txBody>
      </p:sp>
      <p:sp>
        <p:nvSpPr>
          <p:cNvPr id="3" name="Content Placeholder 2">
            <a:extLst>
              <a:ext uri="{FF2B5EF4-FFF2-40B4-BE49-F238E27FC236}">
                <a16:creationId xmlns:a16="http://schemas.microsoft.com/office/drawing/2014/main" id="{A0EDA1D4-FE3A-2606-FD7E-3E2757C27769}"/>
              </a:ext>
            </a:extLst>
          </p:cNvPr>
          <p:cNvSpPr>
            <a:spLocks noGrp="1"/>
          </p:cNvSpPr>
          <p:nvPr>
            <p:ph idx="1"/>
          </p:nvPr>
        </p:nvSpPr>
        <p:spPr/>
        <p:txBody>
          <a:bodyPr/>
          <a:lstStyle/>
          <a:p>
            <a:pPr algn="l">
              <a:buFont typeface="Arial" panose="020B0604020202020204" pitchFamily="34" charset="0"/>
              <a:buChar char="•"/>
            </a:pPr>
            <a:r>
              <a:rPr lang="en-US" b="0" i="1" dirty="0">
                <a:solidFill>
                  <a:srgbClr val="D1D5DB"/>
                </a:solidFill>
                <a:effectLst/>
                <a:latin typeface="Söhne"/>
              </a:rPr>
              <a:t>Explanation</a:t>
            </a:r>
            <a:r>
              <a:rPr lang="en-US" b="0" i="0" dirty="0">
                <a:solidFill>
                  <a:srgbClr val="D1D5DB"/>
                </a:solidFill>
                <a:effectLst/>
                <a:latin typeface="Söhne"/>
              </a:rPr>
              <a:t>: API (Application Programming Interface) testing involves testing the functionality, performance, and security of an API, which allows software components to communicate and interact with each other.</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1" dirty="0">
                <a:solidFill>
                  <a:srgbClr val="D1D5DB"/>
                </a:solidFill>
                <a:effectLst/>
                <a:latin typeface="Söhne"/>
              </a:rPr>
              <a:t>Example</a:t>
            </a:r>
            <a:r>
              <a:rPr lang="en-US" b="0" i="0" dirty="0">
                <a:solidFill>
                  <a:srgbClr val="D1D5DB"/>
                </a:solidFill>
                <a:effectLst/>
                <a:latin typeface="Söhne"/>
              </a:rPr>
              <a:t>: Imagine testing the functionality of a weather forecasting API. You send a request to the API with specific parameters, and it responds with weather data, which you can verify against expected outcomes.</a:t>
            </a:r>
          </a:p>
          <a:p>
            <a:endParaRPr lang="en-US" dirty="0"/>
          </a:p>
        </p:txBody>
      </p:sp>
    </p:spTree>
    <p:extLst>
      <p:ext uri="{BB962C8B-B14F-4D97-AF65-F5344CB8AC3E}">
        <p14:creationId xmlns:p14="http://schemas.microsoft.com/office/powerpoint/2010/main" val="4649148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DAA8F-B0C7-5A28-5049-87C2DFBC8584}"/>
              </a:ext>
            </a:extLst>
          </p:cNvPr>
          <p:cNvSpPr>
            <a:spLocks noGrp="1"/>
          </p:cNvSpPr>
          <p:nvPr>
            <p:ph type="title"/>
          </p:nvPr>
        </p:nvSpPr>
        <p:spPr/>
        <p:txBody>
          <a:bodyPr/>
          <a:lstStyle/>
          <a:p>
            <a:r>
              <a:rPr lang="en-US" b="1" dirty="0"/>
              <a:t>Web Services	</a:t>
            </a:r>
          </a:p>
        </p:txBody>
      </p:sp>
      <p:sp>
        <p:nvSpPr>
          <p:cNvPr id="3" name="Content Placeholder 2">
            <a:extLst>
              <a:ext uri="{FF2B5EF4-FFF2-40B4-BE49-F238E27FC236}">
                <a16:creationId xmlns:a16="http://schemas.microsoft.com/office/drawing/2014/main" id="{C7100E71-520E-1384-414D-2B6748C37128}"/>
              </a:ext>
            </a:extLst>
          </p:cNvPr>
          <p:cNvSpPr>
            <a:spLocks noGrp="1"/>
          </p:cNvSpPr>
          <p:nvPr>
            <p:ph idx="1"/>
          </p:nvPr>
        </p:nvSpPr>
        <p:spPr/>
        <p:txBody>
          <a:bodyPr/>
          <a:lstStyle/>
          <a:p>
            <a:pPr algn="l">
              <a:buFont typeface="Arial" panose="020B0604020202020204" pitchFamily="34" charset="0"/>
              <a:buChar char="•"/>
            </a:pPr>
            <a:r>
              <a:rPr lang="en-US" b="0" i="1" dirty="0">
                <a:solidFill>
                  <a:srgbClr val="D1D5DB"/>
                </a:solidFill>
                <a:effectLst/>
                <a:latin typeface="Söhne"/>
              </a:rPr>
              <a:t>Explanation</a:t>
            </a:r>
            <a:r>
              <a:rPr lang="en-US" b="0" i="0" dirty="0">
                <a:solidFill>
                  <a:srgbClr val="D1D5DB"/>
                </a:solidFill>
                <a:effectLst/>
                <a:latin typeface="Söhne"/>
              </a:rPr>
              <a:t>: Web services are software components that use standardized protocols for communication and data exchange over the internet. They allow different systems to interact with each other, regardless of the technologies they use.</a:t>
            </a:r>
          </a:p>
          <a:p>
            <a:pPr algn="l">
              <a:buFont typeface="Arial" panose="020B0604020202020204" pitchFamily="34" charset="0"/>
              <a:buChar char="•"/>
            </a:pPr>
            <a:r>
              <a:rPr lang="en-US" b="0" i="1" dirty="0">
                <a:solidFill>
                  <a:srgbClr val="D1D5DB"/>
                </a:solidFill>
                <a:effectLst/>
                <a:latin typeface="Söhne"/>
              </a:rPr>
              <a:t>Example</a:t>
            </a:r>
            <a:r>
              <a:rPr lang="en-US" b="0" i="0" dirty="0">
                <a:solidFill>
                  <a:srgbClr val="D1D5DB"/>
                </a:solidFill>
                <a:effectLst/>
                <a:latin typeface="Söhne"/>
              </a:rPr>
              <a:t>: Amazon Web Services (AWS) provides a range of web services for cloud computing, including services for storage, compute, and machine learning. These services can be accessed and integrated into various applications.</a:t>
            </a:r>
          </a:p>
        </p:txBody>
      </p:sp>
    </p:spTree>
    <p:extLst>
      <p:ext uri="{BB962C8B-B14F-4D97-AF65-F5344CB8AC3E}">
        <p14:creationId xmlns:p14="http://schemas.microsoft.com/office/powerpoint/2010/main" val="1987712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BFF04-36E5-2732-060A-0BF1785E2642}"/>
              </a:ext>
            </a:extLst>
          </p:cNvPr>
          <p:cNvSpPr>
            <a:spLocks noGrp="1"/>
          </p:cNvSpPr>
          <p:nvPr>
            <p:ph type="title"/>
          </p:nvPr>
        </p:nvSpPr>
        <p:spPr/>
        <p:txBody>
          <a:bodyPr/>
          <a:lstStyle/>
          <a:p>
            <a:r>
              <a:rPr lang="en-US" b="1" dirty="0"/>
              <a:t>	API’s			 vs 		Web Services</a:t>
            </a:r>
          </a:p>
        </p:txBody>
      </p:sp>
      <p:sp>
        <p:nvSpPr>
          <p:cNvPr id="3" name="Content Placeholder 2">
            <a:extLst>
              <a:ext uri="{FF2B5EF4-FFF2-40B4-BE49-F238E27FC236}">
                <a16:creationId xmlns:a16="http://schemas.microsoft.com/office/drawing/2014/main" id="{28859092-66DE-51F1-64A3-9643B342A46E}"/>
              </a:ext>
            </a:extLst>
          </p:cNvPr>
          <p:cNvSpPr>
            <a:spLocks noGrp="1"/>
          </p:cNvSpPr>
          <p:nvPr>
            <p:ph sz="half" idx="1"/>
          </p:nvPr>
        </p:nvSpPr>
        <p:spPr/>
        <p:txBody>
          <a:bodyPr>
            <a:normAutofit fontScale="62500" lnSpcReduction="20000"/>
          </a:bodyPr>
          <a:lstStyle/>
          <a:p>
            <a:pPr algn="l">
              <a:buFont typeface="+mj-lt"/>
              <a:buAutoNum type="arabicPeriod"/>
            </a:pPr>
            <a:r>
              <a:rPr lang="en-US" b="1" i="0" dirty="0">
                <a:solidFill>
                  <a:srgbClr val="D1D5DB"/>
                </a:solidFill>
                <a:effectLst/>
                <a:latin typeface="Söhne"/>
              </a:rPr>
              <a:t>Definition:</a:t>
            </a:r>
            <a:r>
              <a:rPr lang="en-US" b="0" i="0" dirty="0">
                <a:solidFill>
                  <a:srgbClr val="D1D5DB"/>
                </a:solidFill>
                <a:effectLst/>
                <a:latin typeface="Söhne"/>
              </a:rPr>
              <a:t> An API is a set of rules and protocols that allows different software applications or components to communicate and interact with each other. It defines the methods and data formats that applications can use to request and exchange information.</a:t>
            </a:r>
          </a:p>
          <a:p>
            <a:pPr algn="l">
              <a:buFont typeface="+mj-lt"/>
              <a:buAutoNum type="arabicPeriod"/>
            </a:pPr>
            <a:r>
              <a:rPr lang="en-US" b="1" i="0" dirty="0">
                <a:solidFill>
                  <a:srgbClr val="D1D5DB"/>
                </a:solidFill>
                <a:effectLst/>
                <a:latin typeface="Söhne"/>
              </a:rPr>
              <a:t>Scope:</a:t>
            </a:r>
            <a:r>
              <a:rPr lang="en-US" b="0" i="0" dirty="0">
                <a:solidFill>
                  <a:srgbClr val="D1D5DB"/>
                </a:solidFill>
                <a:effectLst/>
                <a:latin typeface="Söhne"/>
              </a:rPr>
              <a:t> APIs can be broader in scope and not limited to web services. They can encompass a wide range of functionalities, including libraries, operating system functions, and more.</a:t>
            </a:r>
          </a:p>
          <a:p>
            <a:pPr algn="l">
              <a:buFont typeface="+mj-lt"/>
              <a:buAutoNum type="arabicPeriod"/>
            </a:pPr>
            <a:r>
              <a:rPr lang="en-US" b="1" i="0" dirty="0">
                <a:solidFill>
                  <a:srgbClr val="D1D5DB"/>
                </a:solidFill>
                <a:effectLst/>
                <a:latin typeface="Söhne"/>
              </a:rPr>
              <a:t>Usage:</a:t>
            </a:r>
            <a:r>
              <a:rPr lang="en-US" b="0" i="0" dirty="0">
                <a:solidFill>
                  <a:srgbClr val="D1D5DB"/>
                </a:solidFill>
                <a:effectLst/>
                <a:latin typeface="Söhne"/>
              </a:rPr>
              <a:t> APIs can be used for various purposes, including accessing hardware features, interacting with databases, utilizing third-party libraries, and more. They are not limited to web-based communication.</a:t>
            </a:r>
          </a:p>
          <a:p>
            <a:pPr algn="l">
              <a:buFont typeface="+mj-lt"/>
              <a:buAutoNum type="arabicPeriod"/>
            </a:pPr>
            <a:r>
              <a:rPr lang="en-US" b="1" i="0" dirty="0">
                <a:solidFill>
                  <a:srgbClr val="D1D5DB"/>
                </a:solidFill>
                <a:effectLst/>
                <a:latin typeface="Söhne"/>
              </a:rPr>
              <a:t>Communication:</a:t>
            </a:r>
            <a:r>
              <a:rPr lang="en-US" b="0" i="0" dirty="0">
                <a:solidFill>
                  <a:srgbClr val="D1D5DB"/>
                </a:solidFill>
                <a:effectLst/>
                <a:latin typeface="Söhne"/>
              </a:rPr>
              <a:t> APIs can use various communication methods, including but not limited to HTTP (for web-based APIs), libraries, command-line interfaces, and more.</a:t>
            </a:r>
          </a:p>
          <a:p>
            <a:endParaRPr lang="en-US" dirty="0"/>
          </a:p>
        </p:txBody>
      </p:sp>
      <p:sp>
        <p:nvSpPr>
          <p:cNvPr id="4" name="Content Placeholder 3">
            <a:extLst>
              <a:ext uri="{FF2B5EF4-FFF2-40B4-BE49-F238E27FC236}">
                <a16:creationId xmlns:a16="http://schemas.microsoft.com/office/drawing/2014/main" id="{A5A807BF-63B5-9AEC-FFD0-39D1F223F302}"/>
              </a:ext>
            </a:extLst>
          </p:cNvPr>
          <p:cNvSpPr>
            <a:spLocks noGrp="1"/>
          </p:cNvSpPr>
          <p:nvPr>
            <p:ph sz="half" idx="2"/>
          </p:nvPr>
        </p:nvSpPr>
        <p:spPr/>
        <p:txBody>
          <a:bodyPr>
            <a:normAutofit fontScale="62500" lnSpcReduction="20000"/>
          </a:bodyPr>
          <a:lstStyle/>
          <a:p>
            <a:pPr algn="l">
              <a:buFont typeface="+mj-lt"/>
              <a:buAutoNum type="arabicPeriod"/>
            </a:pPr>
            <a:r>
              <a:rPr lang="en-US" b="1" i="0" dirty="0">
                <a:solidFill>
                  <a:srgbClr val="D1D5DB"/>
                </a:solidFill>
                <a:effectLst/>
                <a:latin typeface="Söhne"/>
              </a:rPr>
              <a:t>Definition:</a:t>
            </a:r>
            <a:r>
              <a:rPr lang="en-US" b="0" i="0" dirty="0">
                <a:solidFill>
                  <a:srgbClr val="D1D5DB"/>
                </a:solidFill>
                <a:effectLst/>
                <a:latin typeface="Söhne"/>
              </a:rPr>
              <a:t> Web services are a specific type of API that use standard web protocols (such as HTTP) for communication. They are a subset of APIs that focus on enabling communication over the internet or a network.</a:t>
            </a:r>
          </a:p>
          <a:p>
            <a:pPr algn="l">
              <a:buFont typeface="+mj-lt"/>
              <a:buAutoNum type="arabicPeriod"/>
            </a:pPr>
            <a:r>
              <a:rPr lang="en-US" b="1" i="0" dirty="0">
                <a:solidFill>
                  <a:srgbClr val="D1D5DB"/>
                </a:solidFill>
                <a:effectLst/>
                <a:latin typeface="Söhne"/>
              </a:rPr>
              <a:t>Scope:</a:t>
            </a:r>
            <a:r>
              <a:rPr lang="en-US" b="0" i="0" dirty="0">
                <a:solidFill>
                  <a:srgbClr val="D1D5DB"/>
                </a:solidFill>
                <a:effectLst/>
                <a:latin typeface="Söhne"/>
              </a:rPr>
              <a:t> Web services are typically associated with web-based communication and data exchange. They are used for creating standardized interfaces for web applications to interact with each other.</a:t>
            </a:r>
          </a:p>
          <a:p>
            <a:pPr algn="l">
              <a:buFont typeface="+mj-lt"/>
              <a:buAutoNum type="arabicPeriod"/>
            </a:pPr>
            <a:r>
              <a:rPr lang="en-US" b="1" i="0" dirty="0">
                <a:solidFill>
                  <a:srgbClr val="D1D5DB"/>
                </a:solidFill>
                <a:effectLst/>
                <a:latin typeface="Söhne"/>
              </a:rPr>
              <a:t>Usage:</a:t>
            </a:r>
            <a:r>
              <a:rPr lang="en-US" b="0" i="0" dirty="0">
                <a:solidFill>
                  <a:srgbClr val="D1D5DB"/>
                </a:solidFill>
                <a:effectLst/>
                <a:latin typeface="Söhne"/>
              </a:rPr>
              <a:t> Web services are commonly used for building distributed applications, enabling data sharing between different systems, creating public APIs for web and mobile applications, and facilitating integration between various software components.</a:t>
            </a:r>
          </a:p>
          <a:p>
            <a:pPr algn="l">
              <a:buFont typeface="+mj-lt"/>
              <a:buAutoNum type="arabicPeriod"/>
            </a:pPr>
            <a:r>
              <a:rPr lang="en-US" b="1" i="0" dirty="0">
                <a:solidFill>
                  <a:srgbClr val="D1D5DB"/>
                </a:solidFill>
                <a:effectLst/>
                <a:latin typeface="Söhne"/>
              </a:rPr>
              <a:t>Communication:</a:t>
            </a:r>
            <a:r>
              <a:rPr lang="en-US" b="0" i="0" dirty="0">
                <a:solidFill>
                  <a:srgbClr val="D1D5DB"/>
                </a:solidFill>
                <a:effectLst/>
                <a:latin typeface="Söhne"/>
              </a:rPr>
              <a:t> Web services specifically use web protocols like HTTP, SOAP, REST, or others to enable communication between applications over the internet.</a:t>
            </a:r>
          </a:p>
          <a:p>
            <a:endParaRPr lang="en-US" dirty="0"/>
          </a:p>
        </p:txBody>
      </p:sp>
    </p:spTree>
    <p:extLst>
      <p:ext uri="{BB962C8B-B14F-4D97-AF65-F5344CB8AC3E}">
        <p14:creationId xmlns:p14="http://schemas.microsoft.com/office/powerpoint/2010/main" val="30354132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CAD69-499B-406A-502B-9AD7CD7CA2CB}"/>
              </a:ext>
            </a:extLst>
          </p:cNvPr>
          <p:cNvSpPr>
            <a:spLocks noGrp="1"/>
          </p:cNvSpPr>
          <p:nvPr>
            <p:ph type="title"/>
          </p:nvPr>
        </p:nvSpPr>
        <p:spPr/>
        <p:txBody>
          <a:bodyPr/>
          <a:lstStyle/>
          <a:p>
            <a:r>
              <a:rPr lang="en-US" b="1" dirty="0"/>
              <a:t>SOAP vs REST</a:t>
            </a:r>
          </a:p>
        </p:txBody>
      </p:sp>
      <p:pic>
        <p:nvPicPr>
          <p:cNvPr id="2050" name="Picture 2" descr="SOAP vs. REST: A Look at Two Different API Styles | Upwork">
            <a:extLst>
              <a:ext uri="{FF2B5EF4-FFF2-40B4-BE49-F238E27FC236}">
                <a16:creationId xmlns:a16="http://schemas.microsoft.com/office/drawing/2014/main" id="{DE0ED5D3-C66E-23E2-8094-71E92F49C3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64675" y="1690688"/>
            <a:ext cx="786264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5120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AD894-3712-A0D1-1004-A635FBF69D67}"/>
              </a:ext>
            </a:extLst>
          </p:cNvPr>
          <p:cNvSpPr>
            <a:spLocks noGrp="1"/>
          </p:cNvSpPr>
          <p:nvPr>
            <p:ph type="title"/>
          </p:nvPr>
        </p:nvSpPr>
        <p:spPr/>
        <p:txBody>
          <a:bodyPr/>
          <a:lstStyle/>
          <a:p>
            <a:r>
              <a:rPr lang="en-US" b="1" dirty="0"/>
              <a:t>SOAP vs REST</a:t>
            </a:r>
            <a:endParaRPr lang="en-US" dirty="0"/>
          </a:p>
        </p:txBody>
      </p:sp>
      <p:sp>
        <p:nvSpPr>
          <p:cNvPr id="3" name="Content Placeholder 2">
            <a:extLst>
              <a:ext uri="{FF2B5EF4-FFF2-40B4-BE49-F238E27FC236}">
                <a16:creationId xmlns:a16="http://schemas.microsoft.com/office/drawing/2014/main" id="{91F0A162-1673-EDD8-9EE5-A1DEEC20074D}"/>
              </a:ext>
            </a:extLst>
          </p:cNvPr>
          <p:cNvSpPr>
            <a:spLocks noGrp="1"/>
          </p:cNvSpPr>
          <p:nvPr>
            <p:ph idx="1"/>
          </p:nvPr>
        </p:nvSpPr>
        <p:spPr/>
        <p:txBody>
          <a:bodyPr/>
          <a:lstStyle/>
          <a:p>
            <a:pPr algn="l">
              <a:buFont typeface="Arial" panose="020B0604020202020204" pitchFamily="34" charset="0"/>
              <a:buChar char="•"/>
            </a:pPr>
            <a:r>
              <a:rPr lang="en-US" b="0" i="1" dirty="0">
                <a:solidFill>
                  <a:srgbClr val="D1D5DB"/>
                </a:solidFill>
                <a:effectLst/>
                <a:latin typeface="Söhne"/>
              </a:rPr>
              <a:t>Explanation</a:t>
            </a:r>
            <a:r>
              <a:rPr lang="en-US" b="0" i="0" dirty="0">
                <a:solidFill>
                  <a:srgbClr val="D1D5DB"/>
                </a:solidFill>
                <a:effectLst/>
                <a:latin typeface="Söhne"/>
              </a:rPr>
              <a:t>: SOAP (Simple Object Access Protocol) and REST (Representational State Transfer) are two common architectural styles for designing web services. SOAP uses XML for message formatting and relies on strict standards, while REST is more lightweight and relies on HTTP methods.</a:t>
            </a:r>
          </a:p>
          <a:p>
            <a:pPr algn="l">
              <a:buFont typeface="Arial" panose="020B0604020202020204" pitchFamily="34" charset="0"/>
              <a:buChar char="•"/>
            </a:pPr>
            <a:r>
              <a:rPr lang="en-US" b="0" i="1" dirty="0">
                <a:solidFill>
                  <a:srgbClr val="D1D5DB"/>
                </a:solidFill>
                <a:effectLst/>
                <a:latin typeface="Söhne"/>
              </a:rPr>
              <a:t>Example</a:t>
            </a:r>
            <a:r>
              <a:rPr lang="en-US" b="0" i="0" dirty="0">
                <a:solidFill>
                  <a:srgbClr val="D1D5DB"/>
                </a:solidFill>
                <a:effectLst/>
                <a:latin typeface="Söhne"/>
              </a:rPr>
              <a:t>: SOAP is often used in enterprise applications and might be seen in a financial application that communicates with a central server using XML messages. REST, on the other hand, is commonly used in web APIs, such as the Twitter API, where you use HTTP methods like GET, POST, PUT, and DELETE to interact with resources.</a:t>
            </a:r>
          </a:p>
          <a:p>
            <a:endParaRPr lang="en-US" dirty="0"/>
          </a:p>
        </p:txBody>
      </p:sp>
    </p:spTree>
    <p:extLst>
      <p:ext uri="{BB962C8B-B14F-4D97-AF65-F5344CB8AC3E}">
        <p14:creationId xmlns:p14="http://schemas.microsoft.com/office/powerpoint/2010/main" val="33366214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CDF9E-B085-DFF3-A0EA-3D1A5E9F5E23}"/>
              </a:ext>
            </a:extLst>
          </p:cNvPr>
          <p:cNvSpPr>
            <a:spLocks noGrp="1"/>
          </p:cNvSpPr>
          <p:nvPr>
            <p:ph type="title"/>
          </p:nvPr>
        </p:nvSpPr>
        <p:spPr/>
        <p:txBody>
          <a:bodyPr/>
          <a:lstStyle/>
          <a:p>
            <a:r>
              <a:rPr lang="en-US" b="1" i="0" dirty="0">
                <a:effectLst/>
                <a:latin typeface="Söhne"/>
              </a:rPr>
              <a:t>SOAP Example</a:t>
            </a:r>
            <a:endParaRPr lang="en-US" dirty="0"/>
          </a:p>
        </p:txBody>
      </p:sp>
      <p:sp>
        <p:nvSpPr>
          <p:cNvPr id="3" name="Content Placeholder 2">
            <a:extLst>
              <a:ext uri="{FF2B5EF4-FFF2-40B4-BE49-F238E27FC236}">
                <a16:creationId xmlns:a16="http://schemas.microsoft.com/office/drawing/2014/main" id="{5C62FC17-1B9E-8385-3B01-C49C90C65940}"/>
              </a:ext>
            </a:extLst>
          </p:cNvPr>
          <p:cNvSpPr>
            <a:spLocks noGrp="1"/>
          </p:cNvSpPr>
          <p:nvPr>
            <p:ph idx="1"/>
          </p:nvPr>
        </p:nvSpPr>
        <p:spPr/>
        <p:txBody>
          <a:bodyPr/>
          <a:lstStyle/>
          <a:p>
            <a:pPr algn="l">
              <a:buFont typeface="Arial" panose="020B0604020202020204" pitchFamily="34" charset="0"/>
              <a:buChar char="•"/>
            </a:pPr>
            <a:r>
              <a:rPr lang="en-US" b="0" i="1" dirty="0">
                <a:solidFill>
                  <a:srgbClr val="D1D5DB"/>
                </a:solidFill>
                <a:effectLst/>
                <a:latin typeface="Söhne"/>
              </a:rPr>
              <a:t>Explanation</a:t>
            </a:r>
            <a:r>
              <a:rPr lang="en-US" b="0" i="0" dirty="0">
                <a:solidFill>
                  <a:srgbClr val="D1D5DB"/>
                </a:solidFill>
                <a:effectLst/>
                <a:latin typeface="Söhne"/>
              </a:rPr>
              <a:t>: In a SOAP request, data is packaged in an XML format, and it typically includes a specific envelope structure and strict standards for message format. A SOAP response follows a similar structure.</a:t>
            </a:r>
          </a:p>
          <a:p>
            <a:pPr marL="0" indent="0" algn="l">
              <a:buNone/>
            </a:pPr>
            <a:endParaRPr lang="en-US" b="0" i="0" dirty="0">
              <a:solidFill>
                <a:srgbClr val="D1D5DB"/>
              </a:solidFill>
              <a:effectLst/>
              <a:latin typeface="Söhne"/>
            </a:endParaRPr>
          </a:p>
          <a:p>
            <a:pPr algn="l">
              <a:buFont typeface="Arial" panose="020B0604020202020204" pitchFamily="34" charset="0"/>
              <a:buChar char="•"/>
            </a:pPr>
            <a:r>
              <a:rPr lang="en-US" b="0" i="1" dirty="0">
                <a:solidFill>
                  <a:srgbClr val="D1D5DB"/>
                </a:solidFill>
                <a:effectLst/>
                <a:latin typeface="Söhne"/>
              </a:rPr>
              <a:t>Example</a:t>
            </a:r>
            <a:r>
              <a:rPr lang="en-US" b="0" i="0" dirty="0">
                <a:solidFill>
                  <a:srgbClr val="D1D5DB"/>
                </a:solidFill>
                <a:effectLst/>
                <a:latin typeface="Söhne"/>
              </a:rPr>
              <a:t>: To retrieve weather data through a SOAP service, you might send a request with a predefined XML envelope containing the necessary parameters. The response would be another XML document with the requested weather information.</a:t>
            </a:r>
          </a:p>
          <a:p>
            <a:endParaRPr lang="en-US" dirty="0"/>
          </a:p>
        </p:txBody>
      </p:sp>
    </p:spTree>
    <p:extLst>
      <p:ext uri="{BB962C8B-B14F-4D97-AF65-F5344CB8AC3E}">
        <p14:creationId xmlns:p14="http://schemas.microsoft.com/office/powerpoint/2010/main" val="30747700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E7F96-5CDC-24E5-364C-7287A39D0132}"/>
              </a:ext>
            </a:extLst>
          </p:cNvPr>
          <p:cNvSpPr>
            <a:spLocks noGrp="1"/>
          </p:cNvSpPr>
          <p:nvPr>
            <p:ph type="title"/>
          </p:nvPr>
        </p:nvSpPr>
        <p:spPr/>
        <p:txBody>
          <a:bodyPr/>
          <a:lstStyle/>
          <a:p>
            <a:r>
              <a:rPr lang="en-US" b="1" i="0" dirty="0">
                <a:effectLst/>
                <a:latin typeface="Söhne"/>
              </a:rPr>
              <a:t>REST Example</a:t>
            </a:r>
            <a:endParaRPr lang="en-US" dirty="0"/>
          </a:p>
        </p:txBody>
      </p:sp>
      <p:sp>
        <p:nvSpPr>
          <p:cNvPr id="3" name="Content Placeholder 2">
            <a:extLst>
              <a:ext uri="{FF2B5EF4-FFF2-40B4-BE49-F238E27FC236}">
                <a16:creationId xmlns:a16="http://schemas.microsoft.com/office/drawing/2014/main" id="{326CA1EC-4C13-0BE1-BF49-6DE939112469}"/>
              </a:ext>
            </a:extLst>
          </p:cNvPr>
          <p:cNvSpPr>
            <a:spLocks noGrp="1"/>
          </p:cNvSpPr>
          <p:nvPr>
            <p:ph idx="1"/>
          </p:nvPr>
        </p:nvSpPr>
        <p:spPr/>
        <p:txBody>
          <a:bodyPr/>
          <a:lstStyle/>
          <a:p>
            <a:r>
              <a:rPr lang="en-US" b="0" i="0" dirty="0">
                <a:solidFill>
                  <a:srgbClr val="D1D5DB"/>
                </a:solidFill>
                <a:effectLst/>
                <a:latin typeface="Söhne"/>
              </a:rPr>
              <a:t>Explanation: RESTful APIs use standard HTTP methods (GET, POST, PUT, DELETE) to perform actions on resources, which are typically represented in JSON or XML format. It's flexible and relies on stateless communication.</a:t>
            </a:r>
          </a:p>
          <a:p>
            <a:endParaRPr lang="en-US" b="0" i="0" dirty="0">
              <a:solidFill>
                <a:srgbClr val="D1D5DB"/>
              </a:solidFill>
              <a:effectLst/>
              <a:latin typeface="Söhne"/>
            </a:endParaRPr>
          </a:p>
          <a:p>
            <a:r>
              <a:rPr lang="en-US" b="0" i="0" dirty="0">
                <a:solidFill>
                  <a:srgbClr val="D1D5DB"/>
                </a:solidFill>
                <a:effectLst/>
                <a:latin typeface="Söhne"/>
              </a:rPr>
              <a:t>Example: To access information about countries from a RESTful API, you would send a GET request to a URL like https://api.example.com/countries. The response would be a JSON or XML document containing the country data.</a:t>
            </a:r>
            <a:endParaRPr lang="en-US" dirty="0"/>
          </a:p>
        </p:txBody>
      </p:sp>
    </p:spTree>
    <p:extLst>
      <p:ext uri="{BB962C8B-B14F-4D97-AF65-F5344CB8AC3E}">
        <p14:creationId xmlns:p14="http://schemas.microsoft.com/office/powerpoint/2010/main" val="19002180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F182-3420-441A-C717-529533813FFA}"/>
              </a:ext>
            </a:extLst>
          </p:cNvPr>
          <p:cNvSpPr>
            <a:spLocks noGrp="1"/>
          </p:cNvSpPr>
          <p:nvPr>
            <p:ph type="title"/>
          </p:nvPr>
        </p:nvSpPr>
        <p:spPr/>
        <p:txBody>
          <a:bodyPr/>
          <a:lstStyle/>
          <a:p>
            <a:r>
              <a:rPr lang="en-US" b="1" dirty="0"/>
              <a:t>XML vs JSON syntax example</a:t>
            </a:r>
          </a:p>
        </p:txBody>
      </p:sp>
      <p:sp>
        <p:nvSpPr>
          <p:cNvPr id="3" name="Content Placeholder 2">
            <a:extLst>
              <a:ext uri="{FF2B5EF4-FFF2-40B4-BE49-F238E27FC236}">
                <a16:creationId xmlns:a16="http://schemas.microsoft.com/office/drawing/2014/main" id="{1029B6C2-3466-BC5C-8E66-28A46945DDB9}"/>
              </a:ext>
            </a:extLst>
          </p:cNvPr>
          <p:cNvSpPr>
            <a:spLocks noGrp="1"/>
          </p:cNvSpPr>
          <p:nvPr>
            <p:ph sz="half" idx="1"/>
          </p:nvPr>
        </p:nvSpPr>
        <p:spPr/>
        <p:txBody>
          <a:bodyPr>
            <a:normAutofit fontScale="47500" lnSpcReduction="20000"/>
          </a:bodyPr>
          <a:lstStyle/>
          <a:p>
            <a:r>
              <a:rPr lang="en-US" sz="5100" b="1" dirty="0"/>
              <a:t>XML</a:t>
            </a:r>
            <a:br>
              <a:rPr lang="en-US" dirty="0"/>
            </a:br>
            <a:br>
              <a:rPr lang="en-US" dirty="0"/>
            </a:br>
            <a:r>
              <a:rPr lang="en-US" dirty="0"/>
              <a:t>&lt;employees&gt;</a:t>
            </a:r>
          </a:p>
          <a:p>
            <a:r>
              <a:rPr lang="en-US" dirty="0"/>
              <a:t>  &lt;employee&gt;</a:t>
            </a:r>
          </a:p>
          <a:p>
            <a:r>
              <a:rPr lang="en-US" dirty="0"/>
              <a:t>    &lt;</a:t>
            </a:r>
            <a:r>
              <a:rPr lang="en-US" dirty="0" err="1"/>
              <a:t>firstName</a:t>
            </a:r>
            <a:r>
              <a:rPr lang="en-US" dirty="0"/>
              <a:t>&gt;John&lt;/</a:t>
            </a:r>
            <a:r>
              <a:rPr lang="en-US" dirty="0" err="1"/>
              <a:t>firstName</a:t>
            </a:r>
            <a:r>
              <a:rPr lang="en-US" dirty="0"/>
              <a:t>&gt;</a:t>
            </a:r>
          </a:p>
          <a:p>
            <a:r>
              <a:rPr lang="en-US" dirty="0"/>
              <a:t>    &lt;</a:t>
            </a:r>
            <a:r>
              <a:rPr lang="en-US" dirty="0" err="1"/>
              <a:t>lastName</a:t>
            </a:r>
            <a:r>
              <a:rPr lang="en-US" dirty="0"/>
              <a:t>&gt;Doe&lt;/</a:t>
            </a:r>
            <a:r>
              <a:rPr lang="en-US" dirty="0" err="1"/>
              <a:t>lastName</a:t>
            </a:r>
            <a:r>
              <a:rPr lang="en-US" dirty="0"/>
              <a:t>&gt;</a:t>
            </a:r>
          </a:p>
          <a:p>
            <a:r>
              <a:rPr lang="en-US" dirty="0"/>
              <a:t>  &lt;/employee&gt;</a:t>
            </a:r>
          </a:p>
          <a:p>
            <a:r>
              <a:rPr lang="en-US" dirty="0"/>
              <a:t>  &lt;employee&gt;</a:t>
            </a:r>
          </a:p>
          <a:p>
            <a:r>
              <a:rPr lang="en-US" dirty="0"/>
              <a:t>    &lt;</a:t>
            </a:r>
            <a:r>
              <a:rPr lang="en-US" dirty="0" err="1"/>
              <a:t>firstName</a:t>
            </a:r>
            <a:r>
              <a:rPr lang="en-US" dirty="0"/>
              <a:t>&gt;Anna&lt;/</a:t>
            </a:r>
            <a:r>
              <a:rPr lang="en-US" dirty="0" err="1"/>
              <a:t>firstName</a:t>
            </a:r>
            <a:r>
              <a:rPr lang="en-US" dirty="0"/>
              <a:t>&gt;</a:t>
            </a:r>
          </a:p>
          <a:p>
            <a:r>
              <a:rPr lang="en-US" dirty="0"/>
              <a:t>    &lt;</a:t>
            </a:r>
            <a:r>
              <a:rPr lang="en-US" dirty="0" err="1"/>
              <a:t>lastName</a:t>
            </a:r>
            <a:r>
              <a:rPr lang="en-US" dirty="0"/>
              <a:t>&gt;Smith&lt;/</a:t>
            </a:r>
            <a:r>
              <a:rPr lang="en-US" dirty="0" err="1"/>
              <a:t>lastName</a:t>
            </a:r>
            <a:r>
              <a:rPr lang="en-US" dirty="0"/>
              <a:t>&gt;</a:t>
            </a:r>
          </a:p>
          <a:p>
            <a:r>
              <a:rPr lang="en-US" dirty="0"/>
              <a:t>  &lt;/employee&gt;</a:t>
            </a:r>
          </a:p>
          <a:p>
            <a:r>
              <a:rPr lang="en-US" dirty="0"/>
              <a:t>  &lt;employee&gt;</a:t>
            </a:r>
          </a:p>
          <a:p>
            <a:r>
              <a:rPr lang="en-US" dirty="0"/>
              <a:t>    &lt;</a:t>
            </a:r>
            <a:r>
              <a:rPr lang="en-US" dirty="0" err="1"/>
              <a:t>firstName</a:t>
            </a:r>
            <a:r>
              <a:rPr lang="en-US" dirty="0"/>
              <a:t>&gt;Peter&lt;/</a:t>
            </a:r>
            <a:r>
              <a:rPr lang="en-US" dirty="0" err="1"/>
              <a:t>firstName</a:t>
            </a:r>
            <a:r>
              <a:rPr lang="en-US" dirty="0"/>
              <a:t>&gt;</a:t>
            </a:r>
          </a:p>
          <a:p>
            <a:r>
              <a:rPr lang="en-US" dirty="0"/>
              <a:t>    &lt;</a:t>
            </a:r>
            <a:r>
              <a:rPr lang="en-US" dirty="0" err="1"/>
              <a:t>lastName</a:t>
            </a:r>
            <a:r>
              <a:rPr lang="en-US" dirty="0"/>
              <a:t>&gt;Jones&lt;/</a:t>
            </a:r>
            <a:r>
              <a:rPr lang="en-US" dirty="0" err="1"/>
              <a:t>lastName</a:t>
            </a:r>
            <a:r>
              <a:rPr lang="en-US" dirty="0"/>
              <a:t>&gt;</a:t>
            </a:r>
          </a:p>
          <a:p>
            <a:r>
              <a:rPr lang="en-US" dirty="0"/>
              <a:t>  &lt;/employee&gt;</a:t>
            </a:r>
          </a:p>
          <a:p>
            <a:r>
              <a:rPr lang="en-US" dirty="0"/>
              <a:t>&lt;/employees&gt;</a:t>
            </a:r>
          </a:p>
          <a:p>
            <a:endParaRPr lang="en-US" dirty="0"/>
          </a:p>
        </p:txBody>
      </p:sp>
      <p:sp>
        <p:nvSpPr>
          <p:cNvPr id="4" name="Content Placeholder 3">
            <a:extLst>
              <a:ext uri="{FF2B5EF4-FFF2-40B4-BE49-F238E27FC236}">
                <a16:creationId xmlns:a16="http://schemas.microsoft.com/office/drawing/2014/main" id="{B8976707-DA30-C576-DC65-B359DB9D9AAE}"/>
              </a:ext>
            </a:extLst>
          </p:cNvPr>
          <p:cNvSpPr>
            <a:spLocks noGrp="1"/>
          </p:cNvSpPr>
          <p:nvPr>
            <p:ph sz="half" idx="2"/>
          </p:nvPr>
        </p:nvSpPr>
        <p:spPr/>
        <p:txBody>
          <a:bodyPr>
            <a:normAutofit fontScale="47500" lnSpcReduction="20000"/>
          </a:bodyPr>
          <a:lstStyle/>
          <a:p>
            <a:pPr algn="just"/>
            <a:r>
              <a:rPr lang="en-US" sz="5900" b="1" dirty="0">
                <a:solidFill>
                  <a:srgbClr val="ECECF1"/>
                </a:solidFill>
                <a:latin typeface="Söhne"/>
              </a:rPr>
              <a:t>JSON</a:t>
            </a:r>
            <a:endParaRPr lang="en-US" sz="4200" b="1" dirty="0">
              <a:solidFill>
                <a:srgbClr val="ECECF1"/>
              </a:solidFill>
              <a:latin typeface="Söhne"/>
            </a:endParaRPr>
          </a:p>
          <a:p>
            <a:endParaRPr lang="en-US" sz="4200" i="0" dirty="0">
              <a:solidFill>
                <a:srgbClr val="ECECF1"/>
              </a:solidFill>
              <a:effectLst/>
              <a:latin typeface="Söhne"/>
            </a:endParaRPr>
          </a:p>
          <a:p>
            <a:r>
              <a:rPr lang="en-US" sz="4200" i="0" dirty="0">
                <a:solidFill>
                  <a:srgbClr val="ECECF1"/>
                </a:solidFill>
                <a:effectLst/>
                <a:latin typeface="Söhne"/>
              </a:rPr>
              <a:t>{ </a:t>
            </a:r>
          </a:p>
          <a:p>
            <a:r>
              <a:rPr lang="en-US" sz="4200" i="0" dirty="0">
                <a:solidFill>
                  <a:srgbClr val="ECECF1"/>
                </a:solidFill>
                <a:effectLst/>
                <a:latin typeface="Söhne"/>
              </a:rPr>
              <a:t>"employees":[ </a:t>
            </a:r>
          </a:p>
          <a:p>
            <a:r>
              <a:rPr lang="en-US" sz="4200" i="0" dirty="0">
                <a:solidFill>
                  <a:srgbClr val="ECECF1"/>
                </a:solidFill>
                <a:effectLst/>
                <a:latin typeface="Söhne"/>
              </a:rPr>
              <a:t>{"</a:t>
            </a:r>
            <a:r>
              <a:rPr lang="en-US" sz="4200" i="0" dirty="0" err="1">
                <a:solidFill>
                  <a:srgbClr val="ECECF1"/>
                </a:solidFill>
                <a:effectLst/>
                <a:latin typeface="Söhne"/>
              </a:rPr>
              <a:t>firstName</a:t>
            </a:r>
            <a:r>
              <a:rPr lang="en-US" sz="4200" i="0" dirty="0">
                <a:solidFill>
                  <a:srgbClr val="ECECF1"/>
                </a:solidFill>
                <a:effectLst/>
                <a:latin typeface="Söhne"/>
              </a:rPr>
              <a:t>":"John", "</a:t>
            </a:r>
            <a:r>
              <a:rPr lang="en-US" sz="4200" i="0" dirty="0" err="1">
                <a:solidFill>
                  <a:srgbClr val="ECECF1"/>
                </a:solidFill>
                <a:effectLst/>
                <a:latin typeface="Söhne"/>
              </a:rPr>
              <a:t>lastName</a:t>
            </a:r>
            <a:r>
              <a:rPr lang="en-US" sz="4200" i="0" dirty="0">
                <a:solidFill>
                  <a:srgbClr val="ECECF1"/>
                </a:solidFill>
                <a:effectLst/>
                <a:latin typeface="Söhne"/>
              </a:rPr>
              <a:t>":"Doe"}, {"</a:t>
            </a:r>
            <a:r>
              <a:rPr lang="en-US" sz="4200" i="0" dirty="0" err="1">
                <a:solidFill>
                  <a:srgbClr val="ECECF1"/>
                </a:solidFill>
                <a:effectLst/>
                <a:latin typeface="Söhne"/>
              </a:rPr>
              <a:t>firstName</a:t>
            </a:r>
            <a:r>
              <a:rPr lang="en-US" sz="4200" i="0" dirty="0">
                <a:solidFill>
                  <a:srgbClr val="ECECF1"/>
                </a:solidFill>
                <a:effectLst/>
                <a:latin typeface="Söhne"/>
              </a:rPr>
              <a:t>":"Anna", "</a:t>
            </a:r>
            <a:r>
              <a:rPr lang="en-US" sz="4200" i="0" dirty="0" err="1">
                <a:solidFill>
                  <a:srgbClr val="ECECF1"/>
                </a:solidFill>
                <a:effectLst/>
                <a:latin typeface="Söhne"/>
              </a:rPr>
              <a:t>lastName</a:t>
            </a:r>
            <a:r>
              <a:rPr lang="en-US" sz="4200" i="0" dirty="0">
                <a:solidFill>
                  <a:srgbClr val="ECECF1"/>
                </a:solidFill>
                <a:effectLst/>
                <a:latin typeface="Söhne"/>
              </a:rPr>
              <a:t>":"Smith"}, {"</a:t>
            </a:r>
            <a:r>
              <a:rPr lang="en-US" sz="4200" i="0" dirty="0" err="1">
                <a:solidFill>
                  <a:srgbClr val="ECECF1"/>
                </a:solidFill>
                <a:effectLst/>
                <a:latin typeface="Söhne"/>
              </a:rPr>
              <a:t>firstName</a:t>
            </a:r>
            <a:r>
              <a:rPr lang="en-US" sz="4200" i="0" dirty="0">
                <a:solidFill>
                  <a:srgbClr val="ECECF1"/>
                </a:solidFill>
                <a:effectLst/>
                <a:latin typeface="Söhne"/>
              </a:rPr>
              <a:t>":"Peter", "</a:t>
            </a:r>
            <a:r>
              <a:rPr lang="en-US" sz="4200" i="0" dirty="0" err="1">
                <a:solidFill>
                  <a:srgbClr val="ECECF1"/>
                </a:solidFill>
                <a:effectLst/>
                <a:latin typeface="Söhne"/>
              </a:rPr>
              <a:t>lastName</a:t>
            </a:r>
            <a:r>
              <a:rPr lang="en-US" sz="4200" i="0" dirty="0">
                <a:solidFill>
                  <a:srgbClr val="ECECF1"/>
                </a:solidFill>
                <a:effectLst/>
                <a:latin typeface="Söhne"/>
              </a:rPr>
              <a:t>":"Jones"} </a:t>
            </a:r>
          </a:p>
          <a:p>
            <a:r>
              <a:rPr lang="en-US" sz="4200" i="0" dirty="0">
                <a:solidFill>
                  <a:srgbClr val="ECECF1"/>
                </a:solidFill>
                <a:effectLst/>
                <a:latin typeface="Söhne"/>
              </a:rPr>
              <a:t>] </a:t>
            </a:r>
          </a:p>
          <a:p>
            <a:r>
              <a:rPr lang="en-US" sz="4200" i="0" dirty="0">
                <a:solidFill>
                  <a:srgbClr val="ECECF1"/>
                </a:solidFill>
                <a:effectLst/>
                <a:latin typeface="Söhne"/>
              </a:rPr>
              <a:t>}</a:t>
            </a:r>
            <a:endParaRPr lang="en-US" sz="4200" dirty="0"/>
          </a:p>
        </p:txBody>
      </p:sp>
    </p:spTree>
    <p:extLst>
      <p:ext uri="{BB962C8B-B14F-4D97-AF65-F5344CB8AC3E}">
        <p14:creationId xmlns:p14="http://schemas.microsoft.com/office/powerpoint/2010/main" val="31879532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E5903-C091-0BC1-0D26-36D1732EE0E1}"/>
              </a:ext>
            </a:extLst>
          </p:cNvPr>
          <p:cNvSpPr>
            <a:spLocks noGrp="1"/>
          </p:cNvSpPr>
          <p:nvPr>
            <p:ph type="title"/>
          </p:nvPr>
        </p:nvSpPr>
        <p:spPr/>
        <p:txBody>
          <a:bodyPr/>
          <a:lstStyle/>
          <a:p>
            <a:r>
              <a:rPr lang="en-US" b="1" i="0" dirty="0">
                <a:effectLst/>
                <a:latin typeface="Söhne"/>
              </a:rPr>
              <a:t>HTTP Requests</a:t>
            </a:r>
            <a:endParaRPr lang="en-US" dirty="0"/>
          </a:p>
        </p:txBody>
      </p:sp>
      <p:sp>
        <p:nvSpPr>
          <p:cNvPr id="3" name="Content Placeholder 2">
            <a:extLst>
              <a:ext uri="{FF2B5EF4-FFF2-40B4-BE49-F238E27FC236}">
                <a16:creationId xmlns:a16="http://schemas.microsoft.com/office/drawing/2014/main" id="{D51F4A1F-03FB-18B0-43CC-0E2211E79E98}"/>
              </a:ext>
            </a:extLst>
          </p:cNvPr>
          <p:cNvSpPr>
            <a:spLocks noGrp="1"/>
          </p:cNvSpPr>
          <p:nvPr>
            <p:ph idx="1"/>
          </p:nvPr>
        </p:nvSpPr>
        <p:spPr/>
        <p:txBody>
          <a:bodyPr/>
          <a:lstStyle/>
          <a:p>
            <a:pPr algn="l">
              <a:buFont typeface="Arial" panose="020B0604020202020204" pitchFamily="34" charset="0"/>
              <a:buChar char="•"/>
            </a:pPr>
            <a:r>
              <a:rPr lang="en-US" b="0" i="1" dirty="0">
                <a:solidFill>
                  <a:srgbClr val="D1D5DB"/>
                </a:solidFill>
                <a:effectLst/>
                <a:latin typeface="Söhne"/>
              </a:rPr>
              <a:t>Explanation</a:t>
            </a:r>
            <a:r>
              <a:rPr lang="en-US" b="0" i="0" dirty="0">
                <a:solidFill>
                  <a:srgbClr val="D1D5DB"/>
                </a:solidFill>
                <a:effectLst/>
                <a:latin typeface="Söhne"/>
              </a:rPr>
              <a:t>: HTTP (Hypertext Transfer Protocol) is the foundation of data communication on the World Wide Web. HTTP requests are actions initiated by a client (e.g., a web browser or an application) to retrieve or send data to a server.</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1" dirty="0">
                <a:solidFill>
                  <a:srgbClr val="D1D5DB"/>
                </a:solidFill>
                <a:effectLst/>
                <a:latin typeface="Söhne"/>
              </a:rPr>
              <a:t>Example</a:t>
            </a:r>
            <a:r>
              <a:rPr lang="en-US" b="0" i="0" dirty="0">
                <a:solidFill>
                  <a:srgbClr val="D1D5DB"/>
                </a:solidFill>
                <a:effectLst/>
                <a:latin typeface="Söhne"/>
              </a:rPr>
              <a:t>: When you open a web page in your browser, it sends an HTTP GET request to the server to retrieve the page's content. Other common HTTP request methods include POST (for submitting data), PUT (for updating data), and DELETE (for removing data).</a:t>
            </a:r>
          </a:p>
          <a:p>
            <a:endParaRPr lang="en-US" dirty="0"/>
          </a:p>
        </p:txBody>
      </p:sp>
    </p:spTree>
    <p:extLst>
      <p:ext uri="{BB962C8B-B14F-4D97-AF65-F5344CB8AC3E}">
        <p14:creationId xmlns:p14="http://schemas.microsoft.com/office/powerpoint/2010/main" val="12929208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57312-06EF-A3A9-6B27-3BA169938FD8}"/>
              </a:ext>
            </a:extLst>
          </p:cNvPr>
          <p:cNvSpPr>
            <a:spLocks noGrp="1"/>
          </p:cNvSpPr>
          <p:nvPr>
            <p:ph type="title"/>
          </p:nvPr>
        </p:nvSpPr>
        <p:spPr/>
        <p:txBody>
          <a:bodyPr/>
          <a:lstStyle/>
          <a:p>
            <a:r>
              <a:rPr lang="en-US" b="1" i="0" dirty="0">
                <a:effectLst/>
                <a:latin typeface="Söhne"/>
              </a:rPr>
              <a:t>HTTP vs HTTPS</a:t>
            </a:r>
            <a:r>
              <a:rPr lang="en-US" b="0" i="0" dirty="0">
                <a:solidFill>
                  <a:srgbClr val="D1D5DB"/>
                </a:solidFill>
                <a:effectLst/>
                <a:latin typeface="Söhne"/>
              </a:rPr>
              <a:t>:</a:t>
            </a:r>
            <a:endParaRPr lang="en-US" dirty="0"/>
          </a:p>
        </p:txBody>
      </p:sp>
      <p:sp>
        <p:nvSpPr>
          <p:cNvPr id="3" name="Content Placeholder 2">
            <a:extLst>
              <a:ext uri="{FF2B5EF4-FFF2-40B4-BE49-F238E27FC236}">
                <a16:creationId xmlns:a16="http://schemas.microsoft.com/office/drawing/2014/main" id="{12C363A3-FE31-80E5-FA29-31AD64618C80}"/>
              </a:ext>
            </a:extLst>
          </p:cNvPr>
          <p:cNvSpPr>
            <a:spLocks noGrp="1"/>
          </p:cNvSpPr>
          <p:nvPr>
            <p:ph idx="1"/>
          </p:nvPr>
        </p:nvSpPr>
        <p:spPr/>
        <p:txBody>
          <a:bodyPr/>
          <a:lstStyle/>
          <a:p>
            <a:pPr algn="l">
              <a:buFont typeface="Arial" panose="020B0604020202020204" pitchFamily="34" charset="0"/>
              <a:buChar char="•"/>
            </a:pPr>
            <a:r>
              <a:rPr lang="en-US" b="0" i="0" dirty="0">
                <a:solidFill>
                  <a:srgbClr val="D1D5DB"/>
                </a:solidFill>
                <a:effectLst/>
                <a:latin typeface="Söhne"/>
              </a:rPr>
              <a:t>HTTP (Hypertext Transfer Protocol) and HTTPS (Hypertext Transfer Protocol Secure) are protocols used for communication between a client (such as a web browser) and a server (where a website or web service is hosted).</a:t>
            </a:r>
          </a:p>
          <a:p>
            <a:pPr marL="0" indent="0" algn="l">
              <a:buNone/>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HTTP is not secure, as data transferred between the client and server is in plain text and can be intercepted by malicious actors. HTTPS, on the other hand, encrypts the data, making it secure.</a:t>
            </a:r>
          </a:p>
          <a:p>
            <a:endParaRPr lang="en-US" dirty="0"/>
          </a:p>
        </p:txBody>
      </p:sp>
    </p:spTree>
    <p:extLst>
      <p:ext uri="{BB962C8B-B14F-4D97-AF65-F5344CB8AC3E}">
        <p14:creationId xmlns:p14="http://schemas.microsoft.com/office/powerpoint/2010/main" val="28140433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4FEB6-A022-BAD6-012F-348450815F85}"/>
              </a:ext>
            </a:extLst>
          </p:cNvPr>
          <p:cNvSpPr>
            <a:spLocks noGrp="1"/>
          </p:cNvSpPr>
          <p:nvPr>
            <p:ph type="title"/>
          </p:nvPr>
        </p:nvSpPr>
        <p:spPr/>
        <p:txBody>
          <a:bodyPr/>
          <a:lstStyle/>
          <a:p>
            <a:r>
              <a:rPr lang="en-US" b="1" i="0" dirty="0">
                <a:effectLst/>
                <a:latin typeface="Söhne"/>
              </a:rPr>
              <a:t>HTTP Status Codes</a:t>
            </a:r>
            <a:endParaRPr lang="en-US" dirty="0"/>
          </a:p>
        </p:txBody>
      </p:sp>
      <p:sp>
        <p:nvSpPr>
          <p:cNvPr id="3" name="Content Placeholder 2">
            <a:extLst>
              <a:ext uri="{FF2B5EF4-FFF2-40B4-BE49-F238E27FC236}">
                <a16:creationId xmlns:a16="http://schemas.microsoft.com/office/drawing/2014/main" id="{80306BE7-45C2-A51A-3845-D836F95A8133}"/>
              </a:ext>
            </a:extLst>
          </p:cNvPr>
          <p:cNvSpPr>
            <a:spLocks noGrp="1"/>
          </p:cNvSpPr>
          <p:nvPr>
            <p:ph idx="1"/>
          </p:nvPr>
        </p:nvSpPr>
        <p:spPr/>
        <p:txBody>
          <a:bodyPr/>
          <a:lstStyle/>
          <a:p>
            <a:pPr algn="l">
              <a:buFont typeface="Arial" panose="020B0604020202020204" pitchFamily="34" charset="0"/>
              <a:buChar char="•"/>
            </a:pPr>
            <a:r>
              <a:rPr lang="en-US" b="0" i="1" dirty="0">
                <a:solidFill>
                  <a:srgbClr val="D1D5DB"/>
                </a:solidFill>
                <a:effectLst/>
                <a:latin typeface="Söhne"/>
              </a:rPr>
              <a:t>Explanation</a:t>
            </a:r>
            <a:r>
              <a:rPr lang="en-US" b="0" i="0" dirty="0">
                <a:solidFill>
                  <a:srgbClr val="D1D5DB"/>
                </a:solidFill>
                <a:effectLst/>
                <a:latin typeface="Söhne"/>
              </a:rPr>
              <a:t>: HTTP status codes are three-digit numbers returned by a server to indicate the outcome of an HTTP request. They provide information about the success or failure of a request and help in diagnosing and resolving issues.</a:t>
            </a:r>
          </a:p>
          <a:p>
            <a:pPr algn="l">
              <a:buFont typeface="Arial" panose="020B0604020202020204" pitchFamily="34" charset="0"/>
              <a:buChar char="•"/>
            </a:pPr>
            <a:endParaRPr lang="en-US" b="0" i="1" dirty="0">
              <a:solidFill>
                <a:srgbClr val="D1D5DB"/>
              </a:solidFill>
              <a:effectLst/>
              <a:latin typeface="Söhne"/>
            </a:endParaRPr>
          </a:p>
          <a:p>
            <a:pPr algn="l">
              <a:buFont typeface="Arial" panose="020B0604020202020204" pitchFamily="34" charset="0"/>
              <a:buChar char="•"/>
            </a:pPr>
            <a:r>
              <a:rPr lang="en-US" b="0" i="1" dirty="0">
                <a:solidFill>
                  <a:srgbClr val="D1D5DB"/>
                </a:solidFill>
                <a:effectLst/>
                <a:latin typeface="Söhne"/>
              </a:rPr>
              <a:t>Example</a:t>
            </a:r>
            <a:r>
              <a:rPr lang="en-US" b="0" i="0" dirty="0">
                <a:solidFill>
                  <a:srgbClr val="D1D5DB"/>
                </a:solidFill>
                <a:effectLst/>
                <a:latin typeface="Söhne"/>
              </a:rPr>
              <a:t>: When you access a website, you might receive an HTTP 200 status code, indicating a successful request. If you encounter a "404 Not Found" error, it means the requested resource couldn't be located.</a:t>
            </a:r>
          </a:p>
          <a:p>
            <a:endParaRPr lang="en-US" dirty="0"/>
          </a:p>
        </p:txBody>
      </p:sp>
    </p:spTree>
    <p:extLst>
      <p:ext uri="{BB962C8B-B14F-4D97-AF65-F5344CB8AC3E}">
        <p14:creationId xmlns:p14="http://schemas.microsoft.com/office/powerpoint/2010/main" val="37753992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E3BF9-16D1-8801-440E-E0A7A7228A86}"/>
              </a:ext>
            </a:extLst>
          </p:cNvPr>
          <p:cNvSpPr>
            <a:spLocks noGrp="1"/>
          </p:cNvSpPr>
          <p:nvPr>
            <p:ph type="title"/>
          </p:nvPr>
        </p:nvSpPr>
        <p:spPr/>
        <p:txBody>
          <a:bodyPr/>
          <a:lstStyle/>
          <a:p>
            <a:r>
              <a:rPr lang="en-US" b="1" dirty="0"/>
              <a:t>Introduction to Postman</a:t>
            </a:r>
          </a:p>
        </p:txBody>
      </p:sp>
      <p:sp>
        <p:nvSpPr>
          <p:cNvPr id="3" name="Content Placeholder 2">
            <a:extLst>
              <a:ext uri="{FF2B5EF4-FFF2-40B4-BE49-F238E27FC236}">
                <a16:creationId xmlns:a16="http://schemas.microsoft.com/office/drawing/2014/main" id="{9176803F-4837-E531-5CF6-03052064D975}"/>
              </a:ext>
            </a:extLst>
          </p:cNvPr>
          <p:cNvSpPr>
            <a:spLocks noGrp="1"/>
          </p:cNvSpPr>
          <p:nvPr>
            <p:ph idx="1"/>
          </p:nvPr>
        </p:nvSpPr>
        <p:spPr/>
        <p:txBody>
          <a:bodyPr>
            <a:normAutofit lnSpcReduction="10000"/>
          </a:bodyPr>
          <a:lstStyle/>
          <a:p>
            <a:pPr algn="l">
              <a:buFont typeface="+mj-lt"/>
              <a:buAutoNum type="arabicPeriod"/>
            </a:pPr>
            <a:r>
              <a:rPr lang="en-US" b="1" i="0" dirty="0">
                <a:solidFill>
                  <a:srgbClr val="D1D5DB"/>
                </a:solidFill>
                <a:effectLst/>
                <a:latin typeface="Söhne"/>
              </a:rPr>
              <a:t>Collections</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A collection in Postman is a group or folder where you can organize and store a set of related API requests. It allows you to group requests together for better organization and management. You can create and name collections to categorize your API endpoints, making it easier to find and work with them.</a:t>
            </a:r>
          </a:p>
          <a:p>
            <a:pPr marL="457200" lvl="1" indent="0" algn="l">
              <a:buNone/>
            </a:pP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Headers</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Headers are part of an HTTP request or response and contain metadata about the request or response. In Postman, you can add headers to your requests to specify additional information such as the content type, authorization details, or custom parameters. Headers are crucial for configuring the behavior of the API request or response.</a:t>
            </a:r>
          </a:p>
          <a:p>
            <a:endParaRPr lang="en-US" dirty="0"/>
          </a:p>
        </p:txBody>
      </p:sp>
    </p:spTree>
    <p:extLst>
      <p:ext uri="{BB962C8B-B14F-4D97-AF65-F5344CB8AC3E}">
        <p14:creationId xmlns:p14="http://schemas.microsoft.com/office/powerpoint/2010/main" val="25040075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0225E-8FA2-841C-AF24-2479213F4FC2}"/>
              </a:ext>
            </a:extLst>
          </p:cNvPr>
          <p:cNvSpPr>
            <a:spLocks noGrp="1"/>
          </p:cNvSpPr>
          <p:nvPr>
            <p:ph type="title"/>
          </p:nvPr>
        </p:nvSpPr>
        <p:spPr/>
        <p:txBody>
          <a:bodyPr/>
          <a:lstStyle/>
          <a:p>
            <a:r>
              <a:rPr lang="en-US" b="1" dirty="0"/>
              <a:t>Introduction to Postman</a:t>
            </a:r>
            <a:endParaRPr lang="en-US" dirty="0"/>
          </a:p>
        </p:txBody>
      </p:sp>
      <p:sp>
        <p:nvSpPr>
          <p:cNvPr id="3" name="Content Placeholder 2">
            <a:extLst>
              <a:ext uri="{FF2B5EF4-FFF2-40B4-BE49-F238E27FC236}">
                <a16:creationId xmlns:a16="http://schemas.microsoft.com/office/drawing/2014/main" id="{A80FB18D-6CD8-7268-52F0-EDBCF18D03DE}"/>
              </a:ext>
            </a:extLst>
          </p:cNvPr>
          <p:cNvSpPr>
            <a:spLocks noGrp="1"/>
          </p:cNvSpPr>
          <p:nvPr>
            <p:ph idx="1"/>
          </p:nvPr>
        </p:nvSpPr>
        <p:spPr/>
        <p:txBody>
          <a:bodyPr>
            <a:normAutofit lnSpcReduction="10000"/>
          </a:bodyPr>
          <a:lstStyle/>
          <a:p>
            <a:pPr marL="0" indent="0" algn="l">
              <a:buNone/>
            </a:pPr>
            <a:r>
              <a:rPr lang="en-US" b="1" i="0" dirty="0">
                <a:solidFill>
                  <a:srgbClr val="D1D5DB"/>
                </a:solidFill>
                <a:effectLst/>
                <a:latin typeface="Söhne"/>
              </a:rPr>
              <a:t>3. Tokens</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Tokens typically refer to authentication tokens or API keys that are used to authorize access to an API. Postman allows you to include these tokens in your requests as headers, query parameters, or in the request body, depending on the API's authentication requirements.</a:t>
            </a:r>
          </a:p>
          <a:p>
            <a:pPr marL="457200" lvl="1" indent="0" algn="l">
              <a:buNone/>
            </a:pPr>
            <a:endParaRPr lang="en-US" b="0" i="0" dirty="0">
              <a:solidFill>
                <a:srgbClr val="D1D5DB"/>
              </a:solidFill>
              <a:effectLst/>
              <a:latin typeface="Söhne"/>
            </a:endParaRPr>
          </a:p>
          <a:p>
            <a:pPr marL="0" indent="0" algn="l">
              <a:buNone/>
            </a:pPr>
            <a:r>
              <a:rPr lang="en-US" b="1" i="0" dirty="0">
                <a:solidFill>
                  <a:srgbClr val="D1D5DB"/>
                </a:solidFill>
                <a:effectLst/>
                <a:latin typeface="Söhne"/>
              </a:rPr>
              <a:t>4. Body</a:t>
            </a:r>
            <a:r>
              <a:rPr lang="en-US" b="0" i="0" dirty="0">
                <a:solidFill>
                  <a:srgbClr val="D1D5DB"/>
                </a:solidFill>
                <a:effectLst/>
                <a:latin typeface="Söhne"/>
              </a:rPr>
              <a:t>:</a:t>
            </a:r>
          </a:p>
          <a:p>
            <a:pPr marL="742950" lvl="1" indent="-285750" algn="l">
              <a:buFont typeface="+mj-lt"/>
              <a:buAutoNum type="arabicPeriod"/>
            </a:pPr>
            <a:r>
              <a:rPr lang="en-US" b="0" i="0" dirty="0">
                <a:solidFill>
                  <a:srgbClr val="D1D5DB"/>
                </a:solidFill>
                <a:effectLst/>
                <a:latin typeface="Söhne"/>
              </a:rPr>
              <a:t>The body of an HTTP request or response contains the data being sent or received. In Postman, when making POST or PUT requests, you can define the request body to send data to the API. The body can be in different formats, such as JSON, XML, form data, or raw text, depending on the API's requirements.</a:t>
            </a:r>
          </a:p>
          <a:p>
            <a:endParaRPr lang="en-US" dirty="0"/>
          </a:p>
        </p:txBody>
      </p:sp>
    </p:spTree>
    <p:extLst>
      <p:ext uri="{BB962C8B-B14F-4D97-AF65-F5344CB8AC3E}">
        <p14:creationId xmlns:p14="http://schemas.microsoft.com/office/powerpoint/2010/main" val="31521143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77773-1EC6-9ABB-DD8F-7E9C79074535}"/>
              </a:ext>
            </a:extLst>
          </p:cNvPr>
          <p:cNvSpPr>
            <a:spLocks noGrp="1"/>
          </p:cNvSpPr>
          <p:nvPr>
            <p:ph type="title"/>
          </p:nvPr>
        </p:nvSpPr>
        <p:spPr>
          <a:xfrm>
            <a:off x="838200" y="365125"/>
            <a:ext cx="10515600" cy="922499"/>
          </a:xfrm>
        </p:spPr>
        <p:txBody>
          <a:bodyPr>
            <a:normAutofit/>
          </a:bodyPr>
          <a:lstStyle/>
          <a:p>
            <a:r>
              <a:rPr lang="en-US" b="1" i="0" dirty="0">
                <a:solidFill>
                  <a:srgbClr val="D1D5DB"/>
                </a:solidFill>
                <a:effectLst/>
                <a:latin typeface="Söhne"/>
              </a:rPr>
              <a:t>Request Headers</a:t>
            </a:r>
            <a:endParaRPr lang="en-US" dirty="0"/>
          </a:p>
        </p:txBody>
      </p:sp>
      <p:sp>
        <p:nvSpPr>
          <p:cNvPr id="3" name="Content Placeholder 2">
            <a:extLst>
              <a:ext uri="{FF2B5EF4-FFF2-40B4-BE49-F238E27FC236}">
                <a16:creationId xmlns:a16="http://schemas.microsoft.com/office/drawing/2014/main" id="{B9202956-EBFA-0561-403D-6BA6A0805451}"/>
              </a:ext>
            </a:extLst>
          </p:cNvPr>
          <p:cNvSpPr>
            <a:spLocks noGrp="1"/>
          </p:cNvSpPr>
          <p:nvPr>
            <p:ph idx="1"/>
          </p:nvPr>
        </p:nvSpPr>
        <p:spPr>
          <a:xfrm>
            <a:off x="838200" y="1371600"/>
            <a:ext cx="10515600" cy="5121275"/>
          </a:xfrm>
        </p:spPr>
        <p:txBody>
          <a:bodyPr>
            <a:normAutofit fontScale="70000" lnSpcReduction="20000"/>
          </a:bodyPr>
          <a:lstStyle/>
          <a:p>
            <a:pPr algn="l"/>
            <a:endParaRPr lang="en-US" b="0" i="0" dirty="0">
              <a:solidFill>
                <a:srgbClr val="D1D5DB"/>
              </a:solidFill>
              <a:effectLst/>
              <a:latin typeface="Söhne"/>
            </a:endParaRPr>
          </a:p>
          <a:p>
            <a:pPr algn="l"/>
            <a:r>
              <a:rPr lang="en-US" b="0" i="0" dirty="0">
                <a:solidFill>
                  <a:srgbClr val="D1D5DB"/>
                </a:solidFill>
                <a:effectLst/>
                <a:latin typeface="Söhne"/>
              </a:rPr>
              <a:t>Request headers are a part of the HTTP request sent from a client (e.g., a web browser or an API testing tool like Postman) to a server. They provide information about the request itself and help the server understand how to process it. Here are some common request headers:</a:t>
            </a:r>
          </a:p>
          <a:p>
            <a:pPr algn="l"/>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User-Agent</a:t>
            </a:r>
            <a:r>
              <a:rPr lang="en-US" b="0" i="0" dirty="0">
                <a:solidFill>
                  <a:srgbClr val="D1D5DB"/>
                </a:solidFill>
                <a:effectLst/>
                <a:latin typeface="Söhne"/>
              </a:rPr>
              <a:t>: Identifies the client making the request, such as the web browser type or user agent string.</a:t>
            </a:r>
          </a:p>
          <a:p>
            <a:pPr algn="l">
              <a:buFont typeface="+mj-lt"/>
              <a:buAutoNum type="arabicPeriod"/>
            </a:pPr>
            <a:r>
              <a:rPr lang="en-US" b="1" i="0" dirty="0">
                <a:solidFill>
                  <a:srgbClr val="D1D5DB"/>
                </a:solidFill>
                <a:effectLst/>
                <a:latin typeface="Söhne"/>
              </a:rPr>
              <a:t>Accept</a:t>
            </a:r>
            <a:r>
              <a:rPr lang="en-US" b="0" i="0" dirty="0">
                <a:solidFill>
                  <a:srgbClr val="D1D5DB"/>
                </a:solidFill>
                <a:effectLst/>
                <a:latin typeface="Söhne"/>
              </a:rPr>
              <a:t>: Specifies the type of response the client can handle (e.g., JSON, XML, HTML).</a:t>
            </a:r>
          </a:p>
          <a:p>
            <a:pPr algn="l">
              <a:buFont typeface="+mj-lt"/>
              <a:buAutoNum type="arabicPeriod"/>
            </a:pPr>
            <a:r>
              <a:rPr lang="en-US" b="1" i="0" dirty="0">
                <a:solidFill>
                  <a:srgbClr val="D1D5DB"/>
                </a:solidFill>
                <a:effectLst/>
                <a:latin typeface="Söhne"/>
              </a:rPr>
              <a:t>Authorization</a:t>
            </a:r>
            <a:r>
              <a:rPr lang="en-US" b="0" i="0" dirty="0">
                <a:solidFill>
                  <a:srgbClr val="D1D5DB"/>
                </a:solidFill>
                <a:effectLst/>
                <a:latin typeface="Söhne"/>
              </a:rPr>
              <a:t>: Contains authentication credentials, often in the form of a token or API key, to access restricted resources.</a:t>
            </a:r>
          </a:p>
          <a:p>
            <a:pPr algn="l">
              <a:buFont typeface="+mj-lt"/>
              <a:buAutoNum type="arabicPeriod"/>
            </a:pPr>
            <a:r>
              <a:rPr lang="en-US" b="1" i="0" dirty="0">
                <a:solidFill>
                  <a:srgbClr val="D1D5DB"/>
                </a:solidFill>
                <a:effectLst/>
                <a:latin typeface="Söhne"/>
              </a:rPr>
              <a:t>Content-Type</a:t>
            </a:r>
            <a:r>
              <a:rPr lang="en-US" b="0" i="0" dirty="0">
                <a:solidFill>
                  <a:srgbClr val="D1D5DB"/>
                </a:solidFill>
                <a:effectLst/>
                <a:latin typeface="Söhne"/>
              </a:rPr>
              <a:t>: Specifies the format of the data being sent in the request body (e.g., JSON, XML, form data).</a:t>
            </a:r>
          </a:p>
          <a:p>
            <a:pPr algn="l">
              <a:buFont typeface="+mj-lt"/>
              <a:buAutoNum type="arabicPeriod"/>
            </a:pPr>
            <a:r>
              <a:rPr lang="en-US" b="1" i="0" dirty="0">
                <a:solidFill>
                  <a:srgbClr val="D1D5DB"/>
                </a:solidFill>
                <a:effectLst/>
                <a:latin typeface="Söhne"/>
              </a:rPr>
              <a:t>Host</a:t>
            </a:r>
            <a:r>
              <a:rPr lang="en-US" b="0" i="0" dirty="0">
                <a:solidFill>
                  <a:srgbClr val="D1D5DB"/>
                </a:solidFill>
                <a:effectLst/>
                <a:latin typeface="Söhne"/>
              </a:rPr>
              <a:t>: Indicates the domain or IP address of the server to which the client is sending the request.</a:t>
            </a:r>
          </a:p>
          <a:p>
            <a:pPr algn="l">
              <a:buFont typeface="+mj-lt"/>
              <a:buAutoNum type="arabicPeriod"/>
            </a:pPr>
            <a:r>
              <a:rPr lang="en-US" b="1" i="0" dirty="0">
                <a:solidFill>
                  <a:srgbClr val="D1D5DB"/>
                </a:solidFill>
                <a:effectLst/>
                <a:latin typeface="Söhne"/>
              </a:rPr>
              <a:t>Cookie</a:t>
            </a:r>
            <a:r>
              <a:rPr lang="en-US" b="0" i="0" dirty="0">
                <a:solidFill>
                  <a:srgbClr val="D1D5DB"/>
                </a:solidFill>
                <a:effectLst/>
                <a:latin typeface="Söhne"/>
              </a:rPr>
              <a:t>: Contains client-specific data or session information used by the server to maintain state.</a:t>
            </a:r>
          </a:p>
          <a:p>
            <a:pPr algn="l">
              <a:buFont typeface="+mj-lt"/>
              <a:buAutoNum type="arabicPeriod"/>
            </a:pPr>
            <a:r>
              <a:rPr lang="en-US" b="1" i="0" dirty="0">
                <a:solidFill>
                  <a:srgbClr val="D1D5DB"/>
                </a:solidFill>
                <a:effectLst/>
                <a:latin typeface="Söhne"/>
              </a:rPr>
              <a:t>Cache-Control</a:t>
            </a:r>
            <a:r>
              <a:rPr lang="en-US" b="0" i="0" dirty="0">
                <a:solidFill>
                  <a:srgbClr val="D1D5DB"/>
                </a:solidFill>
                <a:effectLst/>
                <a:latin typeface="Söhne"/>
              </a:rPr>
              <a:t>: Directs caching behavior for both the client and intermediary caches (e.g., "no-cache" to bypass caching).</a:t>
            </a:r>
          </a:p>
          <a:p>
            <a:pPr algn="l">
              <a:buFont typeface="+mj-lt"/>
              <a:buAutoNum type="arabicPeriod"/>
            </a:pPr>
            <a:r>
              <a:rPr lang="en-US" b="1" i="0" dirty="0">
                <a:solidFill>
                  <a:srgbClr val="D1D5DB"/>
                </a:solidFill>
                <a:effectLst/>
                <a:latin typeface="Söhne"/>
              </a:rPr>
              <a:t>If-Modified-Since</a:t>
            </a:r>
            <a:r>
              <a:rPr lang="en-US" b="0" i="0" dirty="0">
                <a:solidFill>
                  <a:srgbClr val="D1D5DB"/>
                </a:solidFill>
                <a:effectLst/>
                <a:latin typeface="Söhne"/>
              </a:rPr>
              <a:t>: Used to check if a resource has been modified since a certain date and time.</a:t>
            </a:r>
          </a:p>
          <a:p>
            <a:endParaRPr lang="en-US" dirty="0"/>
          </a:p>
        </p:txBody>
      </p:sp>
    </p:spTree>
    <p:extLst>
      <p:ext uri="{BB962C8B-B14F-4D97-AF65-F5344CB8AC3E}">
        <p14:creationId xmlns:p14="http://schemas.microsoft.com/office/powerpoint/2010/main" val="39072069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06125-04B2-BB17-43B6-7F5DE55EC5A0}"/>
              </a:ext>
            </a:extLst>
          </p:cNvPr>
          <p:cNvSpPr>
            <a:spLocks noGrp="1"/>
          </p:cNvSpPr>
          <p:nvPr>
            <p:ph type="title"/>
          </p:nvPr>
        </p:nvSpPr>
        <p:spPr>
          <a:xfrm>
            <a:off x="838200" y="365125"/>
            <a:ext cx="10515600" cy="819863"/>
          </a:xfrm>
        </p:spPr>
        <p:txBody>
          <a:bodyPr/>
          <a:lstStyle/>
          <a:p>
            <a:r>
              <a:rPr lang="en-US" b="1" i="0" dirty="0">
                <a:solidFill>
                  <a:srgbClr val="D1D5DB"/>
                </a:solidFill>
                <a:effectLst/>
                <a:latin typeface="Söhne"/>
              </a:rPr>
              <a:t>Response Headers</a:t>
            </a:r>
            <a:endParaRPr lang="en-US" dirty="0"/>
          </a:p>
        </p:txBody>
      </p:sp>
      <p:sp>
        <p:nvSpPr>
          <p:cNvPr id="3" name="Content Placeholder 2">
            <a:extLst>
              <a:ext uri="{FF2B5EF4-FFF2-40B4-BE49-F238E27FC236}">
                <a16:creationId xmlns:a16="http://schemas.microsoft.com/office/drawing/2014/main" id="{6A4DDCC6-EAFE-F8C3-27A5-D7C17B31567F}"/>
              </a:ext>
            </a:extLst>
          </p:cNvPr>
          <p:cNvSpPr>
            <a:spLocks noGrp="1"/>
          </p:cNvSpPr>
          <p:nvPr>
            <p:ph idx="1"/>
          </p:nvPr>
        </p:nvSpPr>
        <p:spPr>
          <a:xfrm>
            <a:off x="838200" y="1184988"/>
            <a:ext cx="10515600" cy="5187820"/>
          </a:xfrm>
        </p:spPr>
        <p:txBody>
          <a:bodyPr>
            <a:normAutofit fontScale="70000" lnSpcReduction="20000"/>
          </a:bodyPr>
          <a:lstStyle/>
          <a:p>
            <a:pPr algn="l"/>
            <a:endParaRPr lang="en-US" b="0" i="0" dirty="0">
              <a:solidFill>
                <a:srgbClr val="D1D5DB"/>
              </a:solidFill>
              <a:effectLst/>
              <a:latin typeface="Söhne"/>
            </a:endParaRPr>
          </a:p>
          <a:p>
            <a:pPr algn="l"/>
            <a:r>
              <a:rPr lang="en-US" b="0" i="0" dirty="0">
                <a:solidFill>
                  <a:srgbClr val="D1D5DB"/>
                </a:solidFill>
                <a:effectLst/>
                <a:latin typeface="Söhne"/>
              </a:rPr>
              <a:t>Response headers are part of the HTTP response sent by the server to the client. They provide additional information about the response and how it should be handled by the client. Here are some common response headers:</a:t>
            </a:r>
          </a:p>
          <a:p>
            <a:pPr algn="l"/>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Content-Type</a:t>
            </a:r>
            <a:r>
              <a:rPr lang="en-US" b="0" i="0" dirty="0">
                <a:solidFill>
                  <a:srgbClr val="D1D5DB"/>
                </a:solidFill>
                <a:effectLst/>
                <a:latin typeface="Söhne"/>
              </a:rPr>
              <a:t>: Specifies the format of the data in the response body (e.g., JSON, XML, HTML).</a:t>
            </a:r>
          </a:p>
          <a:p>
            <a:pPr algn="l">
              <a:buFont typeface="+mj-lt"/>
              <a:buAutoNum type="arabicPeriod"/>
            </a:pPr>
            <a:r>
              <a:rPr lang="en-US" b="1" i="0" dirty="0">
                <a:solidFill>
                  <a:srgbClr val="D1D5DB"/>
                </a:solidFill>
                <a:effectLst/>
                <a:latin typeface="Söhne"/>
              </a:rPr>
              <a:t>Status Code</a:t>
            </a:r>
            <a:r>
              <a:rPr lang="en-US" b="0" i="0" dirty="0">
                <a:solidFill>
                  <a:srgbClr val="D1D5DB"/>
                </a:solidFill>
                <a:effectLst/>
                <a:latin typeface="Söhne"/>
              </a:rPr>
              <a:t>: Indicates the outcome of the request (e.g., 200 OK, 404 Not Found, 500 Internal Server Error).</a:t>
            </a:r>
          </a:p>
          <a:p>
            <a:pPr algn="l">
              <a:buFont typeface="+mj-lt"/>
              <a:buAutoNum type="arabicPeriod"/>
            </a:pPr>
            <a:r>
              <a:rPr lang="en-US" b="1" i="0" dirty="0">
                <a:solidFill>
                  <a:srgbClr val="D1D5DB"/>
                </a:solidFill>
                <a:effectLst/>
                <a:latin typeface="Söhne"/>
              </a:rPr>
              <a:t>Server</a:t>
            </a:r>
            <a:r>
              <a:rPr lang="en-US" b="0" i="0" dirty="0">
                <a:solidFill>
                  <a:srgbClr val="D1D5DB"/>
                </a:solidFill>
                <a:effectLst/>
                <a:latin typeface="Söhne"/>
              </a:rPr>
              <a:t>: Reveals information about the server software that handled the request.</a:t>
            </a:r>
          </a:p>
          <a:p>
            <a:pPr algn="l">
              <a:buFont typeface="+mj-lt"/>
              <a:buAutoNum type="arabicPeriod"/>
            </a:pPr>
            <a:r>
              <a:rPr lang="en-US" b="1" i="0" dirty="0">
                <a:solidFill>
                  <a:srgbClr val="D1D5DB"/>
                </a:solidFill>
                <a:effectLst/>
                <a:latin typeface="Söhne"/>
              </a:rPr>
              <a:t>Date</a:t>
            </a:r>
            <a:r>
              <a:rPr lang="en-US" b="0" i="0" dirty="0">
                <a:solidFill>
                  <a:srgbClr val="D1D5DB"/>
                </a:solidFill>
                <a:effectLst/>
                <a:latin typeface="Söhne"/>
              </a:rPr>
              <a:t>: Shows the date and time when the response was generated.</a:t>
            </a:r>
          </a:p>
          <a:p>
            <a:pPr algn="l">
              <a:buFont typeface="+mj-lt"/>
              <a:buAutoNum type="arabicPeriod"/>
            </a:pPr>
            <a:r>
              <a:rPr lang="en-US" b="1" i="0" dirty="0">
                <a:solidFill>
                  <a:srgbClr val="D1D5DB"/>
                </a:solidFill>
                <a:effectLst/>
                <a:latin typeface="Söhne"/>
              </a:rPr>
              <a:t>Cache-Control</a:t>
            </a:r>
            <a:r>
              <a:rPr lang="en-US" b="0" i="0" dirty="0">
                <a:solidFill>
                  <a:srgbClr val="D1D5DB"/>
                </a:solidFill>
                <a:effectLst/>
                <a:latin typeface="Söhne"/>
              </a:rPr>
              <a:t>: Specifies caching directives for the response, telling the client and intermediary caches how to handle the response data.</a:t>
            </a:r>
          </a:p>
          <a:p>
            <a:pPr algn="l">
              <a:buFont typeface="+mj-lt"/>
              <a:buAutoNum type="arabicPeriod"/>
            </a:pPr>
            <a:r>
              <a:rPr lang="en-US" b="1" i="0" dirty="0">
                <a:solidFill>
                  <a:srgbClr val="D1D5DB"/>
                </a:solidFill>
                <a:effectLst/>
                <a:latin typeface="Söhne"/>
              </a:rPr>
              <a:t>Content-Length</a:t>
            </a:r>
            <a:r>
              <a:rPr lang="en-US" b="0" i="0" dirty="0">
                <a:solidFill>
                  <a:srgbClr val="D1D5DB"/>
                </a:solidFill>
                <a:effectLst/>
                <a:latin typeface="Söhne"/>
              </a:rPr>
              <a:t>: Indicates the size of the response body in bytes.</a:t>
            </a:r>
          </a:p>
          <a:p>
            <a:pPr algn="l">
              <a:buFont typeface="+mj-lt"/>
              <a:buAutoNum type="arabicPeriod"/>
            </a:pPr>
            <a:r>
              <a:rPr lang="en-US" b="1" i="0" dirty="0">
                <a:solidFill>
                  <a:srgbClr val="D1D5DB"/>
                </a:solidFill>
                <a:effectLst/>
                <a:latin typeface="Söhne"/>
              </a:rPr>
              <a:t>Location</a:t>
            </a:r>
            <a:r>
              <a:rPr lang="en-US" b="0" i="0" dirty="0">
                <a:solidFill>
                  <a:srgbClr val="D1D5DB"/>
                </a:solidFill>
                <a:effectLst/>
                <a:latin typeface="Söhne"/>
              </a:rPr>
              <a:t>: Used in redirection responses (e.g., 301 Moved Permanently) to indicate the new location to which the client should redirect.</a:t>
            </a:r>
          </a:p>
          <a:p>
            <a:pPr algn="l">
              <a:buFont typeface="+mj-lt"/>
              <a:buAutoNum type="arabicPeriod"/>
            </a:pPr>
            <a:r>
              <a:rPr lang="en-US" b="1" i="0" dirty="0">
                <a:solidFill>
                  <a:srgbClr val="D1D5DB"/>
                </a:solidFill>
                <a:effectLst/>
                <a:latin typeface="Söhne"/>
              </a:rPr>
              <a:t>WWW-Authenticate</a:t>
            </a:r>
            <a:r>
              <a:rPr lang="en-US" b="0" i="0" dirty="0">
                <a:solidFill>
                  <a:srgbClr val="D1D5DB"/>
                </a:solidFill>
                <a:effectLst/>
                <a:latin typeface="Söhne"/>
              </a:rPr>
              <a:t>: Used when a server requires authentication. It informs the client which authentication method to use.</a:t>
            </a:r>
          </a:p>
          <a:p>
            <a:endParaRPr lang="en-US" dirty="0"/>
          </a:p>
        </p:txBody>
      </p:sp>
    </p:spTree>
    <p:extLst>
      <p:ext uri="{BB962C8B-B14F-4D97-AF65-F5344CB8AC3E}">
        <p14:creationId xmlns:p14="http://schemas.microsoft.com/office/powerpoint/2010/main" val="33158501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3B2E4-9722-8C32-5C2B-47322E6477E5}"/>
              </a:ext>
            </a:extLst>
          </p:cNvPr>
          <p:cNvSpPr>
            <a:spLocks noGrp="1"/>
          </p:cNvSpPr>
          <p:nvPr>
            <p:ph type="title"/>
          </p:nvPr>
        </p:nvSpPr>
        <p:spPr/>
        <p:txBody>
          <a:bodyPr/>
          <a:lstStyle/>
          <a:p>
            <a:r>
              <a:rPr lang="en-US" b="1" i="0" dirty="0">
                <a:solidFill>
                  <a:srgbClr val="D1D5DB"/>
                </a:solidFill>
                <a:effectLst/>
                <a:latin typeface="Söhne"/>
              </a:rPr>
              <a:t>Response</a:t>
            </a:r>
            <a:endParaRPr lang="en-US" dirty="0"/>
          </a:p>
        </p:txBody>
      </p:sp>
      <p:sp>
        <p:nvSpPr>
          <p:cNvPr id="3" name="Content Placeholder 2">
            <a:extLst>
              <a:ext uri="{FF2B5EF4-FFF2-40B4-BE49-F238E27FC236}">
                <a16:creationId xmlns:a16="http://schemas.microsoft.com/office/drawing/2014/main" id="{DB9139D5-2F3A-8C54-922A-387FDFD6DF42}"/>
              </a:ext>
            </a:extLst>
          </p:cNvPr>
          <p:cNvSpPr>
            <a:spLocks noGrp="1"/>
          </p:cNvSpPr>
          <p:nvPr>
            <p:ph idx="1"/>
          </p:nvPr>
        </p:nvSpPr>
        <p:spPr/>
        <p:txBody>
          <a:bodyPr/>
          <a:lstStyle/>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 response in Postman represents the data and information returned by the API after making a request. It includes the response body, which contains the actual data sent by the server, as well as response headers and status codes. Postman makes it easy to view and analyze the response data and headers, helping you verify that the API is working as expected.</a:t>
            </a:r>
          </a:p>
          <a:p>
            <a:endParaRPr lang="en-US" dirty="0"/>
          </a:p>
        </p:txBody>
      </p:sp>
    </p:spTree>
    <p:extLst>
      <p:ext uri="{BB962C8B-B14F-4D97-AF65-F5344CB8AC3E}">
        <p14:creationId xmlns:p14="http://schemas.microsoft.com/office/powerpoint/2010/main" val="27538474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2F717-4B53-D69F-B3E5-6C6B54067A4F}"/>
              </a:ext>
            </a:extLst>
          </p:cNvPr>
          <p:cNvSpPr>
            <a:spLocks noGrp="1"/>
          </p:cNvSpPr>
          <p:nvPr>
            <p:ph type="title"/>
          </p:nvPr>
        </p:nvSpPr>
        <p:spPr>
          <a:xfrm>
            <a:off x="877078" y="1709739"/>
            <a:ext cx="10470372" cy="2834270"/>
          </a:xfrm>
        </p:spPr>
        <p:txBody>
          <a:bodyPr>
            <a:normAutofit/>
          </a:bodyPr>
          <a:lstStyle/>
          <a:p>
            <a:r>
              <a:rPr lang="en-US" sz="13800" b="1" dirty="0"/>
              <a:t>Learning Agile </a:t>
            </a:r>
          </a:p>
        </p:txBody>
      </p:sp>
    </p:spTree>
    <p:extLst>
      <p:ext uri="{BB962C8B-B14F-4D97-AF65-F5344CB8AC3E}">
        <p14:creationId xmlns:p14="http://schemas.microsoft.com/office/powerpoint/2010/main" val="13032075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C04C17-7972-3CC3-B15D-E393BA93C221}"/>
              </a:ext>
            </a:extLst>
          </p:cNvPr>
          <p:cNvPicPr>
            <a:picLocks noChangeAspect="1"/>
          </p:cNvPicPr>
          <p:nvPr/>
        </p:nvPicPr>
        <p:blipFill>
          <a:blip r:embed="rId2"/>
          <a:stretch>
            <a:fillRect/>
          </a:stretch>
        </p:blipFill>
        <p:spPr>
          <a:xfrm>
            <a:off x="1231641" y="463423"/>
            <a:ext cx="9554547" cy="5931153"/>
          </a:xfrm>
          <a:prstGeom prst="rect">
            <a:avLst/>
          </a:prstGeom>
        </p:spPr>
      </p:pic>
    </p:spTree>
    <p:extLst>
      <p:ext uri="{BB962C8B-B14F-4D97-AF65-F5344CB8AC3E}">
        <p14:creationId xmlns:p14="http://schemas.microsoft.com/office/powerpoint/2010/main" val="27705190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1C2E4-421B-38E8-BA37-E91273DF6E2D}"/>
              </a:ext>
            </a:extLst>
          </p:cNvPr>
          <p:cNvSpPr>
            <a:spLocks noGrp="1"/>
          </p:cNvSpPr>
          <p:nvPr>
            <p:ph type="title"/>
          </p:nvPr>
        </p:nvSpPr>
        <p:spPr/>
        <p:txBody>
          <a:bodyPr/>
          <a:lstStyle/>
          <a:p>
            <a:r>
              <a:rPr lang="en-US" b="1" i="0" dirty="0">
                <a:effectLst/>
                <a:latin typeface="Söhne"/>
              </a:rPr>
              <a:t>Introduction to Agile and Agile Manifesto:</a:t>
            </a:r>
            <a:endParaRPr lang="en-US" dirty="0"/>
          </a:p>
        </p:txBody>
      </p:sp>
      <p:sp>
        <p:nvSpPr>
          <p:cNvPr id="3" name="Content Placeholder 2">
            <a:extLst>
              <a:ext uri="{FF2B5EF4-FFF2-40B4-BE49-F238E27FC236}">
                <a16:creationId xmlns:a16="http://schemas.microsoft.com/office/drawing/2014/main" id="{666B8C6E-2529-194A-23F8-628D12F977CB}"/>
              </a:ext>
            </a:extLst>
          </p:cNvPr>
          <p:cNvSpPr>
            <a:spLocks noGrp="1"/>
          </p:cNvSpPr>
          <p:nvPr>
            <p:ph idx="1"/>
          </p:nvPr>
        </p:nvSpPr>
        <p:spPr/>
        <p:txBody>
          <a:bodyPr/>
          <a:lstStyle/>
          <a:p>
            <a:r>
              <a:rPr lang="en-US" b="1" i="0" dirty="0">
                <a:effectLst/>
                <a:latin typeface="Söhne"/>
              </a:rPr>
              <a:t>The Agile Manifesto</a:t>
            </a:r>
            <a:r>
              <a:rPr lang="en-US" b="0" i="0" dirty="0">
                <a:solidFill>
                  <a:srgbClr val="D1D5DB"/>
                </a:solidFill>
                <a:effectLst/>
                <a:latin typeface="Söhne"/>
              </a:rPr>
              <a:t> was created in 2001 by a group of software development experts who gathered in Snowbird, Utah, to discuss lightweight development methods. The result of their discussions was a set of values and principles that prioritize individuals and interactions, working software, customer collaboration, and responding to change over processes and tools. The Agile Manifesto consists of four key values and 12 principles:</a:t>
            </a:r>
            <a:endParaRPr lang="en-US" dirty="0"/>
          </a:p>
        </p:txBody>
      </p:sp>
    </p:spTree>
    <p:extLst>
      <p:ext uri="{BB962C8B-B14F-4D97-AF65-F5344CB8AC3E}">
        <p14:creationId xmlns:p14="http://schemas.microsoft.com/office/powerpoint/2010/main" val="11258218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DB9A-A674-BB14-C846-DAB3AEF49A8A}"/>
              </a:ext>
            </a:extLst>
          </p:cNvPr>
          <p:cNvSpPr>
            <a:spLocks noGrp="1"/>
          </p:cNvSpPr>
          <p:nvPr>
            <p:ph type="title"/>
          </p:nvPr>
        </p:nvSpPr>
        <p:spPr/>
        <p:txBody>
          <a:bodyPr>
            <a:normAutofit/>
          </a:bodyPr>
          <a:lstStyle/>
          <a:p>
            <a:r>
              <a:rPr lang="en-US" b="0" i="0" dirty="0">
                <a:effectLst/>
                <a:latin typeface="Söhne"/>
              </a:rPr>
              <a:t>Values of the Agile Manifesto:</a:t>
            </a:r>
            <a:endParaRPr lang="en-US" dirty="0"/>
          </a:p>
        </p:txBody>
      </p:sp>
      <p:sp>
        <p:nvSpPr>
          <p:cNvPr id="3" name="Content Placeholder 2">
            <a:extLst>
              <a:ext uri="{FF2B5EF4-FFF2-40B4-BE49-F238E27FC236}">
                <a16:creationId xmlns:a16="http://schemas.microsoft.com/office/drawing/2014/main" id="{9C18124D-C0B9-084D-5C2B-45FED1B62530}"/>
              </a:ext>
            </a:extLst>
          </p:cNvPr>
          <p:cNvSpPr>
            <a:spLocks noGrp="1"/>
          </p:cNvSpPr>
          <p:nvPr>
            <p:ph idx="1"/>
          </p:nvPr>
        </p:nvSpPr>
        <p:spPr/>
        <p:txBody>
          <a:bodyPr>
            <a:normAutofit fontScale="85000" lnSpcReduction="20000"/>
          </a:bodyPr>
          <a:lstStyle/>
          <a:p>
            <a:pPr algn="l">
              <a:buFont typeface="+mj-lt"/>
              <a:buAutoNum type="arabicPeriod"/>
            </a:pPr>
            <a:r>
              <a:rPr lang="en-US" b="1" i="0" dirty="0">
                <a:solidFill>
                  <a:srgbClr val="D1D5DB"/>
                </a:solidFill>
                <a:effectLst/>
                <a:latin typeface="Söhne"/>
              </a:rPr>
              <a:t>Individuals and Interactions over Processes and Tools:</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Emphasizes the importance of people working together and effective communication over relying solely on tools or rigid processes</a:t>
            </a:r>
          </a:p>
          <a:p>
            <a:pPr marL="457200" lvl="1" indent="0" algn="l">
              <a:buNone/>
            </a:pP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Working Software over Comprehensive Documentation:</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Prioritizes delivering functional software that meets user needs over extensive documentation that may become outdated.</a:t>
            </a:r>
          </a:p>
          <a:p>
            <a:pPr marL="457200" lvl="1" indent="0" algn="l">
              <a:buNone/>
            </a:pP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Customer Collaboration over Contract Negotiation:</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Encourages collaboration with customers and stakeholders throughout the development process rather than rigidly adhering to contractual agreements.</a:t>
            </a:r>
          </a:p>
          <a:p>
            <a:pPr marL="457200" lvl="1" indent="0" algn="l">
              <a:buNone/>
            </a:pP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Responding to Change over Following a Plan:</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Acknowledges that change is inevitable, and the ability to adapt to changing requirements is crucial for project success.</a:t>
            </a:r>
          </a:p>
          <a:p>
            <a:endParaRPr lang="en-US" dirty="0"/>
          </a:p>
        </p:txBody>
      </p:sp>
    </p:spTree>
    <p:extLst>
      <p:ext uri="{BB962C8B-B14F-4D97-AF65-F5344CB8AC3E}">
        <p14:creationId xmlns:p14="http://schemas.microsoft.com/office/powerpoint/2010/main" val="26900397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1268-6B70-AA53-6EB6-FE00D7766A85}"/>
              </a:ext>
            </a:extLst>
          </p:cNvPr>
          <p:cNvSpPr>
            <a:spLocks noGrp="1"/>
          </p:cNvSpPr>
          <p:nvPr>
            <p:ph type="title"/>
          </p:nvPr>
        </p:nvSpPr>
        <p:spPr>
          <a:xfrm>
            <a:off x="838200" y="365126"/>
            <a:ext cx="10515600" cy="754548"/>
          </a:xfrm>
        </p:spPr>
        <p:txBody>
          <a:bodyPr>
            <a:normAutofit/>
          </a:bodyPr>
          <a:lstStyle/>
          <a:p>
            <a:r>
              <a:rPr lang="en-US" b="0" i="0" dirty="0">
                <a:effectLst/>
                <a:latin typeface="Söhne"/>
              </a:rPr>
              <a:t>Principles of the Agile Manifesto:</a:t>
            </a:r>
            <a:endParaRPr lang="en-US" dirty="0"/>
          </a:p>
        </p:txBody>
      </p:sp>
      <p:sp>
        <p:nvSpPr>
          <p:cNvPr id="5" name="Content Placeholder 4">
            <a:extLst>
              <a:ext uri="{FF2B5EF4-FFF2-40B4-BE49-F238E27FC236}">
                <a16:creationId xmlns:a16="http://schemas.microsoft.com/office/drawing/2014/main" id="{B568520B-B999-79FB-BB26-6C11A396D2E9}"/>
              </a:ext>
            </a:extLst>
          </p:cNvPr>
          <p:cNvSpPr>
            <a:spLocks noGrp="1"/>
          </p:cNvSpPr>
          <p:nvPr>
            <p:ph idx="1"/>
          </p:nvPr>
        </p:nvSpPr>
        <p:spPr>
          <a:xfrm>
            <a:off x="567612" y="1614196"/>
            <a:ext cx="10515600" cy="5057289"/>
          </a:xfrm>
        </p:spPr>
        <p:txBody>
          <a:bodyPr>
            <a:normAutofit fontScale="62500" lnSpcReduction="20000"/>
          </a:bodyPr>
          <a:lstStyle/>
          <a:p>
            <a:pPr algn="l">
              <a:buFont typeface="+mj-lt"/>
              <a:buAutoNum type="arabicPeriod"/>
            </a:pPr>
            <a:r>
              <a:rPr lang="en-US" i="0" dirty="0">
                <a:solidFill>
                  <a:srgbClr val="D1D5DB"/>
                </a:solidFill>
                <a:effectLst/>
                <a:latin typeface="Söhne"/>
              </a:rPr>
              <a:t>Our highest priority is to satisfy the customer through early and continuous delivery of valuable software.</a:t>
            </a:r>
          </a:p>
          <a:p>
            <a:pPr algn="l">
              <a:buFont typeface="+mj-lt"/>
              <a:buAutoNum type="arabicPeriod"/>
            </a:pPr>
            <a:r>
              <a:rPr lang="en-US" i="0" dirty="0">
                <a:solidFill>
                  <a:srgbClr val="D1D5DB"/>
                </a:solidFill>
                <a:effectLst/>
                <a:latin typeface="Söhne"/>
              </a:rPr>
              <a:t>Welcome changing requirements, even late in development. Agile processes harness change for the customer's competitive advantage.</a:t>
            </a:r>
          </a:p>
          <a:p>
            <a:pPr algn="l">
              <a:buFont typeface="+mj-lt"/>
              <a:buAutoNum type="arabicPeriod"/>
            </a:pPr>
            <a:r>
              <a:rPr lang="en-US" i="0" dirty="0">
                <a:solidFill>
                  <a:srgbClr val="D1D5DB"/>
                </a:solidFill>
                <a:effectLst/>
                <a:latin typeface="Söhne"/>
              </a:rPr>
              <a:t>Deliver working software frequently, with a preference for shorter timescales.</a:t>
            </a:r>
          </a:p>
          <a:p>
            <a:pPr algn="l">
              <a:buFont typeface="+mj-lt"/>
              <a:buAutoNum type="arabicPeriod"/>
            </a:pPr>
            <a:r>
              <a:rPr lang="en-US" i="0" dirty="0">
                <a:solidFill>
                  <a:srgbClr val="D1D5DB"/>
                </a:solidFill>
                <a:effectLst/>
                <a:latin typeface="Söhne"/>
              </a:rPr>
              <a:t>Business people and developers must work together daily throughout the project.</a:t>
            </a:r>
          </a:p>
          <a:p>
            <a:pPr algn="l">
              <a:buFont typeface="+mj-lt"/>
              <a:buAutoNum type="arabicPeriod"/>
            </a:pPr>
            <a:r>
              <a:rPr lang="en-US" i="0" dirty="0">
                <a:solidFill>
                  <a:srgbClr val="D1D5DB"/>
                </a:solidFill>
                <a:effectLst/>
                <a:latin typeface="Söhne"/>
              </a:rPr>
              <a:t>Build projects around motivated individuals. Give them the environment and support they need, and trust them to get the job done.</a:t>
            </a:r>
          </a:p>
          <a:p>
            <a:pPr algn="l">
              <a:buFont typeface="+mj-lt"/>
              <a:buAutoNum type="arabicPeriod"/>
            </a:pPr>
            <a:r>
              <a:rPr lang="en-US" i="0" dirty="0">
                <a:solidFill>
                  <a:srgbClr val="D1D5DB"/>
                </a:solidFill>
                <a:effectLst/>
                <a:latin typeface="Söhne"/>
              </a:rPr>
              <a:t>The most efficient and effective method of conveying information to and within a development team is face-to-face conversation.</a:t>
            </a:r>
          </a:p>
          <a:p>
            <a:pPr algn="l">
              <a:buFont typeface="+mj-lt"/>
              <a:buAutoNum type="arabicPeriod"/>
            </a:pPr>
            <a:r>
              <a:rPr lang="en-US" i="0" dirty="0">
                <a:solidFill>
                  <a:srgbClr val="D1D5DB"/>
                </a:solidFill>
                <a:effectLst/>
                <a:latin typeface="Söhne"/>
              </a:rPr>
              <a:t>Working software is the primary measure of progress.</a:t>
            </a:r>
          </a:p>
          <a:p>
            <a:pPr algn="l">
              <a:buFont typeface="+mj-lt"/>
              <a:buAutoNum type="arabicPeriod"/>
            </a:pPr>
            <a:r>
              <a:rPr lang="en-US" i="0" dirty="0">
                <a:solidFill>
                  <a:srgbClr val="D1D5DB"/>
                </a:solidFill>
                <a:effectLst/>
                <a:latin typeface="Söhne"/>
              </a:rPr>
              <a:t>Agile processes promote sustainable development. The sponsors, developers, and users should be able to maintain a constant pace indefinitely.</a:t>
            </a:r>
          </a:p>
          <a:p>
            <a:pPr algn="l">
              <a:buFont typeface="+mj-lt"/>
              <a:buAutoNum type="arabicPeriod"/>
            </a:pPr>
            <a:r>
              <a:rPr lang="en-US" i="0" dirty="0">
                <a:solidFill>
                  <a:srgbClr val="D1D5DB"/>
                </a:solidFill>
                <a:effectLst/>
                <a:latin typeface="Söhne"/>
              </a:rPr>
              <a:t>Continuous attention to technical excellence and good design enhances agility.</a:t>
            </a:r>
          </a:p>
          <a:p>
            <a:pPr algn="l">
              <a:buFont typeface="+mj-lt"/>
              <a:buAutoNum type="arabicPeriod"/>
            </a:pPr>
            <a:r>
              <a:rPr lang="en-US" i="0" dirty="0">
                <a:solidFill>
                  <a:srgbClr val="D1D5DB"/>
                </a:solidFill>
                <a:effectLst/>
                <a:latin typeface="Söhne"/>
              </a:rPr>
              <a:t>Simplicity--the art of maximizing the amount of work not done--is essential.</a:t>
            </a:r>
          </a:p>
          <a:p>
            <a:pPr algn="l">
              <a:buFont typeface="+mj-lt"/>
              <a:buAutoNum type="arabicPeriod"/>
            </a:pPr>
            <a:r>
              <a:rPr lang="en-US" i="0" dirty="0">
                <a:solidFill>
                  <a:srgbClr val="D1D5DB"/>
                </a:solidFill>
                <a:effectLst/>
                <a:latin typeface="Söhne"/>
              </a:rPr>
              <a:t>The best architectures, requirements, and designs emerge from self-organizing teams.</a:t>
            </a:r>
          </a:p>
          <a:p>
            <a:pPr algn="l">
              <a:buFont typeface="+mj-lt"/>
              <a:buAutoNum type="arabicPeriod"/>
            </a:pPr>
            <a:r>
              <a:rPr lang="en-US" i="0" dirty="0">
                <a:solidFill>
                  <a:srgbClr val="D1D5DB"/>
                </a:solidFill>
                <a:effectLst/>
                <a:latin typeface="Söhne"/>
              </a:rPr>
              <a:t>At regular intervals, the team reflects on how to become more effective, then tunes and adjusts its behavior accordingly.</a:t>
            </a:r>
          </a:p>
          <a:p>
            <a:endParaRPr lang="en-US" dirty="0"/>
          </a:p>
        </p:txBody>
      </p:sp>
    </p:spTree>
    <p:extLst>
      <p:ext uri="{BB962C8B-B14F-4D97-AF65-F5344CB8AC3E}">
        <p14:creationId xmlns:p14="http://schemas.microsoft.com/office/powerpoint/2010/main" val="24667016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F53F8-3C81-CD29-5774-BDDDBE785336}"/>
              </a:ext>
            </a:extLst>
          </p:cNvPr>
          <p:cNvSpPr>
            <a:spLocks noGrp="1"/>
          </p:cNvSpPr>
          <p:nvPr>
            <p:ph type="title"/>
          </p:nvPr>
        </p:nvSpPr>
        <p:spPr/>
        <p:txBody>
          <a:bodyPr/>
          <a:lstStyle/>
          <a:p>
            <a:r>
              <a:rPr lang="en-US" b="1" i="0" dirty="0">
                <a:effectLst/>
                <a:latin typeface="Söhne"/>
              </a:rPr>
              <a:t>Introduction to Agile Project Management:</a:t>
            </a:r>
            <a:endParaRPr lang="en-US" dirty="0"/>
          </a:p>
        </p:txBody>
      </p:sp>
      <p:sp>
        <p:nvSpPr>
          <p:cNvPr id="3" name="Content Placeholder 2">
            <a:extLst>
              <a:ext uri="{FF2B5EF4-FFF2-40B4-BE49-F238E27FC236}">
                <a16:creationId xmlns:a16="http://schemas.microsoft.com/office/drawing/2014/main" id="{E20231A9-B836-11CD-B5AF-5F7D62D92363}"/>
              </a:ext>
            </a:extLst>
          </p:cNvPr>
          <p:cNvSpPr>
            <a:spLocks noGrp="1"/>
          </p:cNvSpPr>
          <p:nvPr>
            <p:ph idx="1"/>
          </p:nvPr>
        </p:nvSpPr>
        <p:spPr/>
        <p:txBody>
          <a:bodyPr/>
          <a:lstStyle/>
          <a:p>
            <a:r>
              <a:rPr lang="en-US" b="0" i="0" dirty="0">
                <a:solidFill>
                  <a:srgbClr val="D1D5DB"/>
                </a:solidFill>
                <a:effectLst/>
                <a:latin typeface="Söhne"/>
              </a:rPr>
              <a:t>Agile project management is an iterative and flexible approach to managing projects, emphasizing collaboration, adaptability, and customer feedback. It aims to deliver value to customers continuously.</a:t>
            </a:r>
          </a:p>
          <a:p>
            <a:endParaRPr lang="en-US" dirty="0">
              <a:solidFill>
                <a:srgbClr val="D1D5DB"/>
              </a:solidFill>
              <a:latin typeface="Söhne"/>
            </a:endParaRPr>
          </a:p>
          <a:p>
            <a:r>
              <a:rPr lang="en-US" b="1" i="0" dirty="0">
                <a:effectLst/>
                <a:latin typeface="Söhne"/>
              </a:rPr>
              <a:t>Scrum:</a:t>
            </a:r>
            <a:br>
              <a:rPr lang="en-US" b="1" i="0" dirty="0">
                <a:solidFill>
                  <a:srgbClr val="D1D5DB"/>
                </a:solidFill>
                <a:effectLst/>
                <a:latin typeface="Söhne"/>
              </a:rPr>
            </a:br>
            <a:endParaRPr lang="en-US" b="1" i="0" dirty="0">
              <a:solidFill>
                <a:srgbClr val="D1D5DB"/>
              </a:solidFill>
              <a:effectLst/>
              <a:latin typeface="Söhne"/>
            </a:endParaRPr>
          </a:p>
          <a:p>
            <a:r>
              <a:rPr lang="en-US" b="0" i="0" dirty="0">
                <a:solidFill>
                  <a:srgbClr val="D1D5DB"/>
                </a:solidFill>
                <a:effectLst/>
                <a:latin typeface="Söhne"/>
              </a:rPr>
              <a:t>Scrum is an Agile framework that organizes work into time-boxed iterations called sprints. It emphasizes teamwork, accountability, and iterative progress.</a:t>
            </a:r>
            <a:endParaRPr lang="en-US" dirty="0"/>
          </a:p>
        </p:txBody>
      </p:sp>
      <p:sp>
        <p:nvSpPr>
          <p:cNvPr id="4" name="Title 1">
            <a:extLst>
              <a:ext uri="{FF2B5EF4-FFF2-40B4-BE49-F238E27FC236}">
                <a16:creationId xmlns:a16="http://schemas.microsoft.com/office/drawing/2014/main" id="{73E5A614-D3F2-FEBD-B1CC-D9CDC26913F8}"/>
              </a:ext>
            </a:extLst>
          </p:cNvPr>
          <p:cNvSpPr txBox="1">
            <a:spLocks/>
          </p:cNvSpPr>
          <p:nvPr/>
        </p:nvSpPr>
        <p:spPr>
          <a:xfrm>
            <a:off x="838200" y="31847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Tree>
    <p:extLst>
      <p:ext uri="{BB962C8B-B14F-4D97-AF65-F5344CB8AC3E}">
        <p14:creationId xmlns:p14="http://schemas.microsoft.com/office/powerpoint/2010/main" val="12337293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E90488-1214-7ECF-C116-45C908D25118}"/>
              </a:ext>
            </a:extLst>
          </p:cNvPr>
          <p:cNvSpPr>
            <a:spLocks noGrp="1"/>
          </p:cNvSpPr>
          <p:nvPr>
            <p:ph idx="1"/>
          </p:nvPr>
        </p:nvSpPr>
        <p:spPr/>
        <p:txBody>
          <a:bodyPr/>
          <a:lstStyle/>
          <a:p>
            <a:r>
              <a:rPr lang="en-US" b="0" i="0" dirty="0">
                <a:solidFill>
                  <a:srgbClr val="D1D5DB"/>
                </a:solidFill>
                <a:effectLst/>
                <a:latin typeface="Söhne"/>
              </a:rPr>
              <a:t>A sprint is a fixed time period, typically 2-4 weeks, during which a Scrum team works on a set of prioritized tasks. At the end of each sprint, a potentially shippable product increment is delivered.</a:t>
            </a:r>
          </a:p>
          <a:p>
            <a:endParaRPr lang="en-US" dirty="0">
              <a:solidFill>
                <a:srgbClr val="D1D5DB"/>
              </a:solidFill>
              <a:latin typeface="Söhne"/>
            </a:endParaRPr>
          </a:p>
          <a:p>
            <a:pPr algn="l"/>
            <a:r>
              <a:rPr lang="en-US" b="1" i="0" dirty="0">
                <a:solidFill>
                  <a:srgbClr val="D1D5DB"/>
                </a:solidFill>
                <a:effectLst/>
                <a:latin typeface="Söhne"/>
              </a:rPr>
              <a:t>Backlog:</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 product backlog is a prioritized list of features, enhancements, or user stories that need to be developed. It serves as the source of work for the development team.</a:t>
            </a:r>
          </a:p>
        </p:txBody>
      </p:sp>
      <p:sp>
        <p:nvSpPr>
          <p:cNvPr id="4" name="Title 1">
            <a:extLst>
              <a:ext uri="{FF2B5EF4-FFF2-40B4-BE49-F238E27FC236}">
                <a16:creationId xmlns:a16="http://schemas.microsoft.com/office/drawing/2014/main" id="{18390FC4-FE6F-176A-468C-2E33E7189694}"/>
              </a:ext>
            </a:extLst>
          </p:cNvPr>
          <p:cNvSpPr txBox="1">
            <a:spLocks/>
          </p:cNvSpPr>
          <p:nvPr/>
        </p:nvSpPr>
        <p:spPr>
          <a:xfrm>
            <a:off x="838200" y="3184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
        <p:nvSpPr>
          <p:cNvPr id="5" name="Title 1">
            <a:extLst>
              <a:ext uri="{FF2B5EF4-FFF2-40B4-BE49-F238E27FC236}">
                <a16:creationId xmlns:a16="http://schemas.microsoft.com/office/drawing/2014/main" id="{378DAAC4-F302-109B-7ED9-BC6717BE157A}"/>
              </a:ext>
            </a:extLst>
          </p:cNvPr>
          <p:cNvSpPr txBox="1">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b="1" i="0" dirty="0">
                <a:effectLst/>
                <a:latin typeface="Söhne"/>
              </a:rPr>
              <a:t>Sprint:</a:t>
            </a:r>
            <a:endParaRPr lang="en-US" dirty="0"/>
          </a:p>
        </p:txBody>
      </p:sp>
    </p:spTree>
    <p:extLst>
      <p:ext uri="{BB962C8B-B14F-4D97-AF65-F5344CB8AC3E}">
        <p14:creationId xmlns:p14="http://schemas.microsoft.com/office/powerpoint/2010/main" val="4844390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1FAAE-8B06-EDD3-1EC6-1C11E26AC2E4}"/>
              </a:ext>
            </a:extLst>
          </p:cNvPr>
          <p:cNvSpPr>
            <a:spLocks noGrp="1"/>
          </p:cNvSpPr>
          <p:nvPr>
            <p:ph type="title"/>
          </p:nvPr>
        </p:nvSpPr>
        <p:spPr/>
        <p:txBody>
          <a:bodyPr/>
          <a:lstStyle/>
          <a:p>
            <a:r>
              <a:rPr lang="en-US" b="1" i="0" dirty="0">
                <a:solidFill>
                  <a:srgbClr val="D1D5DB"/>
                </a:solidFill>
                <a:effectLst/>
                <a:latin typeface="Söhne"/>
              </a:rPr>
              <a:t>User Story:</a:t>
            </a:r>
            <a:br>
              <a:rPr lang="en-US" b="0" i="0" dirty="0">
                <a:solidFill>
                  <a:srgbClr val="D1D5DB"/>
                </a:solidFill>
                <a:effectLst/>
                <a:latin typeface="Söhne"/>
              </a:rPr>
            </a:br>
            <a:endParaRPr lang="en-US" dirty="0"/>
          </a:p>
        </p:txBody>
      </p:sp>
      <p:sp>
        <p:nvSpPr>
          <p:cNvPr id="3" name="Content Placeholder 2">
            <a:extLst>
              <a:ext uri="{FF2B5EF4-FFF2-40B4-BE49-F238E27FC236}">
                <a16:creationId xmlns:a16="http://schemas.microsoft.com/office/drawing/2014/main" id="{923638CB-DF53-0B1A-78EE-1CD9B0F3B521}"/>
              </a:ext>
            </a:extLst>
          </p:cNvPr>
          <p:cNvSpPr>
            <a:spLocks noGrp="1"/>
          </p:cNvSpPr>
          <p:nvPr>
            <p:ph idx="1"/>
          </p:nvPr>
        </p:nvSpPr>
        <p:spPr/>
        <p:txBody>
          <a:bodyPr>
            <a:normAutofit/>
          </a:bodyPr>
          <a:lstStyle/>
          <a:p>
            <a:pPr algn="l">
              <a:buFont typeface="Arial" panose="020B0604020202020204" pitchFamily="34" charset="0"/>
              <a:buChar char="•"/>
            </a:pPr>
            <a:r>
              <a:rPr lang="en-US" b="0" i="0" dirty="0">
                <a:solidFill>
                  <a:srgbClr val="D1D5DB"/>
                </a:solidFill>
                <a:effectLst/>
                <a:latin typeface="Söhne"/>
              </a:rPr>
              <a:t>A user story is a simple, concise description of a feature or functionality from an end-user's perspective. It typically follows the format: "As a [user], I want [feature] so that [benefit]."</a:t>
            </a:r>
          </a:p>
          <a:p>
            <a:endParaRPr lang="en-US" dirty="0"/>
          </a:p>
          <a:p>
            <a:r>
              <a:rPr lang="en-US" b="0" i="0" dirty="0">
                <a:solidFill>
                  <a:srgbClr val="D1D5DB"/>
                </a:solidFill>
                <a:effectLst/>
                <a:latin typeface="Söhne"/>
              </a:rPr>
              <a:t>In Agile project management, teams use these terms and concepts to plan, prioritize, and track work in a collaborative and iterative manner. JIRA, a widely used project management and issue tracking tool, provides features and workflows to support Agile methodologies like Scrum, enabling teams to manage their sprints, backlogs, epics, user stories, and various issue types effectively.</a:t>
            </a:r>
            <a:endParaRPr lang="en-US" dirty="0"/>
          </a:p>
        </p:txBody>
      </p:sp>
    </p:spTree>
    <p:extLst>
      <p:ext uri="{BB962C8B-B14F-4D97-AF65-F5344CB8AC3E}">
        <p14:creationId xmlns:p14="http://schemas.microsoft.com/office/powerpoint/2010/main" val="3464777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203F5-2C65-F39C-28A2-1B7FCBD73DFA}"/>
              </a:ext>
            </a:extLst>
          </p:cNvPr>
          <p:cNvSpPr>
            <a:spLocks noGrp="1"/>
          </p:cNvSpPr>
          <p:nvPr>
            <p:ph type="title"/>
          </p:nvPr>
        </p:nvSpPr>
        <p:spPr/>
        <p:txBody>
          <a:bodyPr/>
          <a:lstStyle/>
          <a:p>
            <a:r>
              <a:rPr lang="en-US" b="1" dirty="0"/>
              <a:t>Learning Agile – The Miscellaneous Concepts</a:t>
            </a:r>
          </a:p>
        </p:txBody>
      </p:sp>
      <p:sp>
        <p:nvSpPr>
          <p:cNvPr id="3" name="Content Placeholder 2">
            <a:extLst>
              <a:ext uri="{FF2B5EF4-FFF2-40B4-BE49-F238E27FC236}">
                <a16:creationId xmlns:a16="http://schemas.microsoft.com/office/drawing/2014/main" id="{4F3C0D59-1693-2EC3-9A1D-7F7C4A5B15FD}"/>
              </a:ext>
            </a:extLst>
          </p:cNvPr>
          <p:cNvSpPr>
            <a:spLocks noGrp="1"/>
          </p:cNvSpPr>
          <p:nvPr>
            <p:ph idx="1"/>
          </p:nvPr>
        </p:nvSpPr>
        <p:spPr/>
        <p:txBody>
          <a:bodyPr>
            <a:normAutofit fontScale="77500" lnSpcReduction="20000"/>
          </a:bodyPr>
          <a:lstStyle/>
          <a:p>
            <a:pPr algn="l"/>
            <a:r>
              <a:rPr lang="en-US" b="1" i="0" dirty="0">
                <a:effectLst/>
                <a:latin typeface="Söhne"/>
              </a:rPr>
              <a:t>Definition of Done (DoD):</a:t>
            </a:r>
          </a:p>
          <a:p>
            <a:pPr marL="0" indent="0" algn="l">
              <a:buNone/>
            </a:pPr>
            <a:endParaRPr lang="en-US" b="1" i="0" dirty="0">
              <a:effectLst/>
              <a:latin typeface="Söhne"/>
            </a:endParaRPr>
          </a:p>
          <a:p>
            <a:pPr algn="l"/>
            <a:r>
              <a:rPr lang="en-US" b="1" i="0" dirty="0">
                <a:solidFill>
                  <a:srgbClr val="D1D5DB"/>
                </a:solidFill>
                <a:effectLst/>
                <a:latin typeface="Söhne"/>
              </a:rPr>
              <a:t>Explanation:</a:t>
            </a:r>
            <a:r>
              <a:rPr lang="en-US" b="0" i="0" dirty="0">
                <a:solidFill>
                  <a:srgbClr val="D1D5DB"/>
                </a:solidFill>
                <a:effectLst/>
                <a:latin typeface="Söhne"/>
              </a:rPr>
              <a:t> The Definition of Done is a clear and agreed-upon set of criteria that a product increment, user story, or task must meet to be considered "Done." It ensures that work is completed to a certain quality standard.</a:t>
            </a:r>
          </a:p>
          <a:p>
            <a:pPr algn="l"/>
            <a:endParaRPr lang="en-US" dirty="0"/>
          </a:p>
          <a:p>
            <a:pPr algn="l">
              <a:buFont typeface="Arial" panose="020B0604020202020204" pitchFamily="34" charset="0"/>
              <a:buChar char="•"/>
            </a:pPr>
            <a:r>
              <a:rPr lang="en-US" b="0" i="0" dirty="0">
                <a:solidFill>
                  <a:srgbClr val="D1D5DB"/>
                </a:solidFill>
                <a:effectLst/>
                <a:latin typeface="Söhne"/>
              </a:rPr>
              <a:t>The DoD varies from team to team and can include criteria such as code review, testing, documentation, and integration.</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Having a well-defined DoD helps prevent misunderstandings and ensures that everyone on the team understands the expectations for completion.</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 DoD is reviewed and updated regularly to reflect evolving quality standards.</a:t>
            </a:r>
          </a:p>
          <a:p>
            <a:endParaRPr lang="en-US" dirty="0"/>
          </a:p>
        </p:txBody>
      </p:sp>
    </p:spTree>
    <p:extLst>
      <p:ext uri="{BB962C8B-B14F-4D97-AF65-F5344CB8AC3E}">
        <p14:creationId xmlns:p14="http://schemas.microsoft.com/office/powerpoint/2010/main" val="34126841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E3711-D42D-576C-A30E-D568E5BDB8E1}"/>
              </a:ext>
            </a:extLst>
          </p:cNvPr>
          <p:cNvSpPr>
            <a:spLocks noGrp="1"/>
          </p:cNvSpPr>
          <p:nvPr>
            <p:ph type="title"/>
          </p:nvPr>
        </p:nvSpPr>
        <p:spPr/>
        <p:txBody>
          <a:bodyPr/>
          <a:lstStyle/>
          <a:p>
            <a:r>
              <a:rPr lang="en-US" b="1" i="0" dirty="0">
                <a:effectLst/>
                <a:latin typeface="Söhne"/>
              </a:rPr>
              <a:t>Velocity</a:t>
            </a:r>
            <a:endParaRPr lang="en-US" dirty="0"/>
          </a:p>
        </p:txBody>
      </p:sp>
      <p:sp>
        <p:nvSpPr>
          <p:cNvPr id="3" name="Content Placeholder 2">
            <a:extLst>
              <a:ext uri="{FF2B5EF4-FFF2-40B4-BE49-F238E27FC236}">
                <a16:creationId xmlns:a16="http://schemas.microsoft.com/office/drawing/2014/main" id="{F93FB481-FBAA-4E2C-AB7E-C5AAABC15F73}"/>
              </a:ext>
            </a:extLst>
          </p:cNvPr>
          <p:cNvSpPr>
            <a:spLocks noGrp="1"/>
          </p:cNvSpPr>
          <p:nvPr>
            <p:ph idx="1"/>
          </p:nvPr>
        </p:nvSpPr>
        <p:spPr/>
        <p:txBody>
          <a:bodyPr>
            <a:normAutofit fontScale="85000" lnSpcReduction="20000"/>
          </a:bodyPr>
          <a:lstStyle/>
          <a:p>
            <a:pPr algn="l"/>
            <a:r>
              <a:rPr lang="en-US" b="1" i="0" dirty="0">
                <a:solidFill>
                  <a:srgbClr val="D1D5DB"/>
                </a:solidFill>
                <a:effectLst/>
                <a:latin typeface="Söhne"/>
              </a:rPr>
              <a:t>Explanation:</a:t>
            </a:r>
            <a:r>
              <a:rPr lang="en-US" b="0" i="0" dirty="0">
                <a:solidFill>
                  <a:srgbClr val="D1D5DB"/>
                </a:solidFill>
                <a:effectLst/>
                <a:latin typeface="Söhne"/>
              </a:rPr>
              <a:t> Velocity is a metric used in Agile to measure a team's capacity for work in a sprint. It represents the number of user story points or other units of work completed in a single sprint.</a:t>
            </a:r>
          </a:p>
          <a:p>
            <a:pPr algn="l"/>
            <a:endParaRPr lang="en-US" b="0" i="0" dirty="0">
              <a:solidFill>
                <a:srgbClr val="D1D5DB"/>
              </a:solidFill>
              <a:effectLst/>
              <a:latin typeface="Söhne"/>
            </a:endParaRPr>
          </a:p>
          <a:p>
            <a:pPr algn="l"/>
            <a:r>
              <a:rPr lang="en-US" b="0" i="0" dirty="0">
                <a:solidFill>
                  <a:srgbClr val="D1D5DB"/>
                </a:solidFill>
                <a:effectLst/>
                <a:latin typeface="Söhne"/>
              </a:rPr>
              <a:t>Velocity is calculated by summing up the story points of all completed user stories at the end of a sprint.</a:t>
            </a:r>
          </a:p>
          <a:p>
            <a:pPr algn="l"/>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It is used for sprint planning and helps the team determine how much work they can commit to in future sprints.</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Velocity can vary from sprint to sprint, and teams should not use it for performance evaluation but rather for planning and improving their estimation accuracy.</a:t>
            </a:r>
          </a:p>
          <a:p>
            <a:endParaRPr lang="en-US" dirty="0"/>
          </a:p>
        </p:txBody>
      </p:sp>
    </p:spTree>
    <p:extLst>
      <p:ext uri="{BB962C8B-B14F-4D97-AF65-F5344CB8AC3E}">
        <p14:creationId xmlns:p14="http://schemas.microsoft.com/office/powerpoint/2010/main" val="19480190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CB7CB-B850-AE6E-2F90-F9B70ADA0DDC}"/>
              </a:ext>
            </a:extLst>
          </p:cNvPr>
          <p:cNvSpPr>
            <a:spLocks noGrp="1"/>
          </p:cNvSpPr>
          <p:nvPr>
            <p:ph type="title"/>
          </p:nvPr>
        </p:nvSpPr>
        <p:spPr/>
        <p:txBody>
          <a:bodyPr/>
          <a:lstStyle/>
          <a:p>
            <a:r>
              <a:rPr lang="en-US" b="1" i="0" dirty="0">
                <a:effectLst/>
                <a:latin typeface="Söhne"/>
              </a:rPr>
              <a:t>Burndown Charts:</a:t>
            </a:r>
            <a:endParaRPr lang="en-US" dirty="0"/>
          </a:p>
        </p:txBody>
      </p:sp>
      <p:sp>
        <p:nvSpPr>
          <p:cNvPr id="3" name="Content Placeholder 2">
            <a:extLst>
              <a:ext uri="{FF2B5EF4-FFF2-40B4-BE49-F238E27FC236}">
                <a16:creationId xmlns:a16="http://schemas.microsoft.com/office/drawing/2014/main" id="{1A574AB6-684F-895C-4974-655888B5425B}"/>
              </a:ext>
            </a:extLst>
          </p:cNvPr>
          <p:cNvSpPr>
            <a:spLocks noGrp="1"/>
          </p:cNvSpPr>
          <p:nvPr>
            <p:ph idx="1"/>
          </p:nvPr>
        </p:nvSpPr>
        <p:spPr/>
        <p:txBody>
          <a:bodyPr>
            <a:normAutofit fontScale="70000" lnSpcReduction="20000"/>
          </a:bodyPr>
          <a:lstStyle/>
          <a:p>
            <a:pPr algn="l"/>
            <a:r>
              <a:rPr lang="en-US" b="1" i="0" dirty="0">
                <a:solidFill>
                  <a:srgbClr val="D1D5DB"/>
                </a:solidFill>
                <a:effectLst/>
                <a:latin typeface="Söhne"/>
              </a:rPr>
              <a:t>Explanation:</a:t>
            </a:r>
            <a:r>
              <a:rPr lang="en-US" b="0" i="0" dirty="0">
                <a:solidFill>
                  <a:srgbClr val="D1D5DB"/>
                </a:solidFill>
                <a:effectLst/>
                <a:latin typeface="Söhne"/>
              </a:rPr>
              <a:t> A burndown chart is a visual representation of work remaining (usually in story points or hours) over the course of a sprint. It helps the team track progress and identify potential issues.</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 horizontal axis represents time (days of the sprint), while the vertical axis represents work remaining.</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 burndown chart starts with a baseline (e.g., the number of story points committed to in the sprint).</a:t>
            </a:r>
          </a:p>
          <a:p>
            <a:pPr algn="l">
              <a:buFont typeface="Arial" panose="020B0604020202020204" pitchFamily="34" charset="0"/>
              <a:buChar char="•"/>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As the team completes work, the line on the chart should ideally trend downward toward zero by the end of the sprint.</a:t>
            </a:r>
          </a:p>
          <a:p>
            <a:pPr marL="0" indent="0" algn="l">
              <a:buNone/>
            </a:pP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Burndown charts help teams identify if they are on track to complete the sprint's commitment or if they need to adjust their work plan.</a:t>
            </a:r>
          </a:p>
          <a:p>
            <a:endParaRPr lang="en-US" dirty="0"/>
          </a:p>
        </p:txBody>
      </p:sp>
    </p:spTree>
    <p:extLst>
      <p:ext uri="{BB962C8B-B14F-4D97-AF65-F5344CB8AC3E}">
        <p14:creationId xmlns:p14="http://schemas.microsoft.com/office/powerpoint/2010/main" val="27856618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DCCD-98E1-3C70-E090-38136D4AB379}"/>
              </a:ext>
            </a:extLst>
          </p:cNvPr>
          <p:cNvSpPr>
            <a:spLocks noGrp="1"/>
          </p:cNvSpPr>
          <p:nvPr>
            <p:ph type="title"/>
          </p:nvPr>
        </p:nvSpPr>
        <p:spPr/>
        <p:txBody>
          <a:bodyPr/>
          <a:lstStyle/>
          <a:p>
            <a:r>
              <a:rPr lang="en-US" b="1" i="0" dirty="0">
                <a:solidFill>
                  <a:srgbClr val="ECECF1"/>
                </a:solidFill>
                <a:effectLst/>
                <a:latin typeface="Söhne"/>
              </a:rPr>
              <a:t>Burn Up Charts:</a:t>
            </a:r>
            <a:endParaRPr lang="en-US" b="1" dirty="0"/>
          </a:p>
        </p:txBody>
      </p:sp>
      <p:sp>
        <p:nvSpPr>
          <p:cNvPr id="3" name="Content Placeholder 2">
            <a:extLst>
              <a:ext uri="{FF2B5EF4-FFF2-40B4-BE49-F238E27FC236}">
                <a16:creationId xmlns:a16="http://schemas.microsoft.com/office/drawing/2014/main" id="{8F8BEB78-DBFE-BF69-96F6-BF0EB6AF3971}"/>
              </a:ext>
            </a:extLst>
          </p:cNvPr>
          <p:cNvSpPr>
            <a:spLocks noGrp="1"/>
          </p:cNvSpPr>
          <p:nvPr>
            <p:ph idx="1"/>
          </p:nvPr>
        </p:nvSpPr>
        <p:spPr/>
        <p:txBody>
          <a:bodyPr>
            <a:normAutofit fontScale="70000" lnSpcReduction="20000"/>
          </a:bodyPr>
          <a:lstStyle/>
          <a:p>
            <a:pPr algn="l"/>
            <a:r>
              <a:rPr lang="en-US" b="0" i="0" dirty="0">
                <a:solidFill>
                  <a:srgbClr val="D1D5DB"/>
                </a:solidFill>
                <a:effectLst/>
                <a:latin typeface="Söhne"/>
              </a:rPr>
              <a:t>Burn-Up Charts are visual representations used in Agile project management to track and communicate progress toward a project's goals and objectives over time. These charts provide a clear view of work completed (scope delivered) and how it relates to the total scope defined for a project, release, or iteration. Burn-Up Charts are particularly useful for Agile teams, Product Owners, and stakeholders to understand the progress and manage expectations effectively.</a:t>
            </a:r>
          </a:p>
          <a:p>
            <a:pPr marL="0" indent="0" algn="l">
              <a:buNone/>
            </a:pPr>
            <a:endParaRPr lang="en-US" b="0" i="0" dirty="0">
              <a:solidFill>
                <a:srgbClr val="D1D5DB"/>
              </a:solidFill>
              <a:effectLst/>
              <a:latin typeface="Söhne"/>
            </a:endParaRPr>
          </a:p>
          <a:p>
            <a:pPr algn="l"/>
            <a:r>
              <a:rPr lang="en-US" b="0" i="0" dirty="0">
                <a:solidFill>
                  <a:srgbClr val="D1D5DB"/>
                </a:solidFill>
                <a:effectLst/>
                <a:latin typeface="Söhne"/>
              </a:rPr>
              <a:t>Here's how a Burn-Up Chart works and its key components:</a:t>
            </a:r>
          </a:p>
          <a:p>
            <a:pPr algn="l"/>
            <a:endParaRPr lang="en-US" b="1" i="0" dirty="0">
              <a:solidFill>
                <a:srgbClr val="D1D5DB"/>
              </a:solidFill>
              <a:effectLst/>
              <a:latin typeface="Söhne"/>
            </a:endParaRPr>
          </a:p>
          <a:p>
            <a:pPr algn="l"/>
            <a:r>
              <a:rPr lang="en-US" b="1" i="0" dirty="0">
                <a:solidFill>
                  <a:srgbClr val="D1D5DB"/>
                </a:solidFill>
                <a:effectLst/>
                <a:latin typeface="Söhne"/>
              </a:rPr>
              <a:t>X-Axis (Horizontal):</a:t>
            </a:r>
            <a:r>
              <a:rPr lang="en-US" b="0" i="0" dirty="0">
                <a:solidFill>
                  <a:srgbClr val="D1D5DB"/>
                </a:solidFill>
                <a:effectLst/>
                <a:latin typeface="Söhne"/>
              </a:rPr>
              <a:t> Time is typically represented on the X-axis, which can be divided into days, weeks, or sprints, depending on the project's cadence.</a:t>
            </a:r>
          </a:p>
          <a:p>
            <a:pPr algn="l"/>
            <a:endParaRPr lang="en-US" b="1" i="0" dirty="0">
              <a:solidFill>
                <a:srgbClr val="D1D5DB"/>
              </a:solidFill>
              <a:effectLst/>
              <a:latin typeface="Söhne"/>
            </a:endParaRPr>
          </a:p>
          <a:p>
            <a:pPr algn="l"/>
            <a:r>
              <a:rPr lang="en-US" b="1" i="0" dirty="0">
                <a:solidFill>
                  <a:srgbClr val="D1D5DB"/>
                </a:solidFill>
                <a:effectLst/>
                <a:latin typeface="Söhne"/>
              </a:rPr>
              <a:t>Y-Axis (Vertical):</a:t>
            </a:r>
            <a:r>
              <a:rPr lang="en-US" b="0" i="0" dirty="0">
                <a:solidFill>
                  <a:srgbClr val="D1D5DB"/>
                </a:solidFill>
                <a:effectLst/>
                <a:latin typeface="Söhne"/>
              </a:rPr>
              <a:t> The Y-axis represents the amount of work completed or points achieved. It is often measured in units like story points, work items, or some other metric that reflects the scope of the project.</a:t>
            </a:r>
          </a:p>
          <a:p>
            <a:endParaRPr lang="en-US" dirty="0"/>
          </a:p>
        </p:txBody>
      </p:sp>
    </p:spTree>
    <p:extLst>
      <p:ext uri="{BB962C8B-B14F-4D97-AF65-F5344CB8AC3E}">
        <p14:creationId xmlns:p14="http://schemas.microsoft.com/office/powerpoint/2010/main" val="32434824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BBACF-4658-B2DF-0C9C-222A9C13E1D8}"/>
              </a:ext>
            </a:extLst>
          </p:cNvPr>
          <p:cNvSpPr>
            <a:spLocks noGrp="1"/>
          </p:cNvSpPr>
          <p:nvPr>
            <p:ph type="title"/>
          </p:nvPr>
        </p:nvSpPr>
        <p:spPr/>
        <p:txBody>
          <a:bodyPr/>
          <a:lstStyle/>
          <a:p>
            <a:endParaRPr lang="en-US"/>
          </a:p>
        </p:txBody>
      </p:sp>
      <p:pic>
        <p:nvPicPr>
          <p:cNvPr id="2050" name="Picture 2" descr="Burn up vs burn down chart">
            <a:extLst>
              <a:ext uri="{FF2B5EF4-FFF2-40B4-BE49-F238E27FC236}">
                <a16:creationId xmlns:a16="http://schemas.microsoft.com/office/drawing/2014/main" id="{F1A306DA-DC23-1367-91C4-498EBA40C5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8279" y="365125"/>
            <a:ext cx="10575521" cy="5914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7518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E69B9-1781-1E88-7293-745B583C6AA6}"/>
              </a:ext>
            </a:extLst>
          </p:cNvPr>
          <p:cNvSpPr>
            <a:spLocks noGrp="1"/>
          </p:cNvSpPr>
          <p:nvPr>
            <p:ph type="title"/>
          </p:nvPr>
        </p:nvSpPr>
        <p:spPr/>
        <p:txBody>
          <a:bodyPr/>
          <a:lstStyle/>
          <a:p>
            <a:r>
              <a:rPr lang="en-US" b="1" dirty="0"/>
              <a:t>Scrum Ceremonies</a:t>
            </a:r>
          </a:p>
        </p:txBody>
      </p:sp>
      <p:sp>
        <p:nvSpPr>
          <p:cNvPr id="3" name="Content Placeholder 2">
            <a:extLst>
              <a:ext uri="{FF2B5EF4-FFF2-40B4-BE49-F238E27FC236}">
                <a16:creationId xmlns:a16="http://schemas.microsoft.com/office/drawing/2014/main" id="{576BC6ED-719C-7C64-DEFD-CF949EB007FC}"/>
              </a:ext>
            </a:extLst>
          </p:cNvPr>
          <p:cNvSpPr>
            <a:spLocks noGrp="1"/>
          </p:cNvSpPr>
          <p:nvPr>
            <p:ph idx="1"/>
          </p:nvPr>
        </p:nvSpPr>
        <p:spPr/>
        <p:txBody>
          <a:bodyPr/>
          <a:lstStyle/>
          <a:p>
            <a:endParaRPr lang="en-US" b="0" i="0" dirty="0">
              <a:solidFill>
                <a:srgbClr val="D1D5DB"/>
              </a:solidFill>
              <a:effectLst/>
              <a:latin typeface="Söhne"/>
            </a:endParaRPr>
          </a:p>
          <a:p>
            <a:r>
              <a:rPr lang="en-US" b="0" i="0" dirty="0">
                <a:solidFill>
                  <a:srgbClr val="D1D5DB"/>
                </a:solidFill>
                <a:effectLst/>
                <a:latin typeface="Söhne"/>
              </a:rPr>
              <a:t>Scrum ceremonies are predefined events or meetings in the Scrum framework that provide structure to the Agile development process. These ceremonies help teams collaborate, inspect and adapt their work, and keep stakeholders informed about the project's progress. </a:t>
            </a:r>
          </a:p>
          <a:p>
            <a:endParaRPr lang="en-US" dirty="0">
              <a:solidFill>
                <a:srgbClr val="D1D5DB"/>
              </a:solidFill>
              <a:latin typeface="Söhne"/>
            </a:endParaRPr>
          </a:p>
          <a:p>
            <a:r>
              <a:rPr lang="en-US" b="0" i="0" dirty="0">
                <a:solidFill>
                  <a:srgbClr val="D1D5DB"/>
                </a:solidFill>
                <a:effectLst/>
                <a:latin typeface="Söhne"/>
              </a:rPr>
              <a:t>There are four primary Scrum ceremonies:</a:t>
            </a:r>
            <a:endParaRPr lang="en-US" dirty="0"/>
          </a:p>
        </p:txBody>
      </p:sp>
    </p:spTree>
    <p:extLst>
      <p:ext uri="{BB962C8B-B14F-4D97-AF65-F5344CB8AC3E}">
        <p14:creationId xmlns:p14="http://schemas.microsoft.com/office/powerpoint/2010/main" val="5304320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3A02-2088-34C8-EF6B-45B3F38F8ECF}"/>
              </a:ext>
            </a:extLst>
          </p:cNvPr>
          <p:cNvSpPr>
            <a:spLocks noGrp="1"/>
          </p:cNvSpPr>
          <p:nvPr>
            <p:ph type="title"/>
          </p:nvPr>
        </p:nvSpPr>
        <p:spPr/>
        <p:txBody>
          <a:bodyPr/>
          <a:lstStyle/>
          <a:p>
            <a:r>
              <a:rPr lang="en-US" b="1" i="0" dirty="0">
                <a:effectLst/>
                <a:latin typeface="Söhne"/>
              </a:rPr>
              <a:t>Sprint Planning:</a:t>
            </a:r>
            <a:endParaRPr lang="en-US" dirty="0"/>
          </a:p>
        </p:txBody>
      </p:sp>
      <p:sp>
        <p:nvSpPr>
          <p:cNvPr id="3" name="Content Placeholder 2">
            <a:extLst>
              <a:ext uri="{FF2B5EF4-FFF2-40B4-BE49-F238E27FC236}">
                <a16:creationId xmlns:a16="http://schemas.microsoft.com/office/drawing/2014/main" id="{A595ABBA-48A7-769E-A114-F4DF60E38CA1}"/>
              </a:ext>
            </a:extLst>
          </p:cNvPr>
          <p:cNvSpPr>
            <a:spLocks noGrp="1"/>
          </p:cNvSpPr>
          <p:nvPr>
            <p:ph idx="1"/>
          </p:nvPr>
        </p:nvSpPr>
        <p:spPr/>
        <p:txBody>
          <a:bodyPr>
            <a:normAutofit lnSpcReduction="10000"/>
          </a:bodyPr>
          <a:lstStyle/>
          <a:p>
            <a:pPr algn="l">
              <a:buFont typeface="Arial" panose="020B0604020202020204" pitchFamily="34" charset="0"/>
              <a:buChar char="•"/>
            </a:pPr>
            <a:r>
              <a:rPr lang="en-US" b="1" i="0" dirty="0">
                <a:solidFill>
                  <a:srgbClr val="D1D5DB"/>
                </a:solidFill>
                <a:effectLst/>
                <a:latin typeface="Söhne"/>
              </a:rPr>
              <a:t>Purpose:</a:t>
            </a:r>
            <a:r>
              <a:rPr lang="en-US" b="0" i="0" dirty="0">
                <a:solidFill>
                  <a:srgbClr val="D1D5DB"/>
                </a:solidFill>
                <a:effectLst/>
                <a:latin typeface="Söhne"/>
              </a:rPr>
              <a:t> Sprint Planning initiates the sprint by selecting the work to be accomplished during the sprint.</a:t>
            </a: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Participants:</a:t>
            </a:r>
            <a:r>
              <a:rPr lang="en-US" b="0" i="0" dirty="0">
                <a:solidFill>
                  <a:srgbClr val="D1D5DB"/>
                </a:solidFill>
                <a:effectLst/>
                <a:latin typeface="Söhne"/>
              </a:rPr>
              <a:t> Scrum Team (Product Owner, Scrum Master, Development Team).</a:t>
            </a: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Agenda:</a:t>
            </a:r>
            <a:r>
              <a:rPr lang="en-US" b="0" i="0" dirty="0">
                <a:solidFill>
                  <a:srgbClr val="D1D5DB"/>
                </a:solidFill>
                <a:effectLst/>
                <a:latin typeface="Söhne"/>
              </a:rPr>
              <a:t> The Product Owner presents the top-priority items from the Product Backlog, and the Development Team collaborates to select which items they can commit to completing during the sprint. They also define the sprint goal.</a:t>
            </a:r>
          </a:p>
          <a:p>
            <a:endParaRPr lang="en-US" dirty="0"/>
          </a:p>
        </p:txBody>
      </p:sp>
    </p:spTree>
    <p:extLst>
      <p:ext uri="{BB962C8B-B14F-4D97-AF65-F5344CB8AC3E}">
        <p14:creationId xmlns:p14="http://schemas.microsoft.com/office/powerpoint/2010/main" val="35711907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9F9AB-1E14-7214-6055-5A259FF1EEAD}"/>
              </a:ext>
            </a:extLst>
          </p:cNvPr>
          <p:cNvSpPr>
            <a:spLocks noGrp="1"/>
          </p:cNvSpPr>
          <p:nvPr>
            <p:ph type="title"/>
          </p:nvPr>
        </p:nvSpPr>
        <p:spPr/>
        <p:txBody>
          <a:bodyPr/>
          <a:lstStyle/>
          <a:p>
            <a:r>
              <a:rPr lang="en-US" b="1" i="0" dirty="0">
                <a:effectLst/>
                <a:latin typeface="Söhne"/>
              </a:rPr>
              <a:t>Daily Scrum (Daily Standup):</a:t>
            </a:r>
            <a:endParaRPr lang="en-US" dirty="0"/>
          </a:p>
        </p:txBody>
      </p:sp>
      <p:sp>
        <p:nvSpPr>
          <p:cNvPr id="3" name="Content Placeholder 2">
            <a:extLst>
              <a:ext uri="{FF2B5EF4-FFF2-40B4-BE49-F238E27FC236}">
                <a16:creationId xmlns:a16="http://schemas.microsoft.com/office/drawing/2014/main" id="{E12E7873-0915-0338-22B8-736686433171}"/>
              </a:ext>
            </a:extLst>
          </p:cNvPr>
          <p:cNvSpPr>
            <a:spLocks noGrp="1"/>
          </p:cNvSpPr>
          <p:nvPr>
            <p:ph idx="1"/>
          </p:nvPr>
        </p:nvSpPr>
        <p:spPr/>
        <p:txBody>
          <a:bodyPr/>
          <a:lstStyle/>
          <a:p>
            <a:pPr algn="l">
              <a:buFont typeface="Arial" panose="020B0604020202020204" pitchFamily="34" charset="0"/>
              <a:buChar char="•"/>
            </a:pPr>
            <a:r>
              <a:rPr lang="en-US" b="1" i="0" dirty="0">
                <a:solidFill>
                  <a:srgbClr val="D1D5DB"/>
                </a:solidFill>
                <a:effectLst/>
                <a:latin typeface="Söhne"/>
              </a:rPr>
              <a:t>Purpose:</a:t>
            </a:r>
            <a:r>
              <a:rPr lang="en-US" b="0" i="0" dirty="0">
                <a:solidFill>
                  <a:srgbClr val="D1D5DB"/>
                </a:solidFill>
                <a:effectLst/>
                <a:latin typeface="Söhne"/>
              </a:rPr>
              <a:t> Daily Scrum is a daily synchronization meeting where the team discusses progress, plans for the day, and identifies impediments.</a:t>
            </a: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Participants:</a:t>
            </a:r>
            <a:r>
              <a:rPr lang="en-US" b="0" i="0" dirty="0">
                <a:solidFill>
                  <a:srgbClr val="D1D5DB"/>
                </a:solidFill>
                <a:effectLst/>
                <a:latin typeface="Söhne"/>
              </a:rPr>
              <a:t> Scrum Team (Development Team, Scrum Master, Product Owner may attend as an observer).</a:t>
            </a: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Format:</a:t>
            </a:r>
            <a:r>
              <a:rPr lang="en-US" b="0" i="0" dirty="0">
                <a:solidFill>
                  <a:srgbClr val="D1D5DB"/>
                </a:solidFill>
                <a:effectLst/>
                <a:latin typeface="Söhne"/>
              </a:rPr>
              <a:t> Each team member answers three questions: What did I do yesterday? What will I do today? Are there any impediments?</a:t>
            </a:r>
          </a:p>
          <a:p>
            <a:endParaRPr lang="en-US" dirty="0"/>
          </a:p>
        </p:txBody>
      </p:sp>
    </p:spTree>
    <p:extLst>
      <p:ext uri="{BB962C8B-B14F-4D97-AF65-F5344CB8AC3E}">
        <p14:creationId xmlns:p14="http://schemas.microsoft.com/office/powerpoint/2010/main" val="37626444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38CFA-72CC-4CD1-A0B9-DDD6BF6ECB76}"/>
              </a:ext>
            </a:extLst>
          </p:cNvPr>
          <p:cNvSpPr>
            <a:spLocks noGrp="1"/>
          </p:cNvSpPr>
          <p:nvPr>
            <p:ph type="title"/>
          </p:nvPr>
        </p:nvSpPr>
        <p:spPr/>
        <p:txBody>
          <a:bodyPr/>
          <a:lstStyle/>
          <a:p>
            <a:r>
              <a:rPr lang="en-US" b="1" i="0" dirty="0">
                <a:effectLst/>
                <a:latin typeface="Söhne"/>
              </a:rPr>
              <a:t>Sprint Review:</a:t>
            </a:r>
            <a:endParaRPr lang="en-US" dirty="0"/>
          </a:p>
        </p:txBody>
      </p:sp>
      <p:sp>
        <p:nvSpPr>
          <p:cNvPr id="3" name="Content Placeholder 2">
            <a:extLst>
              <a:ext uri="{FF2B5EF4-FFF2-40B4-BE49-F238E27FC236}">
                <a16:creationId xmlns:a16="http://schemas.microsoft.com/office/drawing/2014/main" id="{91E1E6E1-3726-100F-EC19-84FE26623DAE}"/>
              </a:ext>
            </a:extLst>
          </p:cNvPr>
          <p:cNvSpPr>
            <a:spLocks noGrp="1"/>
          </p:cNvSpPr>
          <p:nvPr>
            <p:ph idx="1"/>
          </p:nvPr>
        </p:nvSpPr>
        <p:spPr/>
        <p:txBody>
          <a:bodyPr>
            <a:normAutofit lnSpcReduction="10000"/>
          </a:bodyPr>
          <a:lstStyle/>
          <a:p>
            <a:pPr algn="l">
              <a:buFont typeface="Arial" panose="020B0604020202020204" pitchFamily="34" charset="0"/>
              <a:buChar char="•"/>
            </a:pPr>
            <a:r>
              <a:rPr lang="en-US" b="1" i="0" dirty="0">
                <a:solidFill>
                  <a:srgbClr val="D1D5DB"/>
                </a:solidFill>
                <a:effectLst/>
                <a:latin typeface="Söhne"/>
              </a:rPr>
              <a:t>Purpose:</a:t>
            </a:r>
            <a:r>
              <a:rPr lang="en-US" b="0" i="0" dirty="0">
                <a:solidFill>
                  <a:srgbClr val="D1D5DB"/>
                </a:solidFill>
                <a:effectLst/>
                <a:latin typeface="Söhne"/>
              </a:rPr>
              <a:t> Sprint Review is held at the end of the sprint to demonstrate the completed work and gather feedback from stakeholders.</a:t>
            </a: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Participants:</a:t>
            </a:r>
            <a:r>
              <a:rPr lang="en-US" b="0" i="0" dirty="0">
                <a:solidFill>
                  <a:srgbClr val="D1D5DB"/>
                </a:solidFill>
                <a:effectLst/>
                <a:latin typeface="Söhne"/>
              </a:rPr>
              <a:t> Scrum Team and stakeholders (e.g., customers, users, management).</a:t>
            </a: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Format:</a:t>
            </a:r>
            <a:r>
              <a:rPr lang="en-US" b="0" i="0" dirty="0">
                <a:solidFill>
                  <a:srgbClr val="D1D5DB"/>
                </a:solidFill>
                <a:effectLst/>
                <a:latin typeface="Söhne"/>
              </a:rPr>
              <a:t> The Development Team showcases the Increment (potentially shippable product increment), and stakeholders provide feedback. It also involves a review of the sprint goal.</a:t>
            </a:r>
          </a:p>
          <a:p>
            <a:endParaRPr lang="en-US" dirty="0"/>
          </a:p>
        </p:txBody>
      </p:sp>
    </p:spTree>
    <p:extLst>
      <p:ext uri="{BB962C8B-B14F-4D97-AF65-F5344CB8AC3E}">
        <p14:creationId xmlns:p14="http://schemas.microsoft.com/office/powerpoint/2010/main" val="24610569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7E41C-9391-C70D-3848-6B3CD0B52783}"/>
              </a:ext>
            </a:extLst>
          </p:cNvPr>
          <p:cNvSpPr>
            <a:spLocks noGrp="1"/>
          </p:cNvSpPr>
          <p:nvPr>
            <p:ph type="title"/>
          </p:nvPr>
        </p:nvSpPr>
        <p:spPr/>
        <p:txBody>
          <a:bodyPr/>
          <a:lstStyle/>
          <a:p>
            <a:r>
              <a:rPr lang="en-US" b="1" i="0" dirty="0">
                <a:effectLst/>
                <a:latin typeface="Söhne"/>
              </a:rPr>
              <a:t>Sprint Retrospective:</a:t>
            </a:r>
            <a:endParaRPr lang="en-US" dirty="0"/>
          </a:p>
        </p:txBody>
      </p:sp>
      <p:sp>
        <p:nvSpPr>
          <p:cNvPr id="3" name="Content Placeholder 2">
            <a:extLst>
              <a:ext uri="{FF2B5EF4-FFF2-40B4-BE49-F238E27FC236}">
                <a16:creationId xmlns:a16="http://schemas.microsoft.com/office/drawing/2014/main" id="{C8046982-3549-7832-312D-D51480C71F87}"/>
              </a:ext>
            </a:extLst>
          </p:cNvPr>
          <p:cNvSpPr>
            <a:spLocks noGrp="1"/>
          </p:cNvSpPr>
          <p:nvPr>
            <p:ph idx="1"/>
          </p:nvPr>
        </p:nvSpPr>
        <p:spPr/>
        <p:txBody>
          <a:bodyPr>
            <a:normAutofit lnSpcReduction="10000"/>
          </a:bodyPr>
          <a:lstStyle/>
          <a:p>
            <a:pPr algn="l">
              <a:buFont typeface="Arial" panose="020B0604020202020204" pitchFamily="34" charset="0"/>
              <a:buChar char="•"/>
            </a:pPr>
            <a:r>
              <a:rPr lang="en-US" b="1" i="0" dirty="0">
                <a:solidFill>
                  <a:srgbClr val="D1D5DB"/>
                </a:solidFill>
                <a:effectLst/>
                <a:latin typeface="Söhne"/>
              </a:rPr>
              <a:t>Purpose:</a:t>
            </a:r>
            <a:r>
              <a:rPr lang="en-US" b="0" i="0" dirty="0">
                <a:solidFill>
                  <a:srgbClr val="D1D5DB"/>
                </a:solidFill>
                <a:effectLst/>
                <a:latin typeface="Söhne"/>
              </a:rPr>
              <a:t> Sprint Retrospective is an opportunity for the Scrum Team to reflect on the sprint, identify improvements, and plan for changes in their processes.</a:t>
            </a: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Participants:</a:t>
            </a:r>
            <a:r>
              <a:rPr lang="en-US" b="0" i="0" dirty="0">
                <a:solidFill>
                  <a:srgbClr val="D1D5DB"/>
                </a:solidFill>
                <a:effectLst/>
                <a:latin typeface="Söhne"/>
              </a:rPr>
              <a:t> Scrum Team (Development Team, Scrum Master, Product Owner may attend as an observer).</a:t>
            </a: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Format:</a:t>
            </a:r>
            <a:r>
              <a:rPr lang="en-US" b="0" i="0" dirty="0">
                <a:solidFill>
                  <a:srgbClr val="D1D5DB"/>
                </a:solidFill>
                <a:effectLst/>
                <a:latin typeface="Söhne"/>
              </a:rPr>
              <a:t> The team discusses what went well, what could be improved, and creates actionable items for process enhancement in the next sprint.</a:t>
            </a:r>
          </a:p>
          <a:p>
            <a:endParaRPr lang="en-US" dirty="0"/>
          </a:p>
        </p:txBody>
      </p:sp>
    </p:spTree>
    <p:extLst>
      <p:ext uri="{BB962C8B-B14F-4D97-AF65-F5344CB8AC3E}">
        <p14:creationId xmlns:p14="http://schemas.microsoft.com/office/powerpoint/2010/main" val="34976758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58B189-F9E0-B343-681D-1EA6F579FA30}"/>
              </a:ext>
            </a:extLst>
          </p:cNvPr>
          <p:cNvSpPr>
            <a:spLocks noGrp="1"/>
          </p:cNvSpPr>
          <p:nvPr>
            <p:ph idx="1"/>
          </p:nvPr>
        </p:nvSpPr>
        <p:spPr>
          <a:xfrm>
            <a:off x="838200" y="531845"/>
            <a:ext cx="10515600" cy="5645118"/>
          </a:xfrm>
        </p:spPr>
        <p:txBody>
          <a:bodyPr>
            <a:normAutofit lnSpcReduction="10000"/>
          </a:bodyPr>
          <a:lstStyle/>
          <a:p>
            <a:pPr marL="0" indent="0">
              <a:buNone/>
            </a:pPr>
            <a:r>
              <a:rPr lang="en-US" b="1" i="0" dirty="0">
                <a:solidFill>
                  <a:srgbClr val="D1D5DB"/>
                </a:solidFill>
                <a:effectLst/>
                <a:latin typeface="Söhne"/>
              </a:rPr>
              <a:t>Additionally, some teams may use the following optional ceremonies to enhance collaboration and alignment</a:t>
            </a:r>
          </a:p>
          <a:p>
            <a:endParaRPr lang="en-US" b="1" dirty="0"/>
          </a:p>
          <a:p>
            <a:pPr marL="0" indent="0" algn="l">
              <a:buNone/>
            </a:pPr>
            <a:r>
              <a:rPr lang="en-US" b="1" i="0" dirty="0">
                <a:solidFill>
                  <a:srgbClr val="D1D5DB"/>
                </a:solidFill>
                <a:effectLst/>
                <a:latin typeface="Söhne"/>
              </a:rPr>
              <a:t>Backlog Refinement (Grooming):</a:t>
            </a:r>
            <a:endParaRPr lang="en-US" b="0" i="0" dirty="0">
              <a:solidFill>
                <a:srgbClr val="D1D5DB"/>
              </a:solidFill>
              <a:effectLst/>
              <a:latin typeface="Söhne"/>
            </a:endParaRPr>
          </a:p>
          <a:p>
            <a:pPr algn="l">
              <a:buFont typeface="Arial" panose="020B0604020202020204" pitchFamily="34" charset="0"/>
              <a:buChar char="•"/>
            </a:pPr>
            <a:endParaRPr lang="en-US" b="1"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Purpose: </a:t>
            </a:r>
            <a:r>
              <a:rPr lang="en-US" i="0" dirty="0">
                <a:solidFill>
                  <a:srgbClr val="D1D5DB"/>
                </a:solidFill>
                <a:effectLst/>
                <a:latin typeface="Söhne"/>
              </a:rPr>
              <a:t>Backlog Refinement involves reviewing and preparing items in the Product Backlog for future sprints.</a:t>
            </a:r>
          </a:p>
          <a:p>
            <a:pPr algn="l">
              <a:buFont typeface="Arial" panose="020B0604020202020204" pitchFamily="34" charset="0"/>
              <a:buChar char="•"/>
            </a:pPr>
            <a:endParaRPr lang="en-US"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Participants: </a:t>
            </a:r>
            <a:r>
              <a:rPr lang="en-US" i="0" dirty="0">
                <a:solidFill>
                  <a:srgbClr val="D1D5DB"/>
                </a:solidFill>
                <a:effectLst/>
                <a:latin typeface="Söhne"/>
              </a:rPr>
              <a:t>Scrum Team, with a focus on the Product Owner and Development Team.</a:t>
            </a:r>
          </a:p>
          <a:p>
            <a:pPr algn="l">
              <a:buFont typeface="Arial" panose="020B0604020202020204" pitchFamily="34" charset="0"/>
              <a:buChar char="•"/>
            </a:pPr>
            <a:endParaRPr lang="en-US" i="0" dirty="0">
              <a:solidFill>
                <a:srgbClr val="D1D5DB"/>
              </a:solidFill>
              <a:effectLst/>
              <a:latin typeface="Söhne"/>
            </a:endParaRPr>
          </a:p>
          <a:p>
            <a:pPr algn="l">
              <a:buFont typeface="Arial" panose="020B0604020202020204" pitchFamily="34" charset="0"/>
              <a:buChar char="•"/>
            </a:pPr>
            <a:r>
              <a:rPr lang="en-US" b="1" i="0" dirty="0">
                <a:solidFill>
                  <a:srgbClr val="D1D5DB"/>
                </a:solidFill>
                <a:effectLst/>
                <a:latin typeface="Söhne"/>
              </a:rPr>
              <a:t>Agenda: </a:t>
            </a:r>
            <a:r>
              <a:rPr lang="en-US" i="0" dirty="0">
                <a:solidFill>
                  <a:srgbClr val="D1D5DB"/>
                </a:solidFill>
                <a:effectLst/>
                <a:latin typeface="Söhne"/>
              </a:rPr>
              <a:t>The team discusses, clarifies, and estimates backlog items, ensuring they are well-defined and ready for sprint plannin</a:t>
            </a:r>
            <a:r>
              <a:rPr lang="en-US" b="0" i="0" dirty="0">
                <a:solidFill>
                  <a:srgbClr val="D1D5DB"/>
                </a:solidFill>
                <a:effectLst/>
                <a:latin typeface="Söhne"/>
              </a:rPr>
              <a:t>g.</a:t>
            </a:r>
          </a:p>
          <a:p>
            <a:endParaRPr lang="en-US" dirty="0"/>
          </a:p>
        </p:txBody>
      </p:sp>
    </p:spTree>
    <p:extLst>
      <p:ext uri="{BB962C8B-B14F-4D97-AF65-F5344CB8AC3E}">
        <p14:creationId xmlns:p14="http://schemas.microsoft.com/office/powerpoint/2010/main" val="6568054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C620E6-2CB3-9110-7A53-452508F883AD}"/>
              </a:ext>
            </a:extLst>
          </p:cNvPr>
          <p:cNvSpPr>
            <a:spLocks noGrp="1"/>
          </p:cNvSpPr>
          <p:nvPr>
            <p:ph idx="1"/>
          </p:nvPr>
        </p:nvSpPr>
        <p:spPr>
          <a:xfrm>
            <a:off x="838200" y="186612"/>
            <a:ext cx="10515600" cy="5990351"/>
          </a:xfrm>
        </p:spPr>
        <p:txBody>
          <a:bodyPr>
            <a:normAutofit fontScale="92500" lnSpcReduction="10000"/>
          </a:bodyPr>
          <a:lstStyle/>
          <a:p>
            <a:pPr marL="0" indent="0" algn="l">
              <a:buNone/>
            </a:pPr>
            <a:r>
              <a:rPr lang="en-US" b="1" i="0" dirty="0">
                <a:solidFill>
                  <a:srgbClr val="D1D5DB"/>
                </a:solidFill>
                <a:effectLst/>
                <a:latin typeface="Söhne"/>
              </a:rPr>
              <a:t>Release Planning:</a:t>
            </a:r>
            <a:endParaRPr lang="en-US" b="0" i="0" dirty="0">
              <a:solidFill>
                <a:srgbClr val="D1D5DB"/>
              </a:solidFill>
              <a:effectLst/>
              <a:latin typeface="Söhne"/>
            </a:endParaRPr>
          </a:p>
          <a:p>
            <a:pPr marL="457200" lvl="1" indent="0" algn="l">
              <a:buNone/>
            </a:pPr>
            <a:r>
              <a:rPr lang="en-US" b="1" i="0" dirty="0">
                <a:solidFill>
                  <a:srgbClr val="D1D5DB"/>
                </a:solidFill>
                <a:effectLst/>
                <a:latin typeface="Söhne"/>
              </a:rPr>
              <a:t>Purpose:</a:t>
            </a:r>
            <a:r>
              <a:rPr lang="en-US" b="0" i="0" dirty="0">
                <a:solidFill>
                  <a:srgbClr val="D1D5DB"/>
                </a:solidFill>
                <a:effectLst/>
                <a:latin typeface="Söhne"/>
              </a:rPr>
              <a:t> Release Planning occurs at the beginning of a project or before a large release, focusing on high-level goals, timelines, and scope.</a:t>
            </a:r>
          </a:p>
          <a:p>
            <a:pPr marL="457200" lvl="1" indent="0" algn="l">
              <a:buNone/>
            </a:pPr>
            <a:endParaRPr lang="en-US" b="0" i="0" dirty="0">
              <a:solidFill>
                <a:srgbClr val="D1D5DB"/>
              </a:solidFill>
              <a:effectLst/>
              <a:latin typeface="Söhne"/>
            </a:endParaRPr>
          </a:p>
          <a:p>
            <a:pPr marL="457200" lvl="1" indent="0" algn="l">
              <a:buNone/>
            </a:pPr>
            <a:r>
              <a:rPr lang="en-US" b="1" i="0" dirty="0">
                <a:solidFill>
                  <a:srgbClr val="D1D5DB"/>
                </a:solidFill>
                <a:effectLst/>
                <a:latin typeface="Söhne"/>
              </a:rPr>
              <a:t>Participants:</a:t>
            </a:r>
            <a:r>
              <a:rPr lang="en-US" b="0" i="0" dirty="0">
                <a:solidFill>
                  <a:srgbClr val="D1D5DB"/>
                </a:solidFill>
                <a:effectLst/>
                <a:latin typeface="Söhne"/>
              </a:rPr>
              <a:t> Scrum Team, stakeholders, and sometimes external parties.</a:t>
            </a:r>
          </a:p>
          <a:p>
            <a:pPr marL="457200" lvl="1" indent="0" algn="l">
              <a:buNone/>
            </a:pPr>
            <a:endParaRPr lang="en-US" b="0" i="0" dirty="0">
              <a:solidFill>
                <a:srgbClr val="D1D5DB"/>
              </a:solidFill>
              <a:effectLst/>
              <a:latin typeface="Söhne"/>
            </a:endParaRPr>
          </a:p>
          <a:p>
            <a:pPr marL="457200" lvl="1" indent="0" algn="l">
              <a:buNone/>
            </a:pPr>
            <a:r>
              <a:rPr lang="en-US" b="1" i="0" dirty="0">
                <a:solidFill>
                  <a:srgbClr val="D1D5DB"/>
                </a:solidFill>
                <a:effectLst/>
                <a:latin typeface="Söhne"/>
              </a:rPr>
              <a:t>Agenda:</a:t>
            </a:r>
            <a:r>
              <a:rPr lang="en-US" b="0" i="0" dirty="0">
                <a:solidFill>
                  <a:srgbClr val="D1D5DB"/>
                </a:solidFill>
                <a:effectLst/>
                <a:latin typeface="Söhne"/>
              </a:rPr>
              <a:t> The team defines the overall project vision, identifies key features, and creates a release plan that aligns with business goals.</a:t>
            </a:r>
          </a:p>
          <a:p>
            <a:pPr marL="0" indent="0" algn="l">
              <a:buNone/>
            </a:pPr>
            <a:endParaRPr lang="en-US" b="1" i="0" dirty="0">
              <a:solidFill>
                <a:srgbClr val="D1D5DB"/>
              </a:solidFill>
              <a:effectLst/>
              <a:latin typeface="Söhne"/>
            </a:endParaRPr>
          </a:p>
          <a:p>
            <a:pPr marL="0" indent="0" algn="l">
              <a:buNone/>
            </a:pPr>
            <a:r>
              <a:rPr lang="en-US" b="1" i="0" dirty="0">
                <a:solidFill>
                  <a:srgbClr val="D1D5DB"/>
                </a:solidFill>
                <a:effectLst/>
                <a:latin typeface="Söhne"/>
              </a:rPr>
              <a:t>Product Backlog Refinement:</a:t>
            </a:r>
            <a:endParaRPr lang="en-US" b="0" i="0" dirty="0">
              <a:solidFill>
                <a:srgbClr val="D1D5DB"/>
              </a:solidFill>
              <a:effectLst/>
              <a:latin typeface="Söhne"/>
            </a:endParaRPr>
          </a:p>
          <a:p>
            <a:pPr marL="457200" lvl="1" indent="0" algn="l">
              <a:buNone/>
            </a:pPr>
            <a:r>
              <a:rPr lang="en-US" b="1" i="0" dirty="0">
                <a:solidFill>
                  <a:srgbClr val="D1D5DB"/>
                </a:solidFill>
                <a:effectLst/>
                <a:latin typeface="Söhne"/>
              </a:rPr>
              <a:t>Purpose:</a:t>
            </a:r>
            <a:r>
              <a:rPr lang="en-US" b="0" i="0" dirty="0">
                <a:solidFill>
                  <a:srgbClr val="D1D5DB"/>
                </a:solidFill>
                <a:effectLst/>
                <a:latin typeface="Söhne"/>
              </a:rPr>
              <a:t> Product Backlog Refinement is an ongoing activity that involves continually grooming and refining the Product Backlog to ensure it is ready for sprint planning.</a:t>
            </a:r>
          </a:p>
          <a:p>
            <a:pPr marL="457200" lvl="1" indent="0" algn="l">
              <a:buNone/>
            </a:pPr>
            <a:endParaRPr lang="en-US" b="1" i="0" dirty="0">
              <a:solidFill>
                <a:srgbClr val="D1D5DB"/>
              </a:solidFill>
              <a:effectLst/>
              <a:latin typeface="Söhne"/>
            </a:endParaRPr>
          </a:p>
          <a:p>
            <a:pPr marL="457200" lvl="1" indent="0" algn="l">
              <a:buNone/>
            </a:pPr>
            <a:r>
              <a:rPr lang="en-US" b="1" i="0" dirty="0">
                <a:solidFill>
                  <a:srgbClr val="D1D5DB"/>
                </a:solidFill>
                <a:effectLst/>
                <a:latin typeface="Söhne"/>
              </a:rPr>
              <a:t>Participants:</a:t>
            </a:r>
            <a:r>
              <a:rPr lang="en-US" b="0" i="0" dirty="0">
                <a:solidFill>
                  <a:srgbClr val="D1D5DB"/>
                </a:solidFill>
                <a:effectLst/>
                <a:latin typeface="Söhne"/>
              </a:rPr>
              <a:t> Primarily the Product Owner and the Development Team.</a:t>
            </a:r>
          </a:p>
          <a:p>
            <a:pPr marL="457200" lvl="1" indent="0" algn="l">
              <a:buNone/>
            </a:pPr>
            <a:endParaRPr lang="en-US" b="1" i="0" dirty="0">
              <a:solidFill>
                <a:srgbClr val="D1D5DB"/>
              </a:solidFill>
              <a:effectLst/>
              <a:latin typeface="Söhne"/>
            </a:endParaRPr>
          </a:p>
          <a:p>
            <a:pPr marL="457200" lvl="1" indent="0" algn="l">
              <a:buNone/>
            </a:pPr>
            <a:r>
              <a:rPr lang="en-US" b="1" i="0" dirty="0">
                <a:solidFill>
                  <a:srgbClr val="D1D5DB"/>
                </a:solidFill>
                <a:effectLst/>
                <a:latin typeface="Söhne"/>
              </a:rPr>
              <a:t>Agenda:</a:t>
            </a:r>
            <a:r>
              <a:rPr lang="en-US" b="0" i="0" dirty="0">
                <a:solidFill>
                  <a:srgbClr val="D1D5DB"/>
                </a:solidFill>
                <a:effectLst/>
                <a:latin typeface="Söhne"/>
              </a:rPr>
              <a:t> The Product Owner works on prioritization, clarification, and decomposing backlog items to make them actionable for development.</a:t>
            </a:r>
          </a:p>
          <a:p>
            <a:endParaRPr lang="en-US" dirty="0"/>
          </a:p>
        </p:txBody>
      </p:sp>
    </p:spTree>
    <p:extLst>
      <p:ext uri="{BB962C8B-B14F-4D97-AF65-F5344CB8AC3E}">
        <p14:creationId xmlns:p14="http://schemas.microsoft.com/office/powerpoint/2010/main" val="3948054990"/>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2130</TotalTime>
  <Words>8035</Words>
  <Application>Microsoft Office PowerPoint</Application>
  <PresentationFormat>Widescreen</PresentationFormat>
  <Paragraphs>528</Paragraphs>
  <Slides>91</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91</vt:i4>
      </vt:variant>
    </vt:vector>
  </HeadingPairs>
  <TitlesOfParts>
    <vt:vector size="101" baseType="lpstr">
      <vt:lpstr>arial</vt:lpstr>
      <vt:lpstr>arial</vt:lpstr>
      <vt:lpstr>Calibri</vt:lpstr>
      <vt:lpstr>Calibri Light</vt:lpstr>
      <vt:lpstr>Garamond</vt:lpstr>
      <vt:lpstr>Söhne</vt:lpstr>
      <vt:lpstr>Söhne Mono</vt:lpstr>
      <vt:lpstr>Source Sans Pro</vt:lpstr>
      <vt:lpstr>Symbol</vt:lpstr>
      <vt:lpstr>Office Theme</vt:lpstr>
      <vt:lpstr>QA Bootcamp</vt:lpstr>
      <vt:lpstr>PowerPoint Presentation</vt:lpstr>
      <vt:lpstr>What is a Software?</vt:lpstr>
      <vt:lpstr>What is a Software development?</vt:lpstr>
      <vt:lpstr>Software Development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Quality Control (QC) - Doing the Things Right: </vt:lpstr>
      <vt:lpstr> Verification vs. Validation:  </vt:lpstr>
      <vt:lpstr> Use Cases, Test Cases, and Test Scenarios:  </vt:lpstr>
      <vt:lpstr>Properties of Use Cases </vt:lpstr>
      <vt:lpstr>Test Cases</vt:lpstr>
      <vt:lpstr>What is a Requirement Analysis?</vt:lpstr>
      <vt:lpstr>Requirement Analysis in Software Industry?</vt:lpstr>
      <vt:lpstr>Types of Testing Used in Software Industry</vt:lpstr>
      <vt:lpstr>Test Plan and Test Strategy</vt:lpstr>
      <vt:lpstr>Static Testing:</vt:lpstr>
      <vt:lpstr>Working with Bugs:</vt:lpstr>
      <vt:lpstr>Bug Life Cycle/Severity and Priority:</vt:lpstr>
      <vt:lpstr>Bug Leakage and Bug Release:</vt:lpstr>
      <vt:lpstr>Bug Triage:</vt:lpstr>
      <vt:lpstr>Difference between bug, Defect and Failure</vt:lpstr>
      <vt:lpstr>Defect:</vt:lpstr>
      <vt:lpstr>Failure:</vt:lpstr>
      <vt:lpstr>Black Box VS White Box Testing  </vt:lpstr>
      <vt:lpstr>Functional Testing Vs Non-Functional Testing </vt:lpstr>
      <vt:lpstr>Smoke Testing / Sanity Testing  </vt:lpstr>
      <vt:lpstr>Regression Testing / Re-testing </vt:lpstr>
      <vt:lpstr>Decision Table Testing</vt:lpstr>
      <vt:lpstr>Equivalence Partitioning  / Boundary Value Analysis </vt:lpstr>
      <vt:lpstr>White Box Testing / Unit Testing </vt:lpstr>
      <vt:lpstr>Alpha vs. Beta Testing </vt:lpstr>
      <vt:lpstr>Alpha Testing: </vt:lpstr>
      <vt:lpstr>Beta Testing: </vt:lpstr>
      <vt:lpstr>Integration Testing</vt:lpstr>
      <vt:lpstr>Stubs and Drivers in Integration Testing</vt:lpstr>
      <vt:lpstr>Stubs and Drivers continue…</vt:lpstr>
      <vt:lpstr>Latent Defect</vt:lpstr>
      <vt:lpstr>Masked Defect</vt:lpstr>
      <vt:lpstr>Defect Rejection Ratio</vt:lpstr>
      <vt:lpstr>Defect Leakage Ratio </vt:lpstr>
      <vt:lpstr>Mutation Testing </vt:lpstr>
      <vt:lpstr>Common risk that leads to project failure</vt:lpstr>
      <vt:lpstr>Data - Driven Testing</vt:lpstr>
      <vt:lpstr>Behavior - Driven Testing:</vt:lpstr>
      <vt:lpstr>PowerPoint Presentation</vt:lpstr>
      <vt:lpstr>PowerPoint Presentation</vt:lpstr>
      <vt:lpstr>Learning API’s and Postman Tool</vt:lpstr>
      <vt:lpstr>Introduction to API</vt:lpstr>
      <vt:lpstr>PowerPoint Presentation</vt:lpstr>
      <vt:lpstr>API Testing</vt:lpstr>
      <vt:lpstr>Web Services </vt:lpstr>
      <vt:lpstr> API’s    vs   Web Services</vt:lpstr>
      <vt:lpstr>SOAP vs REST</vt:lpstr>
      <vt:lpstr>SOAP vs REST</vt:lpstr>
      <vt:lpstr>SOAP Example</vt:lpstr>
      <vt:lpstr>REST Example</vt:lpstr>
      <vt:lpstr>XML vs JSON syntax example</vt:lpstr>
      <vt:lpstr>HTTP Requests</vt:lpstr>
      <vt:lpstr>HTTP vs HTTPS:</vt:lpstr>
      <vt:lpstr>HTTP Status Codes</vt:lpstr>
      <vt:lpstr>Introduction to Postman</vt:lpstr>
      <vt:lpstr>Introduction to Postman</vt:lpstr>
      <vt:lpstr>Request Headers</vt:lpstr>
      <vt:lpstr>Response Headers</vt:lpstr>
      <vt:lpstr>Response</vt:lpstr>
      <vt:lpstr>Learning Agile </vt:lpstr>
      <vt:lpstr>PowerPoint Presentation</vt:lpstr>
      <vt:lpstr>Introduction to Agile and Agile Manifesto:</vt:lpstr>
      <vt:lpstr>Values of the Agile Manifesto:</vt:lpstr>
      <vt:lpstr>Principles of the Agile Manifesto:</vt:lpstr>
      <vt:lpstr>Introduction to Agile Project Management:</vt:lpstr>
      <vt:lpstr>Sprint:</vt:lpstr>
      <vt:lpstr>User Story: </vt:lpstr>
      <vt:lpstr>Learning Agile – The Miscellaneous Concepts</vt:lpstr>
      <vt:lpstr>Velocity</vt:lpstr>
      <vt:lpstr>Burndown Charts:</vt:lpstr>
      <vt:lpstr>Burn Up Charts:</vt:lpstr>
      <vt:lpstr>PowerPoint Presentation</vt:lpstr>
      <vt:lpstr>Scrum Ceremonies</vt:lpstr>
      <vt:lpstr>Sprint Planning:</vt:lpstr>
      <vt:lpstr>Daily Scrum (Daily Standup):</vt:lpstr>
      <vt:lpstr>Sprint Review:</vt:lpstr>
      <vt:lpstr>Sprint Retrospective: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Hafiz Muhammad</dc:creator>
  <cp:lastModifiedBy>Ahmed Mujtaba</cp:lastModifiedBy>
  <cp:revision>19</cp:revision>
  <dcterms:created xsi:type="dcterms:W3CDTF">2023-09-24T05:32:52Z</dcterms:created>
  <dcterms:modified xsi:type="dcterms:W3CDTF">2025-01-13T10:53:06Z</dcterms:modified>
</cp:coreProperties>
</file>